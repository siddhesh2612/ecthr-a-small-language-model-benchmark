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8" r:id="rId1"/>
  </p:sldMasterIdLst>
  <p:sldIdLst>
    <p:sldId id="258" r:id="rId2"/>
    <p:sldId id="260" r:id="rId3"/>
    <p:sldId id="262" r:id="rId4"/>
    <p:sldId id="264" r:id="rId5"/>
    <p:sldId id="263" r:id="rId6"/>
    <p:sldId id="261" r:id="rId7"/>
    <p:sldId id="265" r:id="rId8"/>
    <p:sldId id="271" r:id="rId9"/>
    <p:sldId id="257" r:id="rId10"/>
    <p:sldId id="272" r:id="rId11"/>
    <p:sldId id="267" r:id="rId12"/>
    <p:sldId id="269" r:id="rId13"/>
    <p:sldId id="266" r:id="rId14"/>
    <p:sldId id="277" r:id="rId15"/>
    <p:sldId id="268" r:id="rId16"/>
    <p:sldId id="270" r:id="rId17"/>
    <p:sldId id="274"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48"/>
  </p:normalViewPr>
  <p:slideViewPr>
    <p:cSldViewPr snapToGrid="0">
      <p:cViewPr varScale="1">
        <p:scale>
          <a:sx n="121" d="100"/>
          <a:sy n="121" d="100"/>
        </p:scale>
        <p:origin x="2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D2491-8EAC-EB14-0A77-D064EE6B991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449F1D7-8C08-C1B7-67DB-CFC49CC85B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E923129-0DA1-B3EA-FB5A-8D0C03ED4E64}"/>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5" name="Footer Placeholder 4">
            <a:extLst>
              <a:ext uri="{FF2B5EF4-FFF2-40B4-BE49-F238E27FC236}">
                <a16:creationId xmlns:a16="http://schemas.microsoft.com/office/drawing/2014/main" id="{A282CE25-C8FC-B4F4-B7C0-1D2D06EDA40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533AAB6-CBD6-4E73-B631-E39867C99009}"/>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4159551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6C637-AA7F-5A8A-593D-321418D00BC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CD7C18-3BBC-3FEB-237A-D34F8A81109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4620BD-D92A-378B-6C1A-7BB928A26A44}"/>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5" name="Footer Placeholder 4">
            <a:extLst>
              <a:ext uri="{FF2B5EF4-FFF2-40B4-BE49-F238E27FC236}">
                <a16:creationId xmlns:a16="http://schemas.microsoft.com/office/drawing/2014/main" id="{6274A251-FED5-F80F-3604-25170926709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E132419-9170-ACC0-1936-CD99DCC18325}"/>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979748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D190-E40B-5143-C7AE-0852D5DB330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3A3E734-F008-98B8-5558-E9D49AF23A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BB4A1F2-EBD9-45C2-6AA4-5439725B8830}"/>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5" name="Footer Placeholder 4">
            <a:extLst>
              <a:ext uri="{FF2B5EF4-FFF2-40B4-BE49-F238E27FC236}">
                <a16:creationId xmlns:a16="http://schemas.microsoft.com/office/drawing/2014/main" id="{485728A3-9AAD-F721-BA19-3BBAB7D114C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82DE48-9BF7-6A14-EFEB-F46B1C005CA7}"/>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345036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D5EA1-C985-9378-4494-6390A97614C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844C1BA-B9BB-2D1B-BABB-BCED3C0E57D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751E0BA-452D-7E31-9C5F-5C7809CADD0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35421EA-F72F-58E0-5384-C60E6D25B856}"/>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6" name="Footer Placeholder 5">
            <a:extLst>
              <a:ext uri="{FF2B5EF4-FFF2-40B4-BE49-F238E27FC236}">
                <a16:creationId xmlns:a16="http://schemas.microsoft.com/office/drawing/2014/main" id="{6D5B5C0C-208F-8967-3EEA-095F32BE07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8D6997-4A64-C607-B16E-182CFD733E44}"/>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18929036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8E7A-4D0E-2ACC-77A0-474441372FD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21825E5-F3FC-F4E2-3CDC-6B12A07686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10246B9-B1AC-6CA8-7F57-D49865ECFA6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312D52B-C9AA-DF16-5653-D1D9825F14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E64EC1A-97E6-C8F8-6760-8258B2B20DD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2ECC303-D05E-975D-DA1C-8359A80A44CB}"/>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8" name="Footer Placeholder 7">
            <a:extLst>
              <a:ext uri="{FF2B5EF4-FFF2-40B4-BE49-F238E27FC236}">
                <a16:creationId xmlns:a16="http://schemas.microsoft.com/office/drawing/2014/main" id="{F4289775-2419-79CE-1A91-910581E4461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7B130DD-4F70-1637-5347-65929465C4AA}"/>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168453662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5EF4B-0036-B94E-C64D-6D378D74436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E4AC9AF-A892-322D-4EF7-7F767224C8CB}"/>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4" name="Footer Placeholder 3">
            <a:extLst>
              <a:ext uri="{FF2B5EF4-FFF2-40B4-BE49-F238E27FC236}">
                <a16:creationId xmlns:a16="http://schemas.microsoft.com/office/drawing/2014/main" id="{3466C5EB-4BE4-10FA-D288-98DA8F8F6D6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772DB52-B3E9-6E61-28C9-EF5D1C2CF4C2}"/>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19382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3C9B96-56D4-3BAD-13AE-47F2E23F46D9}"/>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3" name="Footer Placeholder 2">
            <a:extLst>
              <a:ext uri="{FF2B5EF4-FFF2-40B4-BE49-F238E27FC236}">
                <a16:creationId xmlns:a16="http://schemas.microsoft.com/office/drawing/2014/main" id="{726E6B32-9979-3681-EBE0-F2395F9C378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B3C639-2C37-0513-F733-6520207043BB}"/>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3706012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AF12-782E-DE5A-F0DE-FB2046A9327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104FC32-C757-0653-D3F5-123B683261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E4593A2-8771-23B5-92E1-17597D7DF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EB49959-22FF-4424-DBDA-5FDC6885D167}"/>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6" name="Footer Placeholder 5">
            <a:extLst>
              <a:ext uri="{FF2B5EF4-FFF2-40B4-BE49-F238E27FC236}">
                <a16:creationId xmlns:a16="http://schemas.microsoft.com/office/drawing/2014/main" id="{65926E01-7C2B-BDB6-4B14-760583DF8A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EDBBCBF-DBBD-5D06-5BA1-787B357B6369}"/>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199031261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9F9E-D654-604C-99E5-C27D89022D8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70FBA91-3067-2BBC-4D1C-EA68FE1B7A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EC1C66F-B8CB-5ADB-F9D0-2E2607BAD9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D2C521-0F75-B0B2-3191-AA05A1B5BFE5}"/>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6" name="Footer Placeholder 5">
            <a:extLst>
              <a:ext uri="{FF2B5EF4-FFF2-40B4-BE49-F238E27FC236}">
                <a16:creationId xmlns:a16="http://schemas.microsoft.com/office/drawing/2014/main" id="{1670B7D7-C32D-723F-C4DD-8FB4E639F82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BEAA58-EF4A-3463-1F82-41DFAE1262EA}"/>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302488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80782-9175-D527-B503-3B2C9BB5B2B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725FB3E-0E7F-CAA1-9F8E-F22D58B5DD9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3F9943-27C3-EF9F-28C7-84B2954F1899}"/>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5" name="Footer Placeholder 4">
            <a:extLst>
              <a:ext uri="{FF2B5EF4-FFF2-40B4-BE49-F238E27FC236}">
                <a16:creationId xmlns:a16="http://schemas.microsoft.com/office/drawing/2014/main" id="{F04EC789-D3C0-A8FE-5183-683B38339F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61AD59-1CE1-63D4-9583-A4814D472147}"/>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4182233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35945B-D14A-E7E8-4D82-E16D3C960B2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9D25DB6-76F0-D82F-E0E8-3CCC53ED58E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2654F25-63D5-BB76-DBF4-0B995B5F3506}"/>
              </a:ext>
            </a:extLst>
          </p:cNvPr>
          <p:cNvSpPr>
            <a:spLocks noGrp="1"/>
          </p:cNvSpPr>
          <p:nvPr>
            <p:ph type="dt" sz="half" idx="10"/>
          </p:nvPr>
        </p:nvSpPr>
        <p:spPr/>
        <p:txBody>
          <a:bodyPr/>
          <a:lstStyle/>
          <a:p>
            <a:fld id="{3A94468C-5241-F54C-8FED-5964F25C0CAD}" type="datetimeFigureOut">
              <a:rPr lang="en-US" smtClean="0"/>
              <a:t>9/4/24</a:t>
            </a:fld>
            <a:endParaRPr lang="en-US" dirty="0"/>
          </a:p>
        </p:txBody>
      </p:sp>
      <p:sp>
        <p:nvSpPr>
          <p:cNvPr id="5" name="Footer Placeholder 4">
            <a:extLst>
              <a:ext uri="{FF2B5EF4-FFF2-40B4-BE49-F238E27FC236}">
                <a16:creationId xmlns:a16="http://schemas.microsoft.com/office/drawing/2014/main" id="{7F31FA50-40A7-4BCD-638F-8431F506495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5AB1F-1D3E-CC50-C084-426FBB0FC0D2}"/>
              </a:ext>
            </a:extLst>
          </p:cNvPr>
          <p:cNvSpPr>
            <a:spLocks noGrp="1"/>
          </p:cNvSpPr>
          <p:nvPr>
            <p:ph type="sldNum" sz="quarter" idx="12"/>
          </p:nvPr>
        </p:nvSpPr>
        <p:spPr/>
        <p:txBody>
          <a:bodyPr/>
          <a:lstStyle/>
          <a:p>
            <a:fld id="{F31EA40D-91E4-2246-AA64-1571A3EAD656}" type="slidenum">
              <a:rPr lang="en-US" smtClean="0"/>
              <a:t>‹#›</a:t>
            </a:fld>
            <a:endParaRPr lang="en-US" dirty="0"/>
          </a:p>
        </p:txBody>
      </p:sp>
    </p:spTree>
    <p:extLst>
      <p:ext uri="{BB962C8B-B14F-4D97-AF65-F5344CB8AC3E}">
        <p14:creationId xmlns:p14="http://schemas.microsoft.com/office/powerpoint/2010/main" val="198459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19FE17-C1A0-E324-7607-CF13A02C8F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035EF7-7128-DD1C-6101-A240C7DE96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D5D5EE-D98A-D737-C6F2-21C1BBE133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94468C-5241-F54C-8FED-5964F25C0CAD}" type="datetimeFigureOut">
              <a:rPr lang="en-US" smtClean="0"/>
              <a:t>9/4/24</a:t>
            </a:fld>
            <a:endParaRPr lang="en-US" dirty="0"/>
          </a:p>
        </p:txBody>
      </p:sp>
      <p:sp>
        <p:nvSpPr>
          <p:cNvPr id="5" name="Footer Placeholder 4">
            <a:extLst>
              <a:ext uri="{FF2B5EF4-FFF2-40B4-BE49-F238E27FC236}">
                <a16:creationId xmlns:a16="http://schemas.microsoft.com/office/drawing/2014/main" id="{7E525A66-0B24-5DE3-0E94-DE0E617E5C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31370BE-67C7-A959-771A-09F2C1A022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1EA40D-91E4-2246-AA64-1571A3EAD656}" type="slidenum">
              <a:rPr lang="en-US" smtClean="0"/>
              <a:t>‹#›</a:t>
            </a:fld>
            <a:endParaRPr lang="en-US" dirty="0"/>
          </a:p>
        </p:txBody>
      </p:sp>
    </p:spTree>
    <p:extLst>
      <p:ext uri="{BB962C8B-B14F-4D97-AF65-F5344CB8AC3E}">
        <p14:creationId xmlns:p14="http://schemas.microsoft.com/office/powerpoint/2010/main" val="866759750"/>
      </p:ext>
    </p:extLst>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10EC8-3CC4-CEAC-6727-9C93032E2489}"/>
              </a:ext>
            </a:extLst>
          </p:cNvPr>
          <p:cNvSpPr>
            <a:spLocks noGrp="1"/>
          </p:cNvSpPr>
          <p:nvPr>
            <p:ph type="title"/>
          </p:nvPr>
        </p:nvSpPr>
        <p:spPr>
          <a:xfrm>
            <a:off x="207818" y="794692"/>
            <a:ext cx="4702849" cy="3396416"/>
          </a:xfrm>
        </p:spPr>
        <p:txBody>
          <a:bodyPr anchor="t">
            <a:noAutofit/>
          </a:bodyPr>
          <a:lstStyle/>
          <a:p>
            <a:pPr algn="l">
              <a:lnSpc>
                <a:spcPct val="150000"/>
              </a:lnSpc>
            </a:pPr>
            <a:r>
              <a:rPr lang="en-US" sz="4800" b="1" dirty="0">
                <a:latin typeface="Optima" panose="02000503060000020004" pitchFamily="2" charset="0"/>
                <a:ea typeface="Lantinghei TC Demibold" panose="03000509000000000000" pitchFamily="66" charset="-120"/>
                <a:cs typeface="DecoType Naskh" pitchFamily="2" charset="-78"/>
              </a:rPr>
              <a:t>DEVELOP AN </a:t>
            </a:r>
            <a:br>
              <a:rPr lang="en-US" sz="4800" b="1" dirty="0">
                <a:latin typeface="Optima" panose="02000503060000020004" pitchFamily="2" charset="0"/>
                <a:ea typeface="Lantinghei TC Demibold" panose="03000509000000000000" pitchFamily="66" charset="-120"/>
                <a:cs typeface="DecoType Naskh" pitchFamily="2" charset="-78"/>
              </a:rPr>
            </a:br>
            <a:r>
              <a:rPr lang="en-US" sz="4800" b="1" dirty="0">
                <a:latin typeface="Optima" panose="02000503060000020004" pitchFamily="2" charset="0"/>
                <a:ea typeface="Lantinghei TC Demibold" panose="03000509000000000000" pitchFamily="66" charset="-120"/>
                <a:cs typeface="DecoType Naskh" pitchFamily="2" charset="-78"/>
              </a:rPr>
              <a:t>AI JUDGE WITH NLP AND ML	</a:t>
            </a:r>
          </a:p>
        </p:txBody>
      </p:sp>
      <p:pic>
        <p:nvPicPr>
          <p:cNvPr id="5" name="Picture 4">
            <a:extLst>
              <a:ext uri="{FF2B5EF4-FFF2-40B4-BE49-F238E27FC236}">
                <a16:creationId xmlns:a16="http://schemas.microsoft.com/office/drawing/2014/main" id="{DD40D784-50D5-A5A4-7067-A22EDC29912B}"/>
              </a:ext>
            </a:extLst>
          </p:cNvPr>
          <p:cNvPicPr>
            <a:picLocks noChangeAspect="1"/>
          </p:cNvPicPr>
          <p:nvPr/>
        </p:nvPicPr>
        <p:blipFill>
          <a:blip r:embed="rId2"/>
          <a:stretch>
            <a:fillRect/>
          </a:stretch>
        </p:blipFill>
        <p:spPr>
          <a:xfrm>
            <a:off x="5046134" y="0"/>
            <a:ext cx="7145865" cy="6858000"/>
          </a:xfrm>
          <a:prstGeom prst="rect">
            <a:avLst/>
          </a:prstGeom>
        </p:spPr>
      </p:pic>
      <p:sp>
        <p:nvSpPr>
          <p:cNvPr id="6" name="Subtitle 2">
            <a:extLst>
              <a:ext uri="{FF2B5EF4-FFF2-40B4-BE49-F238E27FC236}">
                <a16:creationId xmlns:a16="http://schemas.microsoft.com/office/drawing/2014/main" id="{21A13932-C60B-945A-C2CF-6EB3C115524A}"/>
              </a:ext>
            </a:extLst>
          </p:cNvPr>
          <p:cNvSpPr txBox="1">
            <a:spLocks/>
          </p:cNvSpPr>
          <p:nvPr/>
        </p:nvSpPr>
        <p:spPr>
          <a:xfrm>
            <a:off x="207818" y="5211005"/>
            <a:ext cx="3132665" cy="121801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2000" dirty="0">
                <a:solidFill>
                  <a:schemeClr val="tx1"/>
                </a:solidFill>
                <a:latin typeface="Courier New" panose="02070309020205020404" pitchFamily="49" charset="0"/>
                <a:cs typeface="Courier New" panose="02070309020205020404" pitchFamily="49" charset="0"/>
              </a:rPr>
              <a:t>SIDDHESH JADHAV</a:t>
            </a:r>
          </a:p>
          <a:p>
            <a:r>
              <a:rPr lang="en-US" sz="2000" dirty="0">
                <a:solidFill>
                  <a:schemeClr val="tx1"/>
                </a:solidFill>
                <a:latin typeface="Courier New" panose="02070309020205020404" pitchFamily="49" charset="0"/>
                <a:cs typeface="Courier New" panose="02070309020205020404" pitchFamily="49" charset="0"/>
              </a:rPr>
              <a:t>MSC DATA ANALYTICS</a:t>
            </a:r>
          </a:p>
          <a:p>
            <a:r>
              <a:rPr lang="en-US" sz="2000" dirty="0">
                <a:solidFill>
                  <a:schemeClr val="tx1"/>
                </a:solidFill>
                <a:latin typeface="Courier New" panose="02070309020205020404" pitchFamily="49" charset="0"/>
                <a:cs typeface="Courier New" panose="02070309020205020404" pitchFamily="49" charset="0"/>
              </a:rPr>
              <a:t>2023-2024</a:t>
            </a:r>
          </a:p>
        </p:txBody>
      </p:sp>
    </p:spTree>
    <p:extLst>
      <p:ext uri="{BB962C8B-B14F-4D97-AF65-F5344CB8AC3E}">
        <p14:creationId xmlns:p14="http://schemas.microsoft.com/office/powerpoint/2010/main" val="139703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object 20">
            <a:extLst>
              <a:ext uri="{FF2B5EF4-FFF2-40B4-BE49-F238E27FC236}">
                <a16:creationId xmlns:a16="http://schemas.microsoft.com/office/drawing/2014/main" id="{981B37BF-0BBA-B86E-62CB-BAC54AF7585E}"/>
              </a:ext>
            </a:extLst>
          </p:cNvPr>
          <p:cNvGrpSpPr/>
          <p:nvPr/>
        </p:nvGrpSpPr>
        <p:grpSpPr>
          <a:xfrm>
            <a:off x="330707" y="1458041"/>
            <a:ext cx="6206490" cy="3907790"/>
            <a:chOff x="178307" y="1652016"/>
            <a:chExt cx="6206490" cy="3907790"/>
          </a:xfrm>
        </p:grpSpPr>
        <p:sp>
          <p:nvSpPr>
            <p:cNvPr id="5" name="object 21">
              <a:extLst>
                <a:ext uri="{FF2B5EF4-FFF2-40B4-BE49-F238E27FC236}">
                  <a16:creationId xmlns:a16="http://schemas.microsoft.com/office/drawing/2014/main" id="{A6840CC3-3F52-EC27-31BA-29EF87CFB551}"/>
                </a:ext>
              </a:extLst>
            </p:cNvPr>
            <p:cNvSpPr/>
            <p:nvPr/>
          </p:nvSpPr>
          <p:spPr>
            <a:xfrm>
              <a:off x="361950" y="2965705"/>
              <a:ext cx="2084070" cy="662940"/>
            </a:xfrm>
            <a:custGeom>
              <a:avLst/>
              <a:gdLst/>
              <a:ahLst/>
              <a:cxnLst/>
              <a:rect l="l" t="t" r="r" b="b"/>
              <a:pathLst>
                <a:path w="2084070" h="662939">
                  <a:moveTo>
                    <a:pt x="1752600" y="0"/>
                  </a:moveTo>
                  <a:lnTo>
                    <a:pt x="331470" y="0"/>
                  </a:lnTo>
                  <a:lnTo>
                    <a:pt x="282486" y="3593"/>
                  </a:lnTo>
                  <a:lnTo>
                    <a:pt x="235735" y="14033"/>
                  </a:lnTo>
                  <a:lnTo>
                    <a:pt x="191728" y="30806"/>
                  </a:lnTo>
                  <a:lnTo>
                    <a:pt x="150979" y="53400"/>
                  </a:lnTo>
                  <a:lnTo>
                    <a:pt x="113999" y="81302"/>
                  </a:lnTo>
                  <a:lnTo>
                    <a:pt x="81302" y="113999"/>
                  </a:lnTo>
                  <a:lnTo>
                    <a:pt x="53400" y="150979"/>
                  </a:lnTo>
                  <a:lnTo>
                    <a:pt x="30806" y="191728"/>
                  </a:lnTo>
                  <a:lnTo>
                    <a:pt x="14033" y="235735"/>
                  </a:lnTo>
                  <a:lnTo>
                    <a:pt x="3593" y="282486"/>
                  </a:lnTo>
                  <a:lnTo>
                    <a:pt x="0" y="331470"/>
                  </a:lnTo>
                  <a:lnTo>
                    <a:pt x="3594" y="380453"/>
                  </a:lnTo>
                  <a:lnTo>
                    <a:pt x="14035" y="427204"/>
                  </a:lnTo>
                  <a:lnTo>
                    <a:pt x="30809" y="471211"/>
                  </a:lnTo>
                  <a:lnTo>
                    <a:pt x="53404" y="511960"/>
                  </a:lnTo>
                  <a:lnTo>
                    <a:pt x="81307" y="548940"/>
                  </a:lnTo>
                  <a:lnTo>
                    <a:pt x="114005" y="581637"/>
                  </a:lnTo>
                  <a:lnTo>
                    <a:pt x="150984" y="609539"/>
                  </a:lnTo>
                  <a:lnTo>
                    <a:pt x="191733" y="632133"/>
                  </a:lnTo>
                  <a:lnTo>
                    <a:pt x="235739" y="648906"/>
                  </a:lnTo>
                  <a:lnTo>
                    <a:pt x="282490" y="659346"/>
                  </a:lnTo>
                  <a:lnTo>
                    <a:pt x="331470" y="662940"/>
                  </a:lnTo>
                  <a:lnTo>
                    <a:pt x="1752600" y="662940"/>
                  </a:lnTo>
                  <a:lnTo>
                    <a:pt x="1801584" y="659345"/>
                  </a:lnTo>
                  <a:lnTo>
                    <a:pt x="1848337" y="648905"/>
                  </a:lnTo>
                  <a:lnTo>
                    <a:pt x="1892345" y="632131"/>
                  </a:lnTo>
                  <a:lnTo>
                    <a:pt x="1933095" y="609536"/>
                  </a:lnTo>
                  <a:lnTo>
                    <a:pt x="1970074" y="581633"/>
                  </a:lnTo>
                  <a:lnTo>
                    <a:pt x="2002771" y="548935"/>
                  </a:lnTo>
                  <a:lnTo>
                    <a:pt x="2030672" y="511955"/>
                  </a:lnTo>
                  <a:lnTo>
                    <a:pt x="2053265" y="471205"/>
                  </a:lnTo>
                  <a:lnTo>
                    <a:pt x="2070037" y="427199"/>
                  </a:lnTo>
                  <a:lnTo>
                    <a:pt x="2080476" y="380450"/>
                  </a:lnTo>
                  <a:lnTo>
                    <a:pt x="2084070" y="331470"/>
                  </a:lnTo>
                  <a:lnTo>
                    <a:pt x="2080476" y="282486"/>
                  </a:lnTo>
                  <a:lnTo>
                    <a:pt x="2070036" y="235735"/>
                  </a:lnTo>
                  <a:lnTo>
                    <a:pt x="2053263" y="191728"/>
                  </a:lnTo>
                  <a:lnTo>
                    <a:pt x="2030669" y="150979"/>
                  </a:lnTo>
                  <a:lnTo>
                    <a:pt x="2002767" y="113999"/>
                  </a:lnTo>
                  <a:lnTo>
                    <a:pt x="1970070" y="81302"/>
                  </a:lnTo>
                  <a:lnTo>
                    <a:pt x="1933090" y="53400"/>
                  </a:lnTo>
                  <a:lnTo>
                    <a:pt x="1892341" y="30806"/>
                  </a:lnTo>
                  <a:lnTo>
                    <a:pt x="1848334" y="14033"/>
                  </a:lnTo>
                  <a:lnTo>
                    <a:pt x="1801583" y="3593"/>
                  </a:lnTo>
                  <a:lnTo>
                    <a:pt x="1752600" y="0"/>
                  </a:lnTo>
                  <a:close/>
                </a:path>
              </a:pathLst>
            </a:custGeom>
            <a:solidFill>
              <a:srgbClr val="15548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bject 22">
              <a:extLst>
                <a:ext uri="{FF2B5EF4-FFF2-40B4-BE49-F238E27FC236}">
                  <a16:creationId xmlns:a16="http://schemas.microsoft.com/office/drawing/2014/main" id="{6922404B-6912-E299-2695-E8E0CECE9561}"/>
                </a:ext>
              </a:extLst>
            </p:cNvPr>
            <p:cNvSpPr/>
            <p:nvPr/>
          </p:nvSpPr>
          <p:spPr>
            <a:xfrm>
              <a:off x="178307" y="2811780"/>
              <a:ext cx="424180" cy="409575"/>
            </a:xfrm>
            <a:custGeom>
              <a:avLst/>
              <a:gdLst/>
              <a:ahLst/>
              <a:cxnLst/>
              <a:rect l="l" t="t" r="r" b="b"/>
              <a:pathLst>
                <a:path w="424180" h="409575">
                  <a:moveTo>
                    <a:pt x="211836" y="0"/>
                  </a:moveTo>
                  <a:lnTo>
                    <a:pt x="163264" y="5403"/>
                  </a:lnTo>
                  <a:lnTo>
                    <a:pt x="118676" y="20796"/>
                  </a:lnTo>
                  <a:lnTo>
                    <a:pt x="79343" y="44948"/>
                  </a:lnTo>
                  <a:lnTo>
                    <a:pt x="46538" y="76633"/>
                  </a:lnTo>
                  <a:lnTo>
                    <a:pt x="21531" y="114622"/>
                  </a:lnTo>
                  <a:lnTo>
                    <a:pt x="5594" y="157686"/>
                  </a:lnTo>
                  <a:lnTo>
                    <a:pt x="0" y="204597"/>
                  </a:lnTo>
                  <a:lnTo>
                    <a:pt x="5594" y="251507"/>
                  </a:lnTo>
                  <a:lnTo>
                    <a:pt x="21531" y="294571"/>
                  </a:lnTo>
                  <a:lnTo>
                    <a:pt x="46538" y="332560"/>
                  </a:lnTo>
                  <a:lnTo>
                    <a:pt x="79343" y="364245"/>
                  </a:lnTo>
                  <a:lnTo>
                    <a:pt x="118676" y="388397"/>
                  </a:lnTo>
                  <a:lnTo>
                    <a:pt x="163264" y="403790"/>
                  </a:lnTo>
                  <a:lnTo>
                    <a:pt x="211836" y="409194"/>
                  </a:lnTo>
                  <a:lnTo>
                    <a:pt x="260407" y="403790"/>
                  </a:lnTo>
                  <a:lnTo>
                    <a:pt x="304995" y="388397"/>
                  </a:lnTo>
                  <a:lnTo>
                    <a:pt x="344328" y="364245"/>
                  </a:lnTo>
                  <a:lnTo>
                    <a:pt x="377133" y="332560"/>
                  </a:lnTo>
                  <a:lnTo>
                    <a:pt x="402140" y="294571"/>
                  </a:lnTo>
                  <a:lnTo>
                    <a:pt x="418077" y="251507"/>
                  </a:lnTo>
                  <a:lnTo>
                    <a:pt x="423672" y="204597"/>
                  </a:lnTo>
                  <a:lnTo>
                    <a:pt x="418077" y="157686"/>
                  </a:lnTo>
                  <a:lnTo>
                    <a:pt x="402140" y="114622"/>
                  </a:lnTo>
                  <a:lnTo>
                    <a:pt x="377133" y="76633"/>
                  </a:lnTo>
                  <a:lnTo>
                    <a:pt x="344328" y="44948"/>
                  </a:lnTo>
                  <a:lnTo>
                    <a:pt x="304995" y="20796"/>
                  </a:lnTo>
                  <a:lnTo>
                    <a:pt x="260407" y="5403"/>
                  </a:lnTo>
                  <a:lnTo>
                    <a:pt x="211836" y="0"/>
                  </a:lnTo>
                  <a:close/>
                </a:path>
              </a:pathLst>
            </a:custGeom>
            <a:solidFill>
              <a:srgbClr val="66CD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object 23">
              <a:extLst>
                <a:ext uri="{FF2B5EF4-FFF2-40B4-BE49-F238E27FC236}">
                  <a16:creationId xmlns:a16="http://schemas.microsoft.com/office/drawing/2014/main" id="{3AC845FD-45BB-8774-1020-46279BA1D609}"/>
                </a:ext>
              </a:extLst>
            </p:cNvPr>
            <p:cNvSpPr/>
            <p:nvPr/>
          </p:nvSpPr>
          <p:spPr>
            <a:xfrm>
              <a:off x="2033778" y="4897375"/>
              <a:ext cx="2084070" cy="662305"/>
            </a:xfrm>
            <a:custGeom>
              <a:avLst/>
              <a:gdLst/>
              <a:ahLst/>
              <a:cxnLst/>
              <a:rect l="l" t="t" r="r" b="b"/>
              <a:pathLst>
                <a:path w="2084070" h="662304">
                  <a:moveTo>
                    <a:pt x="1752981" y="0"/>
                  </a:moveTo>
                  <a:lnTo>
                    <a:pt x="331089" y="0"/>
                  </a:lnTo>
                  <a:lnTo>
                    <a:pt x="282163" y="3589"/>
                  </a:lnTo>
                  <a:lnTo>
                    <a:pt x="235466" y="14018"/>
                  </a:lnTo>
                  <a:lnTo>
                    <a:pt x="191510" y="30772"/>
                  </a:lnTo>
                  <a:lnTo>
                    <a:pt x="150807" y="53340"/>
                  </a:lnTo>
                  <a:lnTo>
                    <a:pt x="113870" y="81210"/>
                  </a:lnTo>
                  <a:lnTo>
                    <a:pt x="81210" y="113870"/>
                  </a:lnTo>
                  <a:lnTo>
                    <a:pt x="53340" y="150807"/>
                  </a:lnTo>
                  <a:lnTo>
                    <a:pt x="30772" y="191510"/>
                  </a:lnTo>
                  <a:lnTo>
                    <a:pt x="14018" y="235466"/>
                  </a:lnTo>
                  <a:lnTo>
                    <a:pt x="3589" y="282163"/>
                  </a:lnTo>
                  <a:lnTo>
                    <a:pt x="0" y="331089"/>
                  </a:lnTo>
                  <a:lnTo>
                    <a:pt x="3589" y="380014"/>
                  </a:lnTo>
                  <a:lnTo>
                    <a:pt x="14018" y="426711"/>
                  </a:lnTo>
                  <a:lnTo>
                    <a:pt x="30772" y="470667"/>
                  </a:lnTo>
                  <a:lnTo>
                    <a:pt x="53340" y="511370"/>
                  </a:lnTo>
                  <a:lnTo>
                    <a:pt x="81210" y="548307"/>
                  </a:lnTo>
                  <a:lnTo>
                    <a:pt x="113870" y="580967"/>
                  </a:lnTo>
                  <a:lnTo>
                    <a:pt x="150807" y="608837"/>
                  </a:lnTo>
                  <a:lnTo>
                    <a:pt x="191510" y="631405"/>
                  </a:lnTo>
                  <a:lnTo>
                    <a:pt x="235466" y="648159"/>
                  </a:lnTo>
                  <a:lnTo>
                    <a:pt x="282163" y="658588"/>
                  </a:lnTo>
                  <a:lnTo>
                    <a:pt x="331089" y="662178"/>
                  </a:lnTo>
                  <a:lnTo>
                    <a:pt x="1752981" y="662178"/>
                  </a:lnTo>
                  <a:lnTo>
                    <a:pt x="1801906" y="658588"/>
                  </a:lnTo>
                  <a:lnTo>
                    <a:pt x="1848603" y="648159"/>
                  </a:lnTo>
                  <a:lnTo>
                    <a:pt x="1892559" y="631405"/>
                  </a:lnTo>
                  <a:lnTo>
                    <a:pt x="1933262" y="608837"/>
                  </a:lnTo>
                  <a:lnTo>
                    <a:pt x="1970199" y="580967"/>
                  </a:lnTo>
                  <a:lnTo>
                    <a:pt x="2002859" y="548307"/>
                  </a:lnTo>
                  <a:lnTo>
                    <a:pt x="2030729" y="511370"/>
                  </a:lnTo>
                  <a:lnTo>
                    <a:pt x="2053297" y="470667"/>
                  </a:lnTo>
                  <a:lnTo>
                    <a:pt x="2070051" y="426711"/>
                  </a:lnTo>
                  <a:lnTo>
                    <a:pt x="2080480" y="380014"/>
                  </a:lnTo>
                  <a:lnTo>
                    <a:pt x="2084070" y="331089"/>
                  </a:lnTo>
                  <a:lnTo>
                    <a:pt x="2080480" y="282163"/>
                  </a:lnTo>
                  <a:lnTo>
                    <a:pt x="2070051" y="235466"/>
                  </a:lnTo>
                  <a:lnTo>
                    <a:pt x="2053297" y="191510"/>
                  </a:lnTo>
                  <a:lnTo>
                    <a:pt x="2030729" y="150807"/>
                  </a:lnTo>
                  <a:lnTo>
                    <a:pt x="2002859" y="113870"/>
                  </a:lnTo>
                  <a:lnTo>
                    <a:pt x="1970199" y="81210"/>
                  </a:lnTo>
                  <a:lnTo>
                    <a:pt x="1933262" y="53340"/>
                  </a:lnTo>
                  <a:lnTo>
                    <a:pt x="1892559" y="30772"/>
                  </a:lnTo>
                  <a:lnTo>
                    <a:pt x="1848603" y="14018"/>
                  </a:lnTo>
                  <a:lnTo>
                    <a:pt x="1801906" y="3589"/>
                  </a:lnTo>
                  <a:lnTo>
                    <a:pt x="1752981" y="0"/>
                  </a:lnTo>
                  <a:close/>
                </a:path>
              </a:pathLst>
            </a:custGeom>
            <a:solidFill>
              <a:srgbClr val="15548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object 24">
              <a:extLst>
                <a:ext uri="{FF2B5EF4-FFF2-40B4-BE49-F238E27FC236}">
                  <a16:creationId xmlns:a16="http://schemas.microsoft.com/office/drawing/2014/main" id="{C0B73170-90D7-CBE8-35C3-22A2B1066A48}"/>
                </a:ext>
              </a:extLst>
            </p:cNvPr>
            <p:cNvSpPr/>
            <p:nvPr/>
          </p:nvSpPr>
          <p:spPr>
            <a:xfrm>
              <a:off x="1850897" y="4743450"/>
              <a:ext cx="422909" cy="409575"/>
            </a:xfrm>
            <a:custGeom>
              <a:avLst/>
              <a:gdLst/>
              <a:ahLst/>
              <a:cxnLst/>
              <a:rect l="l" t="t" r="r" b="b"/>
              <a:pathLst>
                <a:path w="422910" h="409575">
                  <a:moveTo>
                    <a:pt x="211454" y="0"/>
                  </a:moveTo>
                  <a:lnTo>
                    <a:pt x="162968" y="5403"/>
                  </a:lnTo>
                  <a:lnTo>
                    <a:pt x="118459" y="20796"/>
                  </a:lnTo>
                  <a:lnTo>
                    <a:pt x="79198" y="44948"/>
                  </a:lnTo>
                  <a:lnTo>
                    <a:pt x="46452" y="76633"/>
                  </a:lnTo>
                  <a:lnTo>
                    <a:pt x="21491" y="114622"/>
                  </a:lnTo>
                  <a:lnTo>
                    <a:pt x="5584" y="157686"/>
                  </a:lnTo>
                  <a:lnTo>
                    <a:pt x="0" y="204597"/>
                  </a:lnTo>
                  <a:lnTo>
                    <a:pt x="5584" y="251507"/>
                  </a:lnTo>
                  <a:lnTo>
                    <a:pt x="21491" y="294571"/>
                  </a:lnTo>
                  <a:lnTo>
                    <a:pt x="46452" y="332560"/>
                  </a:lnTo>
                  <a:lnTo>
                    <a:pt x="79198" y="364245"/>
                  </a:lnTo>
                  <a:lnTo>
                    <a:pt x="118459" y="388397"/>
                  </a:lnTo>
                  <a:lnTo>
                    <a:pt x="162968" y="403790"/>
                  </a:lnTo>
                  <a:lnTo>
                    <a:pt x="211454" y="409194"/>
                  </a:lnTo>
                  <a:lnTo>
                    <a:pt x="259941" y="403790"/>
                  </a:lnTo>
                  <a:lnTo>
                    <a:pt x="304450" y="388397"/>
                  </a:lnTo>
                  <a:lnTo>
                    <a:pt x="343711" y="364245"/>
                  </a:lnTo>
                  <a:lnTo>
                    <a:pt x="376457" y="332560"/>
                  </a:lnTo>
                  <a:lnTo>
                    <a:pt x="401418" y="294571"/>
                  </a:lnTo>
                  <a:lnTo>
                    <a:pt x="417325" y="251507"/>
                  </a:lnTo>
                  <a:lnTo>
                    <a:pt x="422909" y="204597"/>
                  </a:lnTo>
                  <a:lnTo>
                    <a:pt x="417325" y="157686"/>
                  </a:lnTo>
                  <a:lnTo>
                    <a:pt x="401418" y="114622"/>
                  </a:lnTo>
                  <a:lnTo>
                    <a:pt x="376457" y="76633"/>
                  </a:lnTo>
                  <a:lnTo>
                    <a:pt x="343711" y="44948"/>
                  </a:lnTo>
                  <a:lnTo>
                    <a:pt x="304450" y="20796"/>
                  </a:lnTo>
                  <a:lnTo>
                    <a:pt x="259941" y="5403"/>
                  </a:lnTo>
                  <a:lnTo>
                    <a:pt x="211454" y="0"/>
                  </a:lnTo>
                  <a:close/>
                </a:path>
              </a:pathLst>
            </a:custGeom>
            <a:solidFill>
              <a:srgbClr val="66CD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bject 25">
              <a:extLst>
                <a:ext uri="{FF2B5EF4-FFF2-40B4-BE49-F238E27FC236}">
                  <a16:creationId xmlns:a16="http://schemas.microsoft.com/office/drawing/2014/main" id="{EC1A870C-F934-FDC3-13D4-FFD4C942F5C5}"/>
                </a:ext>
              </a:extLst>
            </p:cNvPr>
            <p:cNvSpPr/>
            <p:nvPr/>
          </p:nvSpPr>
          <p:spPr>
            <a:xfrm>
              <a:off x="4300728" y="1805179"/>
              <a:ext cx="2084070" cy="662940"/>
            </a:xfrm>
            <a:custGeom>
              <a:avLst/>
              <a:gdLst/>
              <a:ahLst/>
              <a:cxnLst/>
              <a:rect l="l" t="t" r="r" b="b"/>
              <a:pathLst>
                <a:path w="2084070" h="662939">
                  <a:moveTo>
                    <a:pt x="1752600" y="0"/>
                  </a:moveTo>
                  <a:lnTo>
                    <a:pt x="331470" y="0"/>
                  </a:lnTo>
                  <a:lnTo>
                    <a:pt x="282486" y="3593"/>
                  </a:lnTo>
                  <a:lnTo>
                    <a:pt x="235735" y="14033"/>
                  </a:lnTo>
                  <a:lnTo>
                    <a:pt x="191728" y="30806"/>
                  </a:lnTo>
                  <a:lnTo>
                    <a:pt x="150979" y="53400"/>
                  </a:lnTo>
                  <a:lnTo>
                    <a:pt x="113999" y="81302"/>
                  </a:lnTo>
                  <a:lnTo>
                    <a:pt x="81302" y="113999"/>
                  </a:lnTo>
                  <a:lnTo>
                    <a:pt x="53400" y="150979"/>
                  </a:lnTo>
                  <a:lnTo>
                    <a:pt x="30806" y="191728"/>
                  </a:lnTo>
                  <a:lnTo>
                    <a:pt x="14033" y="235735"/>
                  </a:lnTo>
                  <a:lnTo>
                    <a:pt x="3593" y="282486"/>
                  </a:lnTo>
                  <a:lnTo>
                    <a:pt x="0" y="331470"/>
                  </a:lnTo>
                  <a:lnTo>
                    <a:pt x="3594" y="380453"/>
                  </a:lnTo>
                  <a:lnTo>
                    <a:pt x="14035" y="427204"/>
                  </a:lnTo>
                  <a:lnTo>
                    <a:pt x="30809" y="471211"/>
                  </a:lnTo>
                  <a:lnTo>
                    <a:pt x="53404" y="511960"/>
                  </a:lnTo>
                  <a:lnTo>
                    <a:pt x="81307" y="548940"/>
                  </a:lnTo>
                  <a:lnTo>
                    <a:pt x="114005" y="581637"/>
                  </a:lnTo>
                  <a:lnTo>
                    <a:pt x="150984" y="609539"/>
                  </a:lnTo>
                  <a:lnTo>
                    <a:pt x="191733" y="632133"/>
                  </a:lnTo>
                  <a:lnTo>
                    <a:pt x="235739" y="648906"/>
                  </a:lnTo>
                  <a:lnTo>
                    <a:pt x="282490" y="659346"/>
                  </a:lnTo>
                  <a:lnTo>
                    <a:pt x="331470" y="662940"/>
                  </a:lnTo>
                  <a:lnTo>
                    <a:pt x="1752600" y="662940"/>
                  </a:lnTo>
                  <a:lnTo>
                    <a:pt x="1801584" y="659345"/>
                  </a:lnTo>
                  <a:lnTo>
                    <a:pt x="1848337" y="648905"/>
                  </a:lnTo>
                  <a:lnTo>
                    <a:pt x="1892345" y="632131"/>
                  </a:lnTo>
                  <a:lnTo>
                    <a:pt x="1933095" y="609536"/>
                  </a:lnTo>
                  <a:lnTo>
                    <a:pt x="1970074" y="581633"/>
                  </a:lnTo>
                  <a:lnTo>
                    <a:pt x="2002771" y="548935"/>
                  </a:lnTo>
                  <a:lnTo>
                    <a:pt x="2030672" y="511955"/>
                  </a:lnTo>
                  <a:lnTo>
                    <a:pt x="2053265" y="471205"/>
                  </a:lnTo>
                  <a:lnTo>
                    <a:pt x="2070037" y="427199"/>
                  </a:lnTo>
                  <a:lnTo>
                    <a:pt x="2080476" y="380450"/>
                  </a:lnTo>
                  <a:lnTo>
                    <a:pt x="2084070" y="331470"/>
                  </a:lnTo>
                  <a:lnTo>
                    <a:pt x="2080476" y="282486"/>
                  </a:lnTo>
                  <a:lnTo>
                    <a:pt x="2070036" y="235735"/>
                  </a:lnTo>
                  <a:lnTo>
                    <a:pt x="2053263" y="191728"/>
                  </a:lnTo>
                  <a:lnTo>
                    <a:pt x="2030669" y="150979"/>
                  </a:lnTo>
                  <a:lnTo>
                    <a:pt x="2002767" y="113999"/>
                  </a:lnTo>
                  <a:lnTo>
                    <a:pt x="1970070" y="81302"/>
                  </a:lnTo>
                  <a:lnTo>
                    <a:pt x="1933090" y="53400"/>
                  </a:lnTo>
                  <a:lnTo>
                    <a:pt x="1892341" y="30806"/>
                  </a:lnTo>
                  <a:lnTo>
                    <a:pt x="1848334" y="14033"/>
                  </a:lnTo>
                  <a:lnTo>
                    <a:pt x="1801583" y="3593"/>
                  </a:lnTo>
                  <a:lnTo>
                    <a:pt x="1752600" y="0"/>
                  </a:lnTo>
                  <a:close/>
                </a:path>
              </a:pathLst>
            </a:custGeom>
            <a:solidFill>
              <a:srgbClr val="15548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object 26">
              <a:extLst>
                <a:ext uri="{FF2B5EF4-FFF2-40B4-BE49-F238E27FC236}">
                  <a16:creationId xmlns:a16="http://schemas.microsoft.com/office/drawing/2014/main" id="{B3AC961A-763B-4EEA-8812-C090140CF7B4}"/>
                </a:ext>
              </a:extLst>
            </p:cNvPr>
            <p:cNvSpPr/>
            <p:nvPr/>
          </p:nvSpPr>
          <p:spPr>
            <a:xfrm>
              <a:off x="4117848" y="1652016"/>
              <a:ext cx="422909" cy="409575"/>
            </a:xfrm>
            <a:custGeom>
              <a:avLst/>
              <a:gdLst/>
              <a:ahLst/>
              <a:cxnLst/>
              <a:rect l="l" t="t" r="r" b="b"/>
              <a:pathLst>
                <a:path w="422910" h="409575">
                  <a:moveTo>
                    <a:pt x="211454" y="0"/>
                  </a:moveTo>
                  <a:lnTo>
                    <a:pt x="162968" y="5403"/>
                  </a:lnTo>
                  <a:lnTo>
                    <a:pt x="118459" y="20796"/>
                  </a:lnTo>
                  <a:lnTo>
                    <a:pt x="79198" y="44948"/>
                  </a:lnTo>
                  <a:lnTo>
                    <a:pt x="46452" y="76633"/>
                  </a:lnTo>
                  <a:lnTo>
                    <a:pt x="21491" y="114622"/>
                  </a:lnTo>
                  <a:lnTo>
                    <a:pt x="5584" y="157686"/>
                  </a:lnTo>
                  <a:lnTo>
                    <a:pt x="0" y="204597"/>
                  </a:lnTo>
                  <a:lnTo>
                    <a:pt x="5584" y="251507"/>
                  </a:lnTo>
                  <a:lnTo>
                    <a:pt x="21491" y="294571"/>
                  </a:lnTo>
                  <a:lnTo>
                    <a:pt x="46452" y="332560"/>
                  </a:lnTo>
                  <a:lnTo>
                    <a:pt x="79198" y="364245"/>
                  </a:lnTo>
                  <a:lnTo>
                    <a:pt x="118459" y="388397"/>
                  </a:lnTo>
                  <a:lnTo>
                    <a:pt x="162968" y="403790"/>
                  </a:lnTo>
                  <a:lnTo>
                    <a:pt x="211454" y="409194"/>
                  </a:lnTo>
                  <a:lnTo>
                    <a:pt x="259941" y="403790"/>
                  </a:lnTo>
                  <a:lnTo>
                    <a:pt x="304450" y="388397"/>
                  </a:lnTo>
                  <a:lnTo>
                    <a:pt x="343711" y="364245"/>
                  </a:lnTo>
                  <a:lnTo>
                    <a:pt x="376457" y="332560"/>
                  </a:lnTo>
                  <a:lnTo>
                    <a:pt x="401418" y="294571"/>
                  </a:lnTo>
                  <a:lnTo>
                    <a:pt x="417325" y="251507"/>
                  </a:lnTo>
                  <a:lnTo>
                    <a:pt x="422909" y="204597"/>
                  </a:lnTo>
                  <a:lnTo>
                    <a:pt x="417325" y="157686"/>
                  </a:lnTo>
                  <a:lnTo>
                    <a:pt x="401418" y="114622"/>
                  </a:lnTo>
                  <a:lnTo>
                    <a:pt x="376457" y="76633"/>
                  </a:lnTo>
                  <a:lnTo>
                    <a:pt x="343711" y="44948"/>
                  </a:lnTo>
                  <a:lnTo>
                    <a:pt x="304450" y="20796"/>
                  </a:lnTo>
                  <a:lnTo>
                    <a:pt x="259941" y="5403"/>
                  </a:lnTo>
                  <a:lnTo>
                    <a:pt x="211454" y="0"/>
                  </a:lnTo>
                  <a:close/>
                </a:path>
              </a:pathLst>
            </a:custGeom>
            <a:solidFill>
              <a:srgbClr val="66CD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 name="object 28">
            <a:extLst>
              <a:ext uri="{FF2B5EF4-FFF2-40B4-BE49-F238E27FC236}">
                <a16:creationId xmlns:a16="http://schemas.microsoft.com/office/drawing/2014/main" id="{C76B8356-3005-59E9-5F0F-AE6D487E7D76}"/>
              </a:ext>
            </a:extLst>
          </p:cNvPr>
          <p:cNvGrpSpPr/>
          <p:nvPr/>
        </p:nvGrpSpPr>
        <p:grpSpPr>
          <a:xfrm>
            <a:off x="6297167" y="1889611"/>
            <a:ext cx="5160645" cy="2494280"/>
            <a:chOff x="6144767" y="2055876"/>
            <a:chExt cx="5160645" cy="2494280"/>
          </a:xfrm>
          <a:solidFill>
            <a:srgbClr val="15548B"/>
          </a:solidFill>
        </p:grpSpPr>
        <p:sp>
          <p:nvSpPr>
            <p:cNvPr id="12" name="object 29">
              <a:extLst>
                <a:ext uri="{FF2B5EF4-FFF2-40B4-BE49-F238E27FC236}">
                  <a16:creationId xmlns:a16="http://schemas.microsoft.com/office/drawing/2014/main" id="{9E17BAC1-C9B7-C60E-619E-DF9A866D4902}"/>
                </a:ext>
              </a:extLst>
            </p:cNvPr>
            <p:cNvSpPr/>
            <p:nvPr/>
          </p:nvSpPr>
          <p:spPr>
            <a:xfrm>
              <a:off x="6329933" y="3886963"/>
              <a:ext cx="2084070" cy="662940"/>
            </a:xfrm>
            <a:custGeom>
              <a:avLst/>
              <a:gdLst/>
              <a:ahLst/>
              <a:cxnLst/>
              <a:rect l="l" t="t" r="r" b="b"/>
              <a:pathLst>
                <a:path w="2084070" h="662939">
                  <a:moveTo>
                    <a:pt x="1752600" y="0"/>
                  </a:moveTo>
                  <a:lnTo>
                    <a:pt x="331470" y="0"/>
                  </a:lnTo>
                  <a:lnTo>
                    <a:pt x="282486" y="3593"/>
                  </a:lnTo>
                  <a:lnTo>
                    <a:pt x="235735" y="14033"/>
                  </a:lnTo>
                  <a:lnTo>
                    <a:pt x="191728" y="30806"/>
                  </a:lnTo>
                  <a:lnTo>
                    <a:pt x="150979" y="53400"/>
                  </a:lnTo>
                  <a:lnTo>
                    <a:pt x="113999" y="81302"/>
                  </a:lnTo>
                  <a:lnTo>
                    <a:pt x="81302" y="113999"/>
                  </a:lnTo>
                  <a:lnTo>
                    <a:pt x="53400" y="150979"/>
                  </a:lnTo>
                  <a:lnTo>
                    <a:pt x="30806" y="191728"/>
                  </a:lnTo>
                  <a:lnTo>
                    <a:pt x="14033" y="235735"/>
                  </a:lnTo>
                  <a:lnTo>
                    <a:pt x="3593" y="282486"/>
                  </a:lnTo>
                  <a:lnTo>
                    <a:pt x="0" y="331469"/>
                  </a:lnTo>
                  <a:lnTo>
                    <a:pt x="3593" y="380453"/>
                  </a:lnTo>
                  <a:lnTo>
                    <a:pt x="14033" y="427204"/>
                  </a:lnTo>
                  <a:lnTo>
                    <a:pt x="30806" y="471211"/>
                  </a:lnTo>
                  <a:lnTo>
                    <a:pt x="53400" y="511960"/>
                  </a:lnTo>
                  <a:lnTo>
                    <a:pt x="81302" y="548940"/>
                  </a:lnTo>
                  <a:lnTo>
                    <a:pt x="113999" y="581637"/>
                  </a:lnTo>
                  <a:lnTo>
                    <a:pt x="150979" y="609539"/>
                  </a:lnTo>
                  <a:lnTo>
                    <a:pt x="191728" y="632133"/>
                  </a:lnTo>
                  <a:lnTo>
                    <a:pt x="235735" y="648906"/>
                  </a:lnTo>
                  <a:lnTo>
                    <a:pt x="282486" y="659346"/>
                  </a:lnTo>
                  <a:lnTo>
                    <a:pt x="331470" y="662939"/>
                  </a:lnTo>
                  <a:lnTo>
                    <a:pt x="1752600" y="662939"/>
                  </a:lnTo>
                  <a:lnTo>
                    <a:pt x="1801583" y="659346"/>
                  </a:lnTo>
                  <a:lnTo>
                    <a:pt x="1848334" y="648906"/>
                  </a:lnTo>
                  <a:lnTo>
                    <a:pt x="1892341" y="632133"/>
                  </a:lnTo>
                  <a:lnTo>
                    <a:pt x="1933090" y="609539"/>
                  </a:lnTo>
                  <a:lnTo>
                    <a:pt x="1970070" y="581637"/>
                  </a:lnTo>
                  <a:lnTo>
                    <a:pt x="2002767" y="548940"/>
                  </a:lnTo>
                  <a:lnTo>
                    <a:pt x="2030669" y="511960"/>
                  </a:lnTo>
                  <a:lnTo>
                    <a:pt x="2053263" y="471211"/>
                  </a:lnTo>
                  <a:lnTo>
                    <a:pt x="2070036" y="427204"/>
                  </a:lnTo>
                  <a:lnTo>
                    <a:pt x="2080476" y="380453"/>
                  </a:lnTo>
                  <a:lnTo>
                    <a:pt x="2084070" y="331469"/>
                  </a:lnTo>
                  <a:lnTo>
                    <a:pt x="2080476" y="282486"/>
                  </a:lnTo>
                  <a:lnTo>
                    <a:pt x="2070036" y="235735"/>
                  </a:lnTo>
                  <a:lnTo>
                    <a:pt x="2053263" y="191728"/>
                  </a:lnTo>
                  <a:lnTo>
                    <a:pt x="2030669" y="150979"/>
                  </a:lnTo>
                  <a:lnTo>
                    <a:pt x="2002767" y="113999"/>
                  </a:lnTo>
                  <a:lnTo>
                    <a:pt x="1970070" y="81302"/>
                  </a:lnTo>
                  <a:lnTo>
                    <a:pt x="1933090" y="53400"/>
                  </a:lnTo>
                  <a:lnTo>
                    <a:pt x="1892341" y="30806"/>
                  </a:lnTo>
                  <a:lnTo>
                    <a:pt x="1848334" y="14033"/>
                  </a:lnTo>
                  <a:lnTo>
                    <a:pt x="1801583" y="3593"/>
                  </a:lnTo>
                  <a:lnTo>
                    <a:pt x="1752600" y="0"/>
                  </a:lnTo>
                  <a:close/>
                </a:path>
              </a:pathLst>
            </a:custGeom>
            <a:solidFill>
              <a:schemeClr val="tx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object 30">
              <a:extLst>
                <a:ext uri="{FF2B5EF4-FFF2-40B4-BE49-F238E27FC236}">
                  <a16:creationId xmlns:a16="http://schemas.microsoft.com/office/drawing/2014/main" id="{599710A7-8D10-4FD3-A9FF-88268A6C03F1}"/>
                </a:ext>
              </a:extLst>
            </p:cNvPr>
            <p:cNvSpPr/>
            <p:nvPr/>
          </p:nvSpPr>
          <p:spPr>
            <a:xfrm>
              <a:off x="6144767" y="3727704"/>
              <a:ext cx="424180" cy="409575"/>
            </a:xfrm>
            <a:custGeom>
              <a:avLst/>
              <a:gdLst/>
              <a:ahLst/>
              <a:cxnLst/>
              <a:rect l="l" t="t" r="r" b="b"/>
              <a:pathLst>
                <a:path w="424179" h="409575">
                  <a:moveTo>
                    <a:pt x="211836" y="0"/>
                  </a:moveTo>
                  <a:lnTo>
                    <a:pt x="163264" y="5403"/>
                  </a:lnTo>
                  <a:lnTo>
                    <a:pt x="118676" y="20796"/>
                  </a:lnTo>
                  <a:lnTo>
                    <a:pt x="79343" y="44948"/>
                  </a:lnTo>
                  <a:lnTo>
                    <a:pt x="46538" y="76633"/>
                  </a:lnTo>
                  <a:lnTo>
                    <a:pt x="21531" y="114622"/>
                  </a:lnTo>
                  <a:lnTo>
                    <a:pt x="5594" y="157686"/>
                  </a:lnTo>
                  <a:lnTo>
                    <a:pt x="0" y="204597"/>
                  </a:lnTo>
                  <a:lnTo>
                    <a:pt x="5594" y="251507"/>
                  </a:lnTo>
                  <a:lnTo>
                    <a:pt x="21531" y="294571"/>
                  </a:lnTo>
                  <a:lnTo>
                    <a:pt x="46538" y="332560"/>
                  </a:lnTo>
                  <a:lnTo>
                    <a:pt x="79343" y="364245"/>
                  </a:lnTo>
                  <a:lnTo>
                    <a:pt x="118676" y="388397"/>
                  </a:lnTo>
                  <a:lnTo>
                    <a:pt x="163264" y="403790"/>
                  </a:lnTo>
                  <a:lnTo>
                    <a:pt x="211836" y="409194"/>
                  </a:lnTo>
                  <a:lnTo>
                    <a:pt x="260407" y="403790"/>
                  </a:lnTo>
                  <a:lnTo>
                    <a:pt x="304995" y="388397"/>
                  </a:lnTo>
                  <a:lnTo>
                    <a:pt x="344328" y="364245"/>
                  </a:lnTo>
                  <a:lnTo>
                    <a:pt x="377133" y="332560"/>
                  </a:lnTo>
                  <a:lnTo>
                    <a:pt x="402140" y="294571"/>
                  </a:lnTo>
                  <a:lnTo>
                    <a:pt x="418077" y="251507"/>
                  </a:lnTo>
                  <a:lnTo>
                    <a:pt x="423672" y="204597"/>
                  </a:lnTo>
                  <a:lnTo>
                    <a:pt x="418077" y="157686"/>
                  </a:lnTo>
                  <a:lnTo>
                    <a:pt x="402140" y="114622"/>
                  </a:lnTo>
                  <a:lnTo>
                    <a:pt x="377133" y="76633"/>
                  </a:lnTo>
                  <a:lnTo>
                    <a:pt x="344328" y="44948"/>
                  </a:lnTo>
                  <a:lnTo>
                    <a:pt x="304995" y="20796"/>
                  </a:lnTo>
                  <a:lnTo>
                    <a:pt x="260407" y="5403"/>
                  </a:lnTo>
                  <a:lnTo>
                    <a:pt x="211836" y="0"/>
                  </a:lnTo>
                  <a:close/>
                </a:path>
              </a:pathLst>
            </a:custGeom>
            <a:gr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bject 31">
              <a:extLst>
                <a:ext uri="{FF2B5EF4-FFF2-40B4-BE49-F238E27FC236}">
                  <a16:creationId xmlns:a16="http://schemas.microsoft.com/office/drawing/2014/main" id="{907953E7-B2C0-A31D-FA4D-FE6907E5F8B3}"/>
                </a:ext>
              </a:extLst>
            </p:cNvPr>
            <p:cNvSpPr/>
            <p:nvPr/>
          </p:nvSpPr>
          <p:spPr>
            <a:xfrm>
              <a:off x="9220961" y="2209039"/>
              <a:ext cx="2084070" cy="662940"/>
            </a:xfrm>
            <a:custGeom>
              <a:avLst/>
              <a:gdLst/>
              <a:ahLst/>
              <a:cxnLst/>
              <a:rect l="l" t="t" r="r" b="b"/>
              <a:pathLst>
                <a:path w="2084070" h="662939">
                  <a:moveTo>
                    <a:pt x="1752600" y="0"/>
                  </a:moveTo>
                  <a:lnTo>
                    <a:pt x="331470" y="0"/>
                  </a:lnTo>
                  <a:lnTo>
                    <a:pt x="282486" y="3593"/>
                  </a:lnTo>
                  <a:lnTo>
                    <a:pt x="235735" y="14033"/>
                  </a:lnTo>
                  <a:lnTo>
                    <a:pt x="191728" y="30806"/>
                  </a:lnTo>
                  <a:lnTo>
                    <a:pt x="150979" y="53400"/>
                  </a:lnTo>
                  <a:lnTo>
                    <a:pt x="113999" y="81302"/>
                  </a:lnTo>
                  <a:lnTo>
                    <a:pt x="81302" y="113999"/>
                  </a:lnTo>
                  <a:lnTo>
                    <a:pt x="53400" y="150979"/>
                  </a:lnTo>
                  <a:lnTo>
                    <a:pt x="30806" y="191728"/>
                  </a:lnTo>
                  <a:lnTo>
                    <a:pt x="14033" y="235735"/>
                  </a:lnTo>
                  <a:lnTo>
                    <a:pt x="3593" y="282486"/>
                  </a:lnTo>
                  <a:lnTo>
                    <a:pt x="0" y="331470"/>
                  </a:lnTo>
                  <a:lnTo>
                    <a:pt x="3594" y="380453"/>
                  </a:lnTo>
                  <a:lnTo>
                    <a:pt x="14035" y="427204"/>
                  </a:lnTo>
                  <a:lnTo>
                    <a:pt x="30809" y="471211"/>
                  </a:lnTo>
                  <a:lnTo>
                    <a:pt x="53404" y="511960"/>
                  </a:lnTo>
                  <a:lnTo>
                    <a:pt x="81307" y="548940"/>
                  </a:lnTo>
                  <a:lnTo>
                    <a:pt x="114005" y="581637"/>
                  </a:lnTo>
                  <a:lnTo>
                    <a:pt x="150984" y="609539"/>
                  </a:lnTo>
                  <a:lnTo>
                    <a:pt x="191733" y="632133"/>
                  </a:lnTo>
                  <a:lnTo>
                    <a:pt x="235739" y="648906"/>
                  </a:lnTo>
                  <a:lnTo>
                    <a:pt x="282490" y="659346"/>
                  </a:lnTo>
                  <a:lnTo>
                    <a:pt x="331470" y="662940"/>
                  </a:lnTo>
                  <a:lnTo>
                    <a:pt x="1752600" y="662940"/>
                  </a:lnTo>
                  <a:lnTo>
                    <a:pt x="1801584" y="659345"/>
                  </a:lnTo>
                  <a:lnTo>
                    <a:pt x="1848337" y="648905"/>
                  </a:lnTo>
                  <a:lnTo>
                    <a:pt x="1892345" y="632131"/>
                  </a:lnTo>
                  <a:lnTo>
                    <a:pt x="1933095" y="609536"/>
                  </a:lnTo>
                  <a:lnTo>
                    <a:pt x="1970074" y="581633"/>
                  </a:lnTo>
                  <a:lnTo>
                    <a:pt x="2002771" y="548935"/>
                  </a:lnTo>
                  <a:lnTo>
                    <a:pt x="2030672" y="511955"/>
                  </a:lnTo>
                  <a:lnTo>
                    <a:pt x="2053265" y="471205"/>
                  </a:lnTo>
                  <a:lnTo>
                    <a:pt x="2070037" y="427199"/>
                  </a:lnTo>
                  <a:lnTo>
                    <a:pt x="2080476" y="380450"/>
                  </a:lnTo>
                  <a:lnTo>
                    <a:pt x="2084070" y="331470"/>
                  </a:lnTo>
                  <a:lnTo>
                    <a:pt x="2080476" y="282486"/>
                  </a:lnTo>
                  <a:lnTo>
                    <a:pt x="2070036" y="235735"/>
                  </a:lnTo>
                  <a:lnTo>
                    <a:pt x="2053263" y="191728"/>
                  </a:lnTo>
                  <a:lnTo>
                    <a:pt x="2030669" y="150979"/>
                  </a:lnTo>
                  <a:lnTo>
                    <a:pt x="2002767" y="113999"/>
                  </a:lnTo>
                  <a:lnTo>
                    <a:pt x="1970070" y="81302"/>
                  </a:lnTo>
                  <a:lnTo>
                    <a:pt x="1933090" y="53400"/>
                  </a:lnTo>
                  <a:lnTo>
                    <a:pt x="1892341" y="30806"/>
                  </a:lnTo>
                  <a:lnTo>
                    <a:pt x="1848334" y="14033"/>
                  </a:lnTo>
                  <a:lnTo>
                    <a:pt x="1801583" y="3593"/>
                  </a:lnTo>
                  <a:lnTo>
                    <a:pt x="1752600" y="0"/>
                  </a:lnTo>
                  <a:close/>
                </a:path>
              </a:pathLst>
            </a:custGeom>
            <a:solidFill>
              <a:schemeClr val="tx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object 32">
              <a:extLst>
                <a:ext uri="{FF2B5EF4-FFF2-40B4-BE49-F238E27FC236}">
                  <a16:creationId xmlns:a16="http://schemas.microsoft.com/office/drawing/2014/main" id="{860D0BDE-82AB-B6E2-7798-E0A9EE5BCD9C}"/>
                </a:ext>
              </a:extLst>
            </p:cNvPr>
            <p:cNvSpPr/>
            <p:nvPr/>
          </p:nvSpPr>
          <p:spPr>
            <a:xfrm>
              <a:off x="9038082" y="2055876"/>
              <a:ext cx="422909" cy="408940"/>
            </a:xfrm>
            <a:custGeom>
              <a:avLst/>
              <a:gdLst/>
              <a:ahLst/>
              <a:cxnLst/>
              <a:rect l="l" t="t" r="r" b="b"/>
              <a:pathLst>
                <a:path w="422909" h="408939">
                  <a:moveTo>
                    <a:pt x="211454" y="0"/>
                  </a:moveTo>
                  <a:lnTo>
                    <a:pt x="162968" y="5393"/>
                  </a:lnTo>
                  <a:lnTo>
                    <a:pt x="118459" y="20756"/>
                  </a:lnTo>
                  <a:lnTo>
                    <a:pt x="79198" y="44862"/>
                  </a:lnTo>
                  <a:lnTo>
                    <a:pt x="46452" y="76487"/>
                  </a:lnTo>
                  <a:lnTo>
                    <a:pt x="21491" y="114405"/>
                  </a:lnTo>
                  <a:lnTo>
                    <a:pt x="5584" y="157390"/>
                  </a:lnTo>
                  <a:lnTo>
                    <a:pt x="0" y="204215"/>
                  </a:lnTo>
                  <a:lnTo>
                    <a:pt x="5584" y="251041"/>
                  </a:lnTo>
                  <a:lnTo>
                    <a:pt x="21491" y="294026"/>
                  </a:lnTo>
                  <a:lnTo>
                    <a:pt x="46452" y="331944"/>
                  </a:lnTo>
                  <a:lnTo>
                    <a:pt x="79198" y="363569"/>
                  </a:lnTo>
                  <a:lnTo>
                    <a:pt x="118459" y="387675"/>
                  </a:lnTo>
                  <a:lnTo>
                    <a:pt x="162968" y="403038"/>
                  </a:lnTo>
                  <a:lnTo>
                    <a:pt x="211454" y="408431"/>
                  </a:lnTo>
                  <a:lnTo>
                    <a:pt x="259941" y="403038"/>
                  </a:lnTo>
                  <a:lnTo>
                    <a:pt x="304450" y="387675"/>
                  </a:lnTo>
                  <a:lnTo>
                    <a:pt x="343711" y="363569"/>
                  </a:lnTo>
                  <a:lnTo>
                    <a:pt x="376457" y="331944"/>
                  </a:lnTo>
                  <a:lnTo>
                    <a:pt x="401418" y="294026"/>
                  </a:lnTo>
                  <a:lnTo>
                    <a:pt x="417325" y="251041"/>
                  </a:lnTo>
                  <a:lnTo>
                    <a:pt x="422909" y="204215"/>
                  </a:lnTo>
                  <a:lnTo>
                    <a:pt x="417325" y="157390"/>
                  </a:lnTo>
                  <a:lnTo>
                    <a:pt x="401418" y="114405"/>
                  </a:lnTo>
                  <a:lnTo>
                    <a:pt x="376457" y="76487"/>
                  </a:lnTo>
                  <a:lnTo>
                    <a:pt x="343711" y="44862"/>
                  </a:lnTo>
                  <a:lnTo>
                    <a:pt x="304450" y="20756"/>
                  </a:lnTo>
                  <a:lnTo>
                    <a:pt x="259941" y="5393"/>
                  </a:lnTo>
                  <a:lnTo>
                    <a:pt x="211454" y="0"/>
                  </a:lnTo>
                  <a:close/>
                </a:path>
              </a:pathLst>
            </a:custGeom>
            <a:gr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6" name="object 34">
            <a:extLst>
              <a:ext uri="{FF2B5EF4-FFF2-40B4-BE49-F238E27FC236}">
                <a16:creationId xmlns:a16="http://schemas.microsoft.com/office/drawing/2014/main" id="{B37CB47D-5F29-0D76-C993-D94DE3783F6D}"/>
              </a:ext>
            </a:extLst>
          </p:cNvPr>
          <p:cNvSpPr txBox="1"/>
          <p:nvPr/>
        </p:nvSpPr>
        <p:spPr>
          <a:xfrm>
            <a:off x="471239" y="2995471"/>
            <a:ext cx="1553210" cy="546735"/>
          </a:xfrm>
          <a:prstGeom prst="rect">
            <a:avLst/>
          </a:prstGeom>
        </p:spPr>
        <p:txBody>
          <a:bodyPr vert="horz" wrap="square" lIns="0" tIns="39370" rIns="0" bIns="0" rtlCol="0">
            <a:sp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kumimoji="0" sz="1600" b="1" i="0" u="none" strike="noStrike" kern="1200" cap="none" spc="-10" normalizeH="0" baseline="0" noProof="0" dirty="0">
                <a:ln>
                  <a:noFill/>
                </a:ln>
                <a:solidFill>
                  <a:srgbClr val="FFFFFF"/>
                </a:solidFill>
                <a:effectLst/>
                <a:uLnTx/>
                <a:uFillTx/>
                <a:latin typeface="Arial"/>
                <a:ea typeface="+mn-ea"/>
                <a:cs typeface="Arial"/>
              </a:rPr>
              <a:t>1</a:t>
            </a:r>
            <a:endParaRPr kumimoji="0" sz="1600" b="0" i="0" u="none" strike="noStrike" kern="1200" cap="none" spc="0" normalizeH="0" baseline="0" noProof="0" dirty="0">
              <a:ln>
                <a:noFill/>
              </a:ln>
              <a:solidFill>
                <a:prstClr val="black"/>
              </a:solidFill>
              <a:effectLst/>
              <a:uLnTx/>
              <a:uFillTx/>
              <a:latin typeface="Arial"/>
              <a:ea typeface="+mn-ea"/>
              <a:cs typeface="Arial"/>
            </a:endParaRPr>
          </a:p>
          <a:p>
            <a:pPr marL="621665" marR="0" lvl="0" indent="0" algn="l" defTabSz="914400" rtl="0" eaLnBrk="1" fontAlgn="auto" latinLnBrk="0" hangingPunct="1">
              <a:lnSpc>
                <a:spcPct val="100000"/>
              </a:lnSpc>
              <a:spcBef>
                <a:spcPts val="229"/>
              </a:spcBef>
              <a:spcAft>
                <a:spcPts val="0"/>
              </a:spcAft>
              <a:buClrTx/>
              <a:buSzTx/>
              <a:buFontTx/>
              <a:buNone/>
              <a:tabLst/>
              <a:defRPr/>
            </a:pPr>
            <a:r>
              <a:rPr kumimoji="0" lang="en-GB" sz="1450" b="1" i="1" u="none" strike="noStrike" kern="1200" cap="none" spc="-100" normalizeH="0" baseline="0" noProof="0" dirty="0">
                <a:ln>
                  <a:noFill/>
                </a:ln>
                <a:solidFill>
                  <a:srgbClr val="FFFFFF"/>
                </a:solidFill>
                <a:effectLst/>
                <a:uLnTx/>
                <a:uFillTx/>
                <a:latin typeface="Arial"/>
                <a:ea typeface="+mn-ea"/>
                <a:cs typeface="Arial"/>
              </a:rPr>
              <a:t>Introduction</a:t>
            </a:r>
            <a:endParaRPr kumimoji="0" sz="1450" b="0" i="0" u="none" strike="noStrike" kern="1200" cap="none" spc="0" normalizeH="0" baseline="0" noProof="0" dirty="0">
              <a:ln>
                <a:noFill/>
              </a:ln>
              <a:solidFill>
                <a:prstClr val="black"/>
              </a:solidFill>
              <a:effectLst/>
              <a:uLnTx/>
              <a:uFillTx/>
              <a:latin typeface="Arial"/>
              <a:ea typeface="+mn-ea"/>
              <a:cs typeface="Arial"/>
            </a:endParaRPr>
          </a:p>
        </p:txBody>
      </p:sp>
      <p:grpSp>
        <p:nvGrpSpPr>
          <p:cNvPr id="22" name="object 20">
            <a:extLst>
              <a:ext uri="{FF2B5EF4-FFF2-40B4-BE49-F238E27FC236}">
                <a16:creationId xmlns:a16="http://schemas.microsoft.com/office/drawing/2014/main" id="{616A3E27-CB9B-EB13-010E-D10DAD116BF3}"/>
              </a:ext>
            </a:extLst>
          </p:cNvPr>
          <p:cNvGrpSpPr/>
          <p:nvPr/>
        </p:nvGrpSpPr>
        <p:grpSpPr>
          <a:xfrm>
            <a:off x="330707" y="1471896"/>
            <a:ext cx="6206490" cy="3907790"/>
            <a:chOff x="178307" y="1652016"/>
            <a:chExt cx="6206490" cy="3907790"/>
          </a:xfrm>
        </p:grpSpPr>
        <p:sp>
          <p:nvSpPr>
            <p:cNvPr id="23" name="object 21">
              <a:extLst>
                <a:ext uri="{FF2B5EF4-FFF2-40B4-BE49-F238E27FC236}">
                  <a16:creationId xmlns:a16="http://schemas.microsoft.com/office/drawing/2014/main" id="{4E90C549-FDE7-A215-C492-07347E8BF751}"/>
                </a:ext>
              </a:extLst>
            </p:cNvPr>
            <p:cNvSpPr/>
            <p:nvPr/>
          </p:nvSpPr>
          <p:spPr>
            <a:xfrm>
              <a:off x="361950" y="2965705"/>
              <a:ext cx="2084070" cy="662940"/>
            </a:xfrm>
            <a:custGeom>
              <a:avLst/>
              <a:gdLst/>
              <a:ahLst/>
              <a:cxnLst/>
              <a:rect l="l" t="t" r="r" b="b"/>
              <a:pathLst>
                <a:path w="2084070" h="662939">
                  <a:moveTo>
                    <a:pt x="1752600" y="0"/>
                  </a:moveTo>
                  <a:lnTo>
                    <a:pt x="331470" y="0"/>
                  </a:lnTo>
                  <a:lnTo>
                    <a:pt x="282486" y="3593"/>
                  </a:lnTo>
                  <a:lnTo>
                    <a:pt x="235735" y="14033"/>
                  </a:lnTo>
                  <a:lnTo>
                    <a:pt x="191728" y="30806"/>
                  </a:lnTo>
                  <a:lnTo>
                    <a:pt x="150979" y="53400"/>
                  </a:lnTo>
                  <a:lnTo>
                    <a:pt x="113999" y="81302"/>
                  </a:lnTo>
                  <a:lnTo>
                    <a:pt x="81302" y="113999"/>
                  </a:lnTo>
                  <a:lnTo>
                    <a:pt x="53400" y="150979"/>
                  </a:lnTo>
                  <a:lnTo>
                    <a:pt x="30806" y="191728"/>
                  </a:lnTo>
                  <a:lnTo>
                    <a:pt x="14033" y="235735"/>
                  </a:lnTo>
                  <a:lnTo>
                    <a:pt x="3593" y="282486"/>
                  </a:lnTo>
                  <a:lnTo>
                    <a:pt x="0" y="331470"/>
                  </a:lnTo>
                  <a:lnTo>
                    <a:pt x="3594" y="380453"/>
                  </a:lnTo>
                  <a:lnTo>
                    <a:pt x="14035" y="427204"/>
                  </a:lnTo>
                  <a:lnTo>
                    <a:pt x="30809" y="471211"/>
                  </a:lnTo>
                  <a:lnTo>
                    <a:pt x="53404" y="511960"/>
                  </a:lnTo>
                  <a:lnTo>
                    <a:pt x="81307" y="548940"/>
                  </a:lnTo>
                  <a:lnTo>
                    <a:pt x="114005" y="581637"/>
                  </a:lnTo>
                  <a:lnTo>
                    <a:pt x="150984" y="609539"/>
                  </a:lnTo>
                  <a:lnTo>
                    <a:pt x="191733" y="632133"/>
                  </a:lnTo>
                  <a:lnTo>
                    <a:pt x="235739" y="648906"/>
                  </a:lnTo>
                  <a:lnTo>
                    <a:pt x="282490" y="659346"/>
                  </a:lnTo>
                  <a:lnTo>
                    <a:pt x="331470" y="662940"/>
                  </a:lnTo>
                  <a:lnTo>
                    <a:pt x="1752600" y="662940"/>
                  </a:lnTo>
                  <a:lnTo>
                    <a:pt x="1801584" y="659345"/>
                  </a:lnTo>
                  <a:lnTo>
                    <a:pt x="1848337" y="648905"/>
                  </a:lnTo>
                  <a:lnTo>
                    <a:pt x="1892345" y="632131"/>
                  </a:lnTo>
                  <a:lnTo>
                    <a:pt x="1933095" y="609536"/>
                  </a:lnTo>
                  <a:lnTo>
                    <a:pt x="1970074" y="581633"/>
                  </a:lnTo>
                  <a:lnTo>
                    <a:pt x="2002771" y="548935"/>
                  </a:lnTo>
                  <a:lnTo>
                    <a:pt x="2030672" y="511955"/>
                  </a:lnTo>
                  <a:lnTo>
                    <a:pt x="2053265" y="471205"/>
                  </a:lnTo>
                  <a:lnTo>
                    <a:pt x="2070037" y="427199"/>
                  </a:lnTo>
                  <a:lnTo>
                    <a:pt x="2080476" y="380450"/>
                  </a:lnTo>
                  <a:lnTo>
                    <a:pt x="2084070" y="331470"/>
                  </a:lnTo>
                  <a:lnTo>
                    <a:pt x="2080476" y="282486"/>
                  </a:lnTo>
                  <a:lnTo>
                    <a:pt x="2070036" y="235735"/>
                  </a:lnTo>
                  <a:lnTo>
                    <a:pt x="2053263" y="191728"/>
                  </a:lnTo>
                  <a:lnTo>
                    <a:pt x="2030669" y="150979"/>
                  </a:lnTo>
                  <a:lnTo>
                    <a:pt x="2002767" y="113999"/>
                  </a:lnTo>
                  <a:lnTo>
                    <a:pt x="1970070" y="81302"/>
                  </a:lnTo>
                  <a:lnTo>
                    <a:pt x="1933090" y="53400"/>
                  </a:lnTo>
                  <a:lnTo>
                    <a:pt x="1892341" y="30806"/>
                  </a:lnTo>
                  <a:lnTo>
                    <a:pt x="1848334" y="14033"/>
                  </a:lnTo>
                  <a:lnTo>
                    <a:pt x="1801583" y="3593"/>
                  </a:lnTo>
                  <a:lnTo>
                    <a:pt x="1752600" y="0"/>
                  </a:lnTo>
                  <a:close/>
                </a:path>
              </a:pathLst>
            </a:custGeom>
            <a:solidFill>
              <a:schemeClr val="tx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4" name="object 22">
              <a:extLst>
                <a:ext uri="{FF2B5EF4-FFF2-40B4-BE49-F238E27FC236}">
                  <a16:creationId xmlns:a16="http://schemas.microsoft.com/office/drawing/2014/main" id="{8B18E063-0BDE-4E24-EFB7-9BA79627564C}"/>
                </a:ext>
              </a:extLst>
            </p:cNvPr>
            <p:cNvSpPr/>
            <p:nvPr/>
          </p:nvSpPr>
          <p:spPr>
            <a:xfrm>
              <a:off x="178307" y="2811780"/>
              <a:ext cx="424180" cy="409575"/>
            </a:xfrm>
            <a:custGeom>
              <a:avLst/>
              <a:gdLst/>
              <a:ahLst/>
              <a:cxnLst/>
              <a:rect l="l" t="t" r="r" b="b"/>
              <a:pathLst>
                <a:path w="424180" h="409575">
                  <a:moveTo>
                    <a:pt x="211836" y="0"/>
                  </a:moveTo>
                  <a:lnTo>
                    <a:pt x="163264" y="5403"/>
                  </a:lnTo>
                  <a:lnTo>
                    <a:pt x="118676" y="20796"/>
                  </a:lnTo>
                  <a:lnTo>
                    <a:pt x="79343" y="44948"/>
                  </a:lnTo>
                  <a:lnTo>
                    <a:pt x="46538" y="76633"/>
                  </a:lnTo>
                  <a:lnTo>
                    <a:pt x="21531" y="114622"/>
                  </a:lnTo>
                  <a:lnTo>
                    <a:pt x="5594" y="157686"/>
                  </a:lnTo>
                  <a:lnTo>
                    <a:pt x="0" y="204597"/>
                  </a:lnTo>
                  <a:lnTo>
                    <a:pt x="5594" y="251507"/>
                  </a:lnTo>
                  <a:lnTo>
                    <a:pt x="21531" y="294571"/>
                  </a:lnTo>
                  <a:lnTo>
                    <a:pt x="46538" y="332560"/>
                  </a:lnTo>
                  <a:lnTo>
                    <a:pt x="79343" y="364245"/>
                  </a:lnTo>
                  <a:lnTo>
                    <a:pt x="118676" y="388397"/>
                  </a:lnTo>
                  <a:lnTo>
                    <a:pt x="163264" y="403790"/>
                  </a:lnTo>
                  <a:lnTo>
                    <a:pt x="211836" y="409194"/>
                  </a:lnTo>
                  <a:lnTo>
                    <a:pt x="260407" y="403790"/>
                  </a:lnTo>
                  <a:lnTo>
                    <a:pt x="304995" y="388397"/>
                  </a:lnTo>
                  <a:lnTo>
                    <a:pt x="344328" y="364245"/>
                  </a:lnTo>
                  <a:lnTo>
                    <a:pt x="377133" y="332560"/>
                  </a:lnTo>
                  <a:lnTo>
                    <a:pt x="402140" y="294571"/>
                  </a:lnTo>
                  <a:lnTo>
                    <a:pt x="418077" y="251507"/>
                  </a:lnTo>
                  <a:lnTo>
                    <a:pt x="423672" y="204597"/>
                  </a:lnTo>
                  <a:lnTo>
                    <a:pt x="418077" y="157686"/>
                  </a:lnTo>
                  <a:lnTo>
                    <a:pt x="402140" y="114622"/>
                  </a:lnTo>
                  <a:lnTo>
                    <a:pt x="377133" y="76633"/>
                  </a:lnTo>
                  <a:lnTo>
                    <a:pt x="344328" y="44948"/>
                  </a:lnTo>
                  <a:lnTo>
                    <a:pt x="304995" y="20796"/>
                  </a:lnTo>
                  <a:lnTo>
                    <a:pt x="260407" y="5403"/>
                  </a:lnTo>
                  <a:lnTo>
                    <a:pt x="211836" y="0"/>
                  </a:lnTo>
                  <a:close/>
                </a:path>
              </a:pathLst>
            </a:custGeom>
            <a:solidFill>
              <a:srgbClr val="66CD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object 23">
              <a:extLst>
                <a:ext uri="{FF2B5EF4-FFF2-40B4-BE49-F238E27FC236}">
                  <a16:creationId xmlns:a16="http://schemas.microsoft.com/office/drawing/2014/main" id="{27560791-0CD1-1741-3B92-E205F3E8E92D}"/>
                </a:ext>
              </a:extLst>
            </p:cNvPr>
            <p:cNvSpPr/>
            <p:nvPr/>
          </p:nvSpPr>
          <p:spPr>
            <a:xfrm>
              <a:off x="2033778" y="4897375"/>
              <a:ext cx="2084070" cy="662305"/>
            </a:xfrm>
            <a:custGeom>
              <a:avLst/>
              <a:gdLst/>
              <a:ahLst/>
              <a:cxnLst/>
              <a:rect l="l" t="t" r="r" b="b"/>
              <a:pathLst>
                <a:path w="2084070" h="662304">
                  <a:moveTo>
                    <a:pt x="1752981" y="0"/>
                  </a:moveTo>
                  <a:lnTo>
                    <a:pt x="331089" y="0"/>
                  </a:lnTo>
                  <a:lnTo>
                    <a:pt x="282163" y="3589"/>
                  </a:lnTo>
                  <a:lnTo>
                    <a:pt x="235466" y="14018"/>
                  </a:lnTo>
                  <a:lnTo>
                    <a:pt x="191510" y="30772"/>
                  </a:lnTo>
                  <a:lnTo>
                    <a:pt x="150807" y="53340"/>
                  </a:lnTo>
                  <a:lnTo>
                    <a:pt x="113870" y="81210"/>
                  </a:lnTo>
                  <a:lnTo>
                    <a:pt x="81210" y="113870"/>
                  </a:lnTo>
                  <a:lnTo>
                    <a:pt x="53340" y="150807"/>
                  </a:lnTo>
                  <a:lnTo>
                    <a:pt x="30772" y="191510"/>
                  </a:lnTo>
                  <a:lnTo>
                    <a:pt x="14018" y="235466"/>
                  </a:lnTo>
                  <a:lnTo>
                    <a:pt x="3589" y="282163"/>
                  </a:lnTo>
                  <a:lnTo>
                    <a:pt x="0" y="331089"/>
                  </a:lnTo>
                  <a:lnTo>
                    <a:pt x="3589" y="380014"/>
                  </a:lnTo>
                  <a:lnTo>
                    <a:pt x="14018" y="426711"/>
                  </a:lnTo>
                  <a:lnTo>
                    <a:pt x="30772" y="470667"/>
                  </a:lnTo>
                  <a:lnTo>
                    <a:pt x="53340" y="511370"/>
                  </a:lnTo>
                  <a:lnTo>
                    <a:pt x="81210" y="548307"/>
                  </a:lnTo>
                  <a:lnTo>
                    <a:pt x="113870" y="580967"/>
                  </a:lnTo>
                  <a:lnTo>
                    <a:pt x="150807" y="608837"/>
                  </a:lnTo>
                  <a:lnTo>
                    <a:pt x="191510" y="631405"/>
                  </a:lnTo>
                  <a:lnTo>
                    <a:pt x="235466" y="648159"/>
                  </a:lnTo>
                  <a:lnTo>
                    <a:pt x="282163" y="658588"/>
                  </a:lnTo>
                  <a:lnTo>
                    <a:pt x="331089" y="662178"/>
                  </a:lnTo>
                  <a:lnTo>
                    <a:pt x="1752981" y="662178"/>
                  </a:lnTo>
                  <a:lnTo>
                    <a:pt x="1801906" y="658588"/>
                  </a:lnTo>
                  <a:lnTo>
                    <a:pt x="1848603" y="648159"/>
                  </a:lnTo>
                  <a:lnTo>
                    <a:pt x="1892559" y="631405"/>
                  </a:lnTo>
                  <a:lnTo>
                    <a:pt x="1933262" y="608837"/>
                  </a:lnTo>
                  <a:lnTo>
                    <a:pt x="1970199" y="580967"/>
                  </a:lnTo>
                  <a:lnTo>
                    <a:pt x="2002859" y="548307"/>
                  </a:lnTo>
                  <a:lnTo>
                    <a:pt x="2030729" y="511370"/>
                  </a:lnTo>
                  <a:lnTo>
                    <a:pt x="2053297" y="470667"/>
                  </a:lnTo>
                  <a:lnTo>
                    <a:pt x="2070051" y="426711"/>
                  </a:lnTo>
                  <a:lnTo>
                    <a:pt x="2080480" y="380014"/>
                  </a:lnTo>
                  <a:lnTo>
                    <a:pt x="2084070" y="331089"/>
                  </a:lnTo>
                  <a:lnTo>
                    <a:pt x="2080480" y="282163"/>
                  </a:lnTo>
                  <a:lnTo>
                    <a:pt x="2070051" y="235466"/>
                  </a:lnTo>
                  <a:lnTo>
                    <a:pt x="2053297" y="191510"/>
                  </a:lnTo>
                  <a:lnTo>
                    <a:pt x="2030729" y="150807"/>
                  </a:lnTo>
                  <a:lnTo>
                    <a:pt x="2002859" y="113870"/>
                  </a:lnTo>
                  <a:lnTo>
                    <a:pt x="1970199" y="81210"/>
                  </a:lnTo>
                  <a:lnTo>
                    <a:pt x="1933262" y="53340"/>
                  </a:lnTo>
                  <a:lnTo>
                    <a:pt x="1892559" y="30772"/>
                  </a:lnTo>
                  <a:lnTo>
                    <a:pt x="1848603" y="14018"/>
                  </a:lnTo>
                  <a:lnTo>
                    <a:pt x="1801906" y="3589"/>
                  </a:lnTo>
                  <a:lnTo>
                    <a:pt x="1752981" y="0"/>
                  </a:lnTo>
                  <a:close/>
                </a:path>
              </a:pathLst>
            </a:custGeom>
            <a:solidFill>
              <a:schemeClr val="tx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6" name="object 24">
              <a:extLst>
                <a:ext uri="{FF2B5EF4-FFF2-40B4-BE49-F238E27FC236}">
                  <a16:creationId xmlns:a16="http://schemas.microsoft.com/office/drawing/2014/main" id="{70D60877-F5B9-9A61-6832-3290757C3798}"/>
                </a:ext>
              </a:extLst>
            </p:cNvPr>
            <p:cNvSpPr/>
            <p:nvPr/>
          </p:nvSpPr>
          <p:spPr>
            <a:xfrm>
              <a:off x="1850897" y="4743450"/>
              <a:ext cx="422909" cy="409575"/>
            </a:xfrm>
            <a:custGeom>
              <a:avLst/>
              <a:gdLst/>
              <a:ahLst/>
              <a:cxnLst/>
              <a:rect l="l" t="t" r="r" b="b"/>
              <a:pathLst>
                <a:path w="422910" h="409575">
                  <a:moveTo>
                    <a:pt x="211454" y="0"/>
                  </a:moveTo>
                  <a:lnTo>
                    <a:pt x="162968" y="5403"/>
                  </a:lnTo>
                  <a:lnTo>
                    <a:pt x="118459" y="20796"/>
                  </a:lnTo>
                  <a:lnTo>
                    <a:pt x="79198" y="44948"/>
                  </a:lnTo>
                  <a:lnTo>
                    <a:pt x="46452" y="76633"/>
                  </a:lnTo>
                  <a:lnTo>
                    <a:pt x="21491" y="114622"/>
                  </a:lnTo>
                  <a:lnTo>
                    <a:pt x="5584" y="157686"/>
                  </a:lnTo>
                  <a:lnTo>
                    <a:pt x="0" y="204597"/>
                  </a:lnTo>
                  <a:lnTo>
                    <a:pt x="5584" y="251507"/>
                  </a:lnTo>
                  <a:lnTo>
                    <a:pt x="21491" y="294571"/>
                  </a:lnTo>
                  <a:lnTo>
                    <a:pt x="46452" y="332560"/>
                  </a:lnTo>
                  <a:lnTo>
                    <a:pt x="79198" y="364245"/>
                  </a:lnTo>
                  <a:lnTo>
                    <a:pt x="118459" y="388397"/>
                  </a:lnTo>
                  <a:lnTo>
                    <a:pt x="162968" y="403790"/>
                  </a:lnTo>
                  <a:lnTo>
                    <a:pt x="211454" y="409194"/>
                  </a:lnTo>
                  <a:lnTo>
                    <a:pt x="259941" y="403790"/>
                  </a:lnTo>
                  <a:lnTo>
                    <a:pt x="304450" y="388397"/>
                  </a:lnTo>
                  <a:lnTo>
                    <a:pt x="343711" y="364245"/>
                  </a:lnTo>
                  <a:lnTo>
                    <a:pt x="376457" y="332560"/>
                  </a:lnTo>
                  <a:lnTo>
                    <a:pt x="401418" y="294571"/>
                  </a:lnTo>
                  <a:lnTo>
                    <a:pt x="417325" y="251507"/>
                  </a:lnTo>
                  <a:lnTo>
                    <a:pt x="422909" y="204597"/>
                  </a:lnTo>
                  <a:lnTo>
                    <a:pt x="417325" y="157686"/>
                  </a:lnTo>
                  <a:lnTo>
                    <a:pt x="401418" y="114622"/>
                  </a:lnTo>
                  <a:lnTo>
                    <a:pt x="376457" y="76633"/>
                  </a:lnTo>
                  <a:lnTo>
                    <a:pt x="343711" y="44948"/>
                  </a:lnTo>
                  <a:lnTo>
                    <a:pt x="304450" y="20796"/>
                  </a:lnTo>
                  <a:lnTo>
                    <a:pt x="259941" y="5403"/>
                  </a:lnTo>
                  <a:lnTo>
                    <a:pt x="211454" y="0"/>
                  </a:lnTo>
                  <a:close/>
                </a:path>
              </a:pathLst>
            </a:custGeom>
            <a:solidFill>
              <a:srgbClr val="66CD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object 25">
              <a:extLst>
                <a:ext uri="{FF2B5EF4-FFF2-40B4-BE49-F238E27FC236}">
                  <a16:creationId xmlns:a16="http://schemas.microsoft.com/office/drawing/2014/main" id="{D9FA446F-AACA-9607-4FBD-1B21B1A0C971}"/>
                </a:ext>
              </a:extLst>
            </p:cNvPr>
            <p:cNvSpPr/>
            <p:nvPr/>
          </p:nvSpPr>
          <p:spPr>
            <a:xfrm>
              <a:off x="4300728" y="1805179"/>
              <a:ext cx="2084070" cy="662940"/>
            </a:xfrm>
            <a:custGeom>
              <a:avLst/>
              <a:gdLst/>
              <a:ahLst/>
              <a:cxnLst/>
              <a:rect l="l" t="t" r="r" b="b"/>
              <a:pathLst>
                <a:path w="2084070" h="662939">
                  <a:moveTo>
                    <a:pt x="1752600" y="0"/>
                  </a:moveTo>
                  <a:lnTo>
                    <a:pt x="331470" y="0"/>
                  </a:lnTo>
                  <a:lnTo>
                    <a:pt x="282486" y="3593"/>
                  </a:lnTo>
                  <a:lnTo>
                    <a:pt x="235735" y="14033"/>
                  </a:lnTo>
                  <a:lnTo>
                    <a:pt x="191728" y="30806"/>
                  </a:lnTo>
                  <a:lnTo>
                    <a:pt x="150979" y="53400"/>
                  </a:lnTo>
                  <a:lnTo>
                    <a:pt x="113999" y="81302"/>
                  </a:lnTo>
                  <a:lnTo>
                    <a:pt x="81302" y="113999"/>
                  </a:lnTo>
                  <a:lnTo>
                    <a:pt x="53400" y="150979"/>
                  </a:lnTo>
                  <a:lnTo>
                    <a:pt x="30806" y="191728"/>
                  </a:lnTo>
                  <a:lnTo>
                    <a:pt x="14033" y="235735"/>
                  </a:lnTo>
                  <a:lnTo>
                    <a:pt x="3593" y="282486"/>
                  </a:lnTo>
                  <a:lnTo>
                    <a:pt x="0" y="331470"/>
                  </a:lnTo>
                  <a:lnTo>
                    <a:pt x="3594" y="380453"/>
                  </a:lnTo>
                  <a:lnTo>
                    <a:pt x="14035" y="427204"/>
                  </a:lnTo>
                  <a:lnTo>
                    <a:pt x="30809" y="471211"/>
                  </a:lnTo>
                  <a:lnTo>
                    <a:pt x="53404" y="511960"/>
                  </a:lnTo>
                  <a:lnTo>
                    <a:pt x="81307" y="548940"/>
                  </a:lnTo>
                  <a:lnTo>
                    <a:pt x="114005" y="581637"/>
                  </a:lnTo>
                  <a:lnTo>
                    <a:pt x="150984" y="609539"/>
                  </a:lnTo>
                  <a:lnTo>
                    <a:pt x="191733" y="632133"/>
                  </a:lnTo>
                  <a:lnTo>
                    <a:pt x="235739" y="648906"/>
                  </a:lnTo>
                  <a:lnTo>
                    <a:pt x="282490" y="659346"/>
                  </a:lnTo>
                  <a:lnTo>
                    <a:pt x="331470" y="662940"/>
                  </a:lnTo>
                  <a:lnTo>
                    <a:pt x="1752600" y="662940"/>
                  </a:lnTo>
                  <a:lnTo>
                    <a:pt x="1801584" y="659345"/>
                  </a:lnTo>
                  <a:lnTo>
                    <a:pt x="1848337" y="648905"/>
                  </a:lnTo>
                  <a:lnTo>
                    <a:pt x="1892345" y="632131"/>
                  </a:lnTo>
                  <a:lnTo>
                    <a:pt x="1933095" y="609536"/>
                  </a:lnTo>
                  <a:lnTo>
                    <a:pt x="1970074" y="581633"/>
                  </a:lnTo>
                  <a:lnTo>
                    <a:pt x="2002771" y="548935"/>
                  </a:lnTo>
                  <a:lnTo>
                    <a:pt x="2030672" y="511955"/>
                  </a:lnTo>
                  <a:lnTo>
                    <a:pt x="2053265" y="471205"/>
                  </a:lnTo>
                  <a:lnTo>
                    <a:pt x="2070037" y="427199"/>
                  </a:lnTo>
                  <a:lnTo>
                    <a:pt x="2080476" y="380450"/>
                  </a:lnTo>
                  <a:lnTo>
                    <a:pt x="2084070" y="331470"/>
                  </a:lnTo>
                  <a:lnTo>
                    <a:pt x="2080476" y="282486"/>
                  </a:lnTo>
                  <a:lnTo>
                    <a:pt x="2070036" y="235735"/>
                  </a:lnTo>
                  <a:lnTo>
                    <a:pt x="2053263" y="191728"/>
                  </a:lnTo>
                  <a:lnTo>
                    <a:pt x="2030669" y="150979"/>
                  </a:lnTo>
                  <a:lnTo>
                    <a:pt x="2002767" y="113999"/>
                  </a:lnTo>
                  <a:lnTo>
                    <a:pt x="1970070" y="81302"/>
                  </a:lnTo>
                  <a:lnTo>
                    <a:pt x="1933090" y="53400"/>
                  </a:lnTo>
                  <a:lnTo>
                    <a:pt x="1892341" y="30806"/>
                  </a:lnTo>
                  <a:lnTo>
                    <a:pt x="1848334" y="14033"/>
                  </a:lnTo>
                  <a:lnTo>
                    <a:pt x="1801583" y="3593"/>
                  </a:lnTo>
                  <a:lnTo>
                    <a:pt x="1752600" y="0"/>
                  </a:lnTo>
                  <a:close/>
                </a:path>
              </a:pathLst>
            </a:custGeom>
            <a:solidFill>
              <a:schemeClr val="tx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8" name="object 26">
              <a:extLst>
                <a:ext uri="{FF2B5EF4-FFF2-40B4-BE49-F238E27FC236}">
                  <a16:creationId xmlns:a16="http://schemas.microsoft.com/office/drawing/2014/main" id="{17B9D0F7-7433-9C41-1DBC-23D595231E56}"/>
                </a:ext>
              </a:extLst>
            </p:cNvPr>
            <p:cNvSpPr/>
            <p:nvPr/>
          </p:nvSpPr>
          <p:spPr>
            <a:xfrm>
              <a:off x="4117848" y="1652016"/>
              <a:ext cx="422909" cy="409575"/>
            </a:xfrm>
            <a:custGeom>
              <a:avLst/>
              <a:gdLst/>
              <a:ahLst/>
              <a:cxnLst/>
              <a:rect l="l" t="t" r="r" b="b"/>
              <a:pathLst>
                <a:path w="422910" h="409575">
                  <a:moveTo>
                    <a:pt x="211454" y="0"/>
                  </a:moveTo>
                  <a:lnTo>
                    <a:pt x="162968" y="5403"/>
                  </a:lnTo>
                  <a:lnTo>
                    <a:pt x="118459" y="20796"/>
                  </a:lnTo>
                  <a:lnTo>
                    <a:pt x="79198" y="44948"/>
                  </a:lnTo>
                  <a:lnTo>
                    <a:pt x="46452" y="76633"/>
                  </a:lnTo>
                  <a:lnTo>
                    <a:pt x="21491" y="114622"/>
                  </a:lnTo>
                  <a:lnTo>
                    <a:pt x="5584" y="157686"/>
                  </a:lnTo>
                  <a:lnTo>
                    <a:pt x="0" y="204597"/>
                  </a:lnTo>
                  <a:lnTo>
                    <a:pt x="5584" y="251507"/>
                  </a:lnTo>
                  <a:lnTo>
                    <a:pt x="21491" y="294571"/>
                  </a:lnTo>
                  <a:lnTo>
                    <a:pt x="46452" y="332560"/>
                  </a:lnTo>
                  <a:lnTo>
                    <a:pt x="79198" y="364245"/>
                  </a:lnTo>
                  <a:lnTo>
                    <a:pt x="118459" y="388397"/>
                  </a:lnTo>
                  <a:lnTo>
                    <a:pt x="162968" y="403790"/>
                  </a:lnTo>
                  <a:lnTo>
                    <a:pt x="211454" y="409194"/>
                  </a:lnTo>
                  <a:lnTo>
                    <a:pt x="259941" y="403790"/>
                  </a:lnTo>
                  <a:lnTo>
                    <a:pt x="304450" y="388397"/>
                  </a:lnTo>
                  <a:lnTo>
                    <a:pt x="343711" y="364245"/>
                  </a:lnTo>
                  <a:lnTo>
                    <a:pt x="376457" y="332560"/>
                  </a:lnTo>
                  <a:lnTo>
                    <a:pt x="401418" y="294571"/>
                  </a:lnTo>
                  <a:lnTo>
                    <a:pt x="417325" y="251507"/>
                  </a:lnTo>
                  <a:lnTo>
                    <a:pt x="422909" y="204597"/>
                  </a:lnTo>
                  <a:lnTo>
                    <a:pt x="417325" y="157686"/>
                  </a:lnTo>
                  <a:lnTo>
                    <a:pt x="401418" y="114622"/>
                  </a:lnTo>
                  <a:lnTo>
                    <a:pt x="376457" y="76633"/>
                  </a:lnTo>
                  <a:lnTo>
                    <a:pt x="343711" y="44948"/>
                  </a:lnTo>
                  <a:lnTo>
                    <a:pt x="304450" y="20796"/>
                  </a:lnTo>
                  <a:lnTo>
                    <a:pt x="259941" y="5403"/>
                  </a:lnTo>
                  <a:lnTo>
                    <a:pt x="211454" y="0"/>
                  </a:lnTo>
                  <a:close/>
                </a:path>
              </a:pathLst>
            </a:custGeom>
            <a:solidFill>
              <a:srgbClr val="66CD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 name="object 27">
            <a:extLst>
              <a:ext uri="{FF2B5EF4-FFF2-40B4-BE49-F238E27FC236}">
                <a16:creationId xmlns:a16="http://schemas.microsoft.com/office/drawing/2014/main" id="{A05E3B5A-42D5-4FF9-8806-3486F7612B17}"/>
              </a:ext>
            </a:extLst>
          </p:cNvPr>
          <p:cNvSpPr txBox="1"/>
          <p:nvPr/>
        </p:nvSpPr>
        <p:spPr>
          <a:xfrm>
            <a:off x="4390287" y="1573507"/>
            <a:ext cx="137795" cy="267970"/>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1600" b="1" i="0" u="none" strike="noStrike" kern="1200" cap="none" spc="-10" normalizeH="0" baseline="0" noProof="0" dirty="0">
                <a:ln>
                  <a:noFill/>
                </a:ln>
                <a:solidFill>
                  <a:srgbClr val="FFFFFF"/>
                </a:solidFill>
                <a:effectLst/>
                <a:uLnTx/>
                <a:uFillTx/>
                <a:latin typeface="Arial"/>
                <a:ea typeface="+mn-ea"/>
                <a:cs typeface="Arial"/>
              </a:rPr>
              <a:t>3</a:t>
            </a:r>
            <a:endParaRPr kumimoji="0" sz="1600" b="0" i="0" u="none" strike="noStrike" kern="1200" cap="none" spc="0" normalizeH="0" baseline="0" noProof="0" dirty="0">
              <a:ln>
                <a:noFill/>
              </a:ln>
              <a:solidFill>
                <a:prstClr val="black"/>
              </a:solidFill>
              <a:effectLst/>
              <a:uLnTx/>
              <a:uFillTx/>
              <a:latin typeface="Arial"/>
              <a:ea typeface="+mn-ea"/>
              <a:cs typeface="Arial"/>
            </a:endParaRPr>
          </a:p>
        </p:txBody>
      </p:sp>
      <p:sp>
        <p:nvSpPr>
          <p:cNvPr id="30" name="object 35">
            <a:extLst>
              <a:ext uri="{FF2B5EF4-FFF2-40B4-BE49-F238E27FC236}">
                <a16:creationId xmlns:a16="http://schemas.microsoft.com/office/drawing/2014/main" id="{7BE7992F-1759-A89D-3174-BE6B64B2D1FA}"/>
              </a:ext>
            </a:extLst>
          </p:cNvPr>
          <p:cNvSpPr txBox="1"/>
          <p:nvPr/>
        </p:nvSpPr>
        <p:spPr>
          <a:xfrm>
            <a:off x="1990828" y="4483909"/>
            <a:ext cx="2133960" cy="836126"/>
          </a:xfrm>
          <a:prstGeom prst="rect">
            <a:avLst/>
          </a:prstGeom>
        </p:spPr>
        <p:txBody>
          <a:bodyPr vert="horz" wrap="square" lIns="0" tIns="40640" rIns="0" bIns="0" rtlCol="0">
            <a:spAutoFit/>
          </a:bodyPr>
          <a:lstStyle/>
          <a:p>
            <a:pPr marL="12700" marR="0" lvl="0" indent="0" algn="l" defTabSz="914400" rtl="0" eaLnBrk="1" fontAlgn="auto" latinLnBrk="0" hangingPunct="1">
              <a:lnSpc>
                <a:spcPct val="100000"/>
              </a:lnSpc>
              <a:spcBef>
                <a:spcPts val="320"/>
              </a:spcBef>
              <a:spcAft>
                <a:spcPts val="0"/>
              </a:spcAft>
              <a:buClrTx/>
              <a:buSzTx/>
              <a:buFontTx/>
              <a:buNone/>
              <a:tabLst/>
              <a:defRPr/>
            </a:pPr>
            <a:endParaRPr kumimoji="0" b="0" i="0" u="none" strike="noStrike" kern="1200" cap="none" spc="0" normalizeH="0" baseline="0" noProof="0" dirty="0">
              <a:ln>
                <a:noFill/>
              </a:ln>
              <a:solidFill>
                <a:schemeClr val="bg1"/>
              </a:solidFill>
              <a:effectLst/>
              <a:uLnTx/>
              <a:uFillTx/>
              <a:latin typeface="Arial"/>
              <a:ea typeface="+mn-ea"/>
              <a:cs typeface="Arial"/>
            </a:endParaRPr>
          </a:p>
          <a:p>
            <a:pPr marL="575310" marR="0" lvl="0" indent="0" algn="l" defTabSz="914400" rtl="0" eaLnBrk="1" fontAlgn="auto" latinLnBrk="0" hangingPunct="1">
              <a:lnSpc>
                <a:spcPct val="100000"/>
              </a:lnSpc>
              <a:spcBef>
                <a:spcPts val="229"/>
              </a:spcBef>
              <a:spcAft>
                <a:spcPts val="0"/>
              </a:spcAft>
              <a:buClrTx/>
              <a:buSzTx/>
              <a:buFontTx/>
              <a:buNone/>
              <a:tabLst/>
              <a:defRPr/>
            </a:pPr>
            <a:r>
              <a:rPr kumimoji="0" lang="en-GB" sz="1600" b="1" i="1" u="none" strike="noStrike" kern="1200" cap="none" spc="-95" normalizeH="0" baseline="0" noProof="0" dirty="0">
                <a:ln>
                  <a:noFill/>
                </a:ln>
                <a:solidFill>
                  <a:schemeClr val="bg1"/>
                </a:solidFill>
                <a:effectLst/>
                <a:uLnTx/>
                <a:uFillTx/>
                <a:latin typeface="Arial"/>
                <a:ea typeface="+mn-ea"/>
                <a:cs typeface="Arial"/>
              </a:rPr>
              <a:t>Background and context</a:t>
            </a:r>
            <a:endParaRPr kumimoji="0" sz="1600" b="0" i="0" u="none" strike="noStrike" kern="1200" cap="none" spc="0" normalizeH="0" baseline="0" noProof="0" dirty="0">
              <a:ln>
                <a:noFill/>
              </a:ln>
              <a:solidFill>
                <a:schemeClr val="bg1"/>
              </a:solidFill>
              <a:effectLst/>
              <a:uLnTx/>
              <a:uFillTx/>
              <a:latin typeface="Arial"/>
              <a:ea typeface="+mn-ea"/>
              <a:cs typeface="Arial"/>
            </a:endParaRPr>
          </a:p>
        </p:txBody>
      </p:sp>
      <p:sp>
        <p:nvSpPr>
          <p:cNvPr id="31" name="object 36">
            <a:extLst>
              <a:ext uri="{FF2B5EF4-FFF2-40B4-BE49-F238E27FC236}">
                <a16:creationId xmlns:a16="http://schemas.microsoft.com/office/drawing/2014/main" id="{92D5433B-4BF5-47ED-5E3C-EFB09F1A5C76}"/>
              </a:ext>
            </a:extLst>
          </p:cNvPr>
          <p:cNvSpPr txBox="1"/>
          <p:nvPr/>
        </p:nvSpPr>
        <p:spPr>
          <a:xfrm>
            <a:off x="4632846" y="1857928"/>
            <a:ext cx="1636994" cy="261610"/>
          </a:xfrm>
          <a:prstGeom prst="rect">
            <a:avLst/>
          </a:prstGeom>
        </p:spPr>
        <p:txBody>
          <a:bodyPr vert="horz" wrap="square" lIns="0" tIns="15240" rIns="0" bIns="0" rtlCol="0">
            <a:spAutoFit/>
          </a:bodyPr>
          <a:lstStyle/>
          <a:p>
            <a:pPr marL="12700" marR="0" lvl="0" indent="0" algn="ctr" defTabSz="914400" rtl="0" eaLnBrk="1" fontAlgn="auto" latinLnBrk="0" hangingPunct="1">
              <a:lnSpc>
                <a:spcPct val="100000"/>
              </a:lnSpc>
              <a:spcBef>
                <a:spcPts val="120"/>
              </a:spcBef>
              <a:spcAft>
                <a:spcPts val="0"/>
              </a:spcAft>
              <a:buClrTx/>
              <a:buSzTx/>
              <a:buFontTx/>
              <a:buNone/>
              <a:tabLst/>
              <a:defRPr/>
            </a:pPr>
            <a:r>
              <a:rPr kumimoji="0" lang="en-GB" sz="1600" b="1" i="1" u="none" strike="noStrike" kern="1200" cap="none" spc="-85" normalizeH="0" baseline="0" noProof="0" dirty="0">
                <a:ln>
                  <a:noFill/>
                </a:ln>
                <a:solidFill>
                  <a:schemeClr val="bg1"/>
                </a:solidFill>
                <a:effectLst/>
                <a:uLnTx/>
                <a:uFillTx/>
                <a:latin typeface="Arial"/>
                <a:ea typeface="+mn-ea"/>
                <a:cs typeface="Arial"/>
              </a:rPr>
              <a:t>Aim &amp; Methods</a:t>
            </a:r>
            <a:endParaRPr kumimoji="0" sz="1600" b="0" i="0" u="none" strike="noStrike" kern="1200" cap="none" spc="0" normalizeH="0" baseline="0" noProof="0" dirty="0">
              <a:ln>
                <a:noFill/>
              </a:ln>
              <a:solidFill>
                <a:schemeClr val="bg1"/>
              </a:solidFill>
              <a:effectLst/>
              <a:uLnTx/>
              <a:uFillTx/>
              <a:latin typeface="Arial"/>
              <a:ea typeface="+mn-ea"/>
              <a:cs typeface="Arial"/>
            </a:endParaRPr>
          </a:p>
        </p:txBody>
      </p:sp>
      <p:sp>
        <p:nvSpPr>
          <p:cNvPr id="32" name="object 33">
            <a:extLst>
              <a:ext uri="{FF2B5EF4-FFF2-40B4-BE49-F238E27FC236}">
                <a16:creationId xmlns:a16="http://schemas.microsoft.com/office/drawing/2014/main" id="{EB94D23E-7BA4-D258-0A82-D7F9247E6DBA}"/>
              </a:ext>
            </a:extLst>
          </p:cNvPr>
          <p:cNvSpPr txBox="1"/>
          <p:nvPr/>
        </p:nvSpPr>
        <p:spPr>
          <a:xfrm>
            <a:off x="9311496" y="1951094"/>
            <a:ext cx="137795" cy="267970"/>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1600" b="1" i="0" u="none" strike="noStrike" kern="1200" cap="none" spc="-10" normalizeH="0" baseline="0" noProof="0" dirty="0">
                <a:ln>
                  <a:noFill/>
                </a:ln>
                <a:solidFill>
                  <a:srgbClr val="FFFFFF"/>
                </a:solidFill>
                <a:effectLst/>
                <a:uLnTx/>
                <a:uFillTx/>
                <a:latin typeface="Arial"/>
                <a:ea typeface="+mn-ea"/>
                <a:cs typeface="Arial"/>
              </a:rPr>
              <a:t>5</a:t>
            </a:r>
            <a:endParaRPr kumimoji="0" sz="1600" b="0" i="0" u="none" strike="noStrike" kern="1200" cap="none" spc="0" normalizeH="0" baseline="0" noProof="0" dirty="0">
              <a:ln>
                <a:noFill/>
              </a:ln>
              <a:solidFill>
                <a:prstClr val="black"/>
              </a:solidFill>
              <a:effectLst/>
              <a:uLnTx/>
              <a:uFillTx/>
              <a:latin typeface="Arial"/>
              <a:ea typeface="+mn-ea"/>
              <a:cs typeface="Arial"/>
            </a:endParaRPr>
          </a:p>
        </p:txBody>
      </p:sp>
      <p:sp>
        <p:nvSpPr>
          <p:cNvPr id="33" name="object 34">
            <a:extLst>
              <a:ext uri="{FF2B5EF4-FFF2-40B4-BE49-F238E27FC236}">
                <a16:creationId xmlns:a16="http://schemas.microsoft.com/office/drawing/2014/main" id="{F4A481A7-F4C1-C119-0FD2-CB4E9CED4F75}"/>
              </a:ext>
            </a:extLst>
          </p:cNvPr>
          <p:cNvSpPr txBox="1"/>
          <p:nvPr/>
        </p:nvSpPr>
        <p:spPr>
          <a:xfrm>
            <a:off x="436671" y="2679766"/>
            <a:ext cx="1859478" cy="588623"/>
          </a:xfrm>
          <a:prstGeom prst="rect">
            <a:avLst/>
          </a:prstGeom>
        </p:spPr>
        <p:txBody>
          <a:bodyPr vert="horz" wrap="square" lIns="0" tIns="39370" rIns="0" bIns="0" rtlCol="0">
            <a:sp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kumimoji="0" b="1" i="0" u="none" strike="noStrike" kern="1200" cap="none" spc="-10" normalizeH="0" baseline="0" noProof="0" dirty="0">
                <a:ln>
                  <a:noFill/>
                </a:ln>
                <a:solidFill>
                  <a:schemeClr val="bg1"/>
                </a:solidFill>
                <a:effectLst/>
                <a:uLnTx/>
                <a:uFillTx/>
                <a:latin typeface="Arial"/>
                <a:ea typeface="+mn-ea"/>
                <a:cs typeface="Arial"/>
              </a:rPr>
              <a:t>1</a:t>
            </a:r>
            <a:endParaRPr kumimoji="0" b="0" i="0" u="none" strike="noStrike" kern="1200" cap="none" spc="0" normalizeH="0" baseline="0" noProof="0" dirty="0">
              <a:ln>
                <a:noFill/>
              </a:ln>
              <a:solidFill>
                <a:schemeClr val="bg1"/>
              </a:solidFill>
              <a:effectLst/>
              <a:uLnTx/>
              <a:uFillTx/>
              <a:latin typeface="Arial"/>
              <a:ea typeface="+mn-ea"/>
              <a:cs typeface="Arial"/>
            </a:endParaRPr>
          </a:p>
          <a:p>
            <a:pPr marL="621665" marR="0" lvl="0" indent="0" algn="l" defTabSz="914400" rtl="0" eaLnBrk="1" fontAlgn="auto" latinLnBrk="0" hangingPunct="1">
              <a:lnSpc>
                <a:spcPct val="100000"/>
              </a:lnSpc>
              <a:spcBef>
                <a:spcPts val="229"/>
              </a:spcBef>
              <a:spcAft>
                <a:spcPts val="0"/>
              </a:spcAft>
              <a:buClrTx/>
              <a:buSzTx/>
              <a:buFontTx/>
              <a:buNone/>
              <a:tabLst/>
              <a:defRPr/>
            </a:pPr>
            <a:r>
              <a:rPr kumimoji="0" lang="en-GB" sz="1600" b="1" i="1" u="none" strike="noStrike" kern="1200" cap="none" spc="-100" normalizeH="0" baseline="0" noProof="0" dirty="0">
                <a:ln>
                  <a:noFill/>
                </a:ln>
                <a:solidFill>
                  <a:schemeClr val="bg1"/>
                </a:solidFill>
                <a:effectLst/>
                <a:uLnTx/>
                <a:uFillTx/>
                <a:latin typeface="Arial"/>
                <a:ea typeface="+mn-ea"/>
                <a:cs typeface="Arial"/>
              </a:rPr>
              <a:t>Introduction</a:t>
            </a:r>
            <a:endParaRPr kumimoji="0" sz="1600" b="0" i="0" u="none" strike="noStrike" kern="1200" cap="none" spc="0" normalizeH="0" baseline="0" noProof="0" dirty="0">
              <a:ln>
                <a:noFill/>
              </a:ln>
              <a:solidFill>
                <a:schemeClr val="bg1"/>
              </a:solidFill>
              <a:effectLst/>
              <a:uLnTx/>
              <a:uFillTx/>
              <a:latin typeface="Arial"/>
              <a:ea typeface="+mn-ea"/>
              <a:cs typeface="Arial"/>
            </a:endParaRPr>
          </a:p>
        </p:txBody>
      </p:sp>
      <p:sp>
        <p:nvSpPr>
          <p:cNvPr id="34" name="object 37">
            <a:extLst>
              <a:ext uri="{FF2B5EF4-FFF2-40B4-BE49-F238E27FC236}">
                <a16:creationId xmlns:a16="http://schemas.microsoft.com/office/drawing/2014/main" id="{0196B08B-6975-1142-BF1A-DEB465B5942D}"/>
              </a:ext>
            </a:extLst>
          </p:cNvPr>
          <p:cNvSpPr txBox="1"/>
          <p:nvPr/>
        </p:nvSpPr>
        <p:spPr>
          <a:xfrm>
            <a:off x="9796270" y="2216128"/>
            <a:ext cx="1417320" cy="261610"/>
          </a:xfrm>
          <a:prstGeom prst="rect">
            <a:avLst/>
          </a:prstGeom>
        </p:spPr>
        <p:txBody>
          <a:bodyPr vert="horz" wrap="square" lIns="0" tIns="15240" rIns="0" bIns="0" rtlCol="0">
            <a:spAutoFit/>
          </a:bodyPr>
          <a:lstStyle/>
          <a:p>
            <a:pPr marL="12700" marR="0" lvl="0" indent="0" algn="l" defTabSz="914400" rtl="0" eaLnBrk="1" fontAlgn="auto" latinLnBrk="0" hangingPunct="1">
              <a:lnSpc>
                <a:spcPct val="100000"/>
              </a:lnSpc>
              <a:spcBef>
                <a:spcPts val="120"/>
              </a:spcBef>
              <a:spcAft>
                <a:spcPts val="0"/>
              </a:spcAft>
              <a:buClrTx/>
              <a:buSzTx/>
              <a:buFontTx/>
              <a:buNone/>
              <a:tabLst/>
              <a:defRPr/>
            </a:pPr>
            <a:r>
              <a:rPr kumimoji="0" lang="en-GB" sz="1600" b="1" i="1" u="none" strike="noStrike" kern="1200" cap="none" spc="-70" normalizeH="0" baseline="0" noProof="0" dirty="0">
                <a:ln>
                  <a:noFill/>
                </a:ln>
                <a:solidFill>
                  <a:schemeClr val="bg1"/>
                </a:solidFill>
                <a:effectLst/>
                <a:uLnTx/>
                <a:uFillTx/>
                <a:latin typeface="Arial"/>
                <a:ea typeface="+mn-ea"/>
                <a:cs typeface="Arial"/>
              </a:rPr>
              <a:t>Conclusion</a:t>
            </a:r>
            <a:endParaRPr kumimoji="0" sz="1600" b="0" i="0" u="none" strike="noStrike" kern="1200" cap="none" spc="0" normalizeH="0" baseline="0" noProof="0" dirty="0">
              <a:ln>
                <a:noFill/>
              </a:ln>
              <a:solidFill>
                <a:schemeClr val="bg1"/>
              </a:solidFill>
              <a:effectLst/>
              <a:uLnTx/>
              <a:uFillTx/>
              <a:latin typeface="Arial"/>
              <a:ea typeface="+mn-ea"/>
              <a:cs typeface="Arial"/>
            </a:endParaRPr>
          </a:p>
        </p:txBody>
      </p:sp>
      <p:sp>
        <p:nvSpPr>
          <p:cNvPr id="35" name="object 38">
            <a:extLst>
              <a:ext uri="{FF2B5EF4-FFF2-40B4-BE49-F238E27FC236}">
                <a16:creationId xmlns:a16="http://schemas.microsoft.com/office/drawing/2014/main" id="{9C075EA0-5941-7DA2-BC33-FA75F07FB661}"/>
              </a:ext>
            </a:extLst>
          </p:cNvPr>
          <p:cNvSpPr txBox="1"/>
          <p:nvPr/>
        </p:nvSpPr>
        <p:spPr>
          <a:xfrm>
            <a:off x="6428560" y="3840843"/>
            <a:ext cx="2324984" cy="296876"/>
          </a:xfrm>
          <a:prstGeom prst="rect">
            <a:avLst/>
          </a:prstGeom>
        </p:spPr>
        <p:txBody>
          <a:bodyPr vert="horz" wrap="square" lIns="0" tIns="50165" rIns="0" bIns="0" rtlCol="0">
            <a:spAutoFit/>
          </a:bodyPr>
          <a:lstStyle/>
          <a:p>
            <a:pPr marL="748665" marR="0" lvl="0" indent="0" algn="l" defTabSz="914400" rtl="0" eaLnBrk="1" fontAlgn="auto" latinLnBrk="0" hangingPunct="1">
              <a:lnSpc>
                <a:spcPct val="100000"/>
              </a:lnSpc>
              <a:spcBef>
                <a:spcPts val="310"/>
              </a:spcBef>
              <a:spcAft>
                <a:spcPts val="0"/>
              </a:spcAft>
              <a:buClrTx/>
              <a:buSzTx/>
              <a:buFontTx/>
              <a:buNone/>
              <a:tabLst/>
              <a:defRPr/>
            </a:pPr>
            <a:r>
              <a:rPr kumimoji="0" lang="en-GB" sz="1600" b="1" i="1" u="none" strike="noStrike" kern="1200" cap="none" spc="-90" normalizeH="0" baseline="0" noProof="0" dirty="0">
                <a:ln>
                  <a:noFill/>
                </a:ln>
                <a:solidFill>
                  <a:schemeClr val="bg1"/>
                </a:solidFill>
                <a:effectLst/>
                <a:uLnTx/>
                <a:uFillTx/>
                <a:latin typeface="Arial"/>
                <a:ea typeface="+mn-ea"/>
                <a:cs typeface="Arial"/>
              </a:rPr>
              <a:t>Results</a:t>
            </a:r>
            <a:endParaRPr kumimoji="0" sz="1600" b="0" i="0" u="none" strike="noStrike" kern="1200" cap="none" spc="0" normalizeH="0" baseline="0" noProof="0" dirty="0">
              <a:ln>
                <a:noFill/>
              </a:ln>
              <a:solidFill>
                <a:schemeClr val="bg1"/>
              </a:solidFill>
              <a:effectLst/>
              <a:uLnTx/>
              <a:uFillTx/>
              <a:latin typeface="Arial"/>
              <a:ea typeface="+mn-ea"/>
              <a:cs typeface="Arial"/>
            </a:endParaRPr>
          </a:p>
        </p:txBody>
      </p:sp>
      <p:sp>
        <p:nvSpPr>
          <p:cNvPr id="36" name="TextBox 35">
            <a:extLst>
              <a:ext uri="{FF2B5EF4-FFF2-40B4-BE49-F238E27FC236}">
                <a16:creationId xmlns:a16="http://schemas.microsoft.com/office/drawing/2014/main" id="{482ACD74-794C-9822-FB39-912D8D6F62FD}"/>
              </a:ext>
            </a:extLst>
          </p:cNvPr>
          <p:cNvSpPr txBox="1"/>
          <p:nvPr/>
        </p:nvSpPr>
        <p:spPr>
          <a:xfrm>
            <a:off x="6357598" y="3595626"/>
            <a:ext cx="30331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4</a:t>
            </a:r>
          </a:p>
        </p:txBody>
      </p:sp>
      <p:sp>
        <p:nvSpPr>
          <p:cNvPr id="37" name="TextBox 36">
            <a:extLst>
              <a:ext uri="{FF2B5EF4-FFF2-40B4-BE49-F238E27FC236}">
                <a16:creationId xmlns:a16="http://schemas.microsoft.com/office/drawing/2014/main" id="{88F1F726-A764-2400-2025-EF425EDBBD33}"/>
              </a:ext>
            </a:extLst>
          </p:cNvPr>
          <p:cNvSpPr txBox="1"/>
          <p:nvPr/>
        </p:nvSpPr>
        <p:spPr>
          <a:xfrm>
            <a:off x="2063092" y="4627424"/>
            <a:ext cx="30331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a:t>
            </a:r>
          </a:p>
        </p:txBody>
      </p:sp>
      <p:grpSp>
        <p:nvGrpSpPr>
          <p:cNvPr id="38" name="Group 37">
            <a:extLst>
              <a:ext uri="{FF2B5EF4-FFF2-40B4-BE49-F238E27FC236}">
                <a16:creationId xmlns:a16="http://schemas.microsoft.com/office/drawing/2014/main" id="{C415CC21-CD5B-AC11-DEF1-22050C74057E}"/>
              </a:ext>
            </a:extLst>
          </p:cNvPr>
          <p:cNvGrpSpPr/>
          <p:nvPr/>
        </p:nvGrpSpPr>
        <p:grpSpPr>
          <a:xfrm>
            <a:off x="0" y="2494311"/>
            <a:ext cx="12137390" cy="1831339"/>
            <a:chOff x="55168" y="2658592"/>
            <a:chExt cx="12137390" cy="1831339"/>
          </a:xfrm>
        </p:grpSpPr>
        <p:sp>
          <p:nvSpPr>
            <p:cNvPr id="41" name="object 6">
              <a:extLst>
                <a:ext uri="{FF2B5EF4-FFF2-40B4-BE49-F238E27FC236}">
                  <a16:creationId xmlns:a16="http://schemas.microsoft.com/office/drawing/2014/main" id="{59D89AAD-E1CE-0F80-40D3-0755A22BF856}"/>
                </a:ext>
              </a:extLst>
            </p:cNvPr>
            <p:cNvSpPr/>
            <p:nvPr/>
          </p:nvSpPr>
          <p:spPr>
            <a:xfrm>
              <a:off x="55168" y="2658592"/>
              <a:ext cx="12137390" cy="1831339"/>
            </a:xfrm>
            <a:custGeom>
              <a:avLst/>
              <a:gdLst/>
              <a:ahLst/>
              <a:cxnLst/>
              <a:rect l="l" t="t" r="r" b="b"/>
              <a:pathLst>
                <a:path w="12137390" h="1831339">
                  <a:moveTo>
                    <a:pt x="91109" y="1245501"/>
                  </a:moveTo>
                  <a:lnTo>
                    <a:pt x="70942" y="1205179"/>
                  </a:lnTo>
                  <a:lnTo>
                    <a:pt x="45986" y="1197444"/>
                  </a:lnTo>
                  <a:lnTo>
                    <a:pt x="28803" y="1200632"/>
                  </a:lnTo>
                  <a:lnTo>
                    <a:pt x="14097" y="1210043"/>
                  </a:lnTo>
                  <a:lnTo>
                    <a:pt x="3759" y="1224915"/>
                  </a:lnTo>
                  <a:lnTo>
                    <a:pt x="0" y="1242631"/>
                  </a:lnTo>
                  <a:lnTo>
                    <a:pt x="3200" y="1259814"/>
                  </a:lnTo>
                  <a:lnTo>
                    <a:pt x="12611" y="1274521"/>
                  </a:lnTo>
                  <a:lnTo>
                    <a:pt x="27482" y="1284859"/>
                  </a:lnTo>
                  <a:lnTo>
                    <a:pt x="45212" y="1288630"/>
                  </a:lnTo>
                  <a:lnTo>
                    <a:pt x="62395" y="1285443"/>
                  </a:lnTo>
                  <a:lnTo>
                    <a:pt x="77114" y="1276045"/>
                  </a:lnTo>
                  <a:lnTo>
                    <a:pt x="87439" y="1261173"/>
                  </a:lnTo>
                  <a:lnTo>
                    <a:pt x="91109" y="1245501"/>
                  </a:lnTo>
                  <a:close/>
                </a:path>
                <a:path w="12137390" h="1831339">
                  <a:moveTo>
                    <a:pt x="348805" y="1349146"/>
                  </a:moveTo>
                  <a:lnTo>
                    <a:pt x="328612" y="1310284"/>
                  </a:lnTo>
                  <a:lnTo>
                    <a:pt x="301675" y="1302639"/>
                  </a:lnTo>
                  <a:lnTo>
                    <a:pt x="284695" y="1306576"/>
                  </a:lnTo>
                  <a:lnTo>
                    <a:pt x="270383" y="1316609"/>
                  </a:lnTo>
                  <a:lnTo>
                    <a:pt x="260629" y="1331887"/>
                  </a:lnTo>
                  <a:lnTo>
                    <a:pt x="257644" y="1349781"/>
                  </a:lnTo>
                  <a:lnTo>
                    <a:pt x="261594" y="1366799"/>
                  </a:lnTo>
                  <a:lnTo>
                    <a:pt x="271627" y="1381061"/>
                  </a:lnTo>
                  <a:lnTo>
                    <a:pt x="286880" y="1390688"/>
                  </a:lnTo>
                  <a:lnTo>
                    <a:pt x="304749" y="1393774"/>
                  </a:lnTo>
                  <a:lnTo>
                    <a:pt x="321805" y="1389900"/>
                  </a:lnTo>
                  <a:lnTo>
                    <a:pt x="336130" y="1379880"/>
                  </a:lnTo>
                  <a:lnTo>
                    <a:pt x="345833" y="1364564"/>
                  </a:lnTo>
                  <a:lnTo>
                    <a:pt x="348805" y="1349146"/>
                  </a:lnTo>
                  <a:close/>
                </a:path>
                <a:path w="12137390" h="1831339">
                  <a:moveTo>
                    <a:pt x="876998" y="1521917"/>
                  </a:moveTo>
                  <a:lnTo>
                    <a:pt x="856869" y="1486154"/>
                  </a:lnTo>
                  <a:lnTo>
                    <a:pt x="825817" y="1478864"/>
                  </a:lnTo>
                  <a:lnTo>
                    <a:pt x="809218" y="1484337"/>
                  </a:lnTo>
                  <a:lnTo>
                    <a:pt x="795858" y="1495640"/>
                  </a:lnTo>
                  <a:lnTo>
                    <a:pt x="787552" y="1511693"/>
                  </a:lnTo>
                  <a:lnTo>
                    <a:pt x="786218" y="1529727"/>
                  </a:lnTo>
                  <a:lnTo>
                    <a:pt x="791705" y="1546326"/>
                  </a:lnTo>
                  <a:lnTo>
                    <a:pt x="802982" y="1559648"/>
                  </a:lnTo>
                  <a:lnTo>
                    <a:pt x="819073" y="1567878"/>
                  </a:lnTo>
                  <a:lnTo>
                    <a:pt x="837082" y="1569313"/>
                  </a:lnTo>
                  <a:lnTo>
                    <a:pt x="853706" y="1563916"/>
                  </a:lnTo>
                  <a:lnTo>
                    <a:pt x="867092" y="1552638"/>
                  </a:lnTo>
                  <a:lnTo>
                    <a:pt x="875398" y="1536496"/>
                  </a:lnTo>
                  <a:lnTo>
                    <a:pt x="876998" y="1521917"/>
                  </a:lnTo>
                  <a:close/>
                </a:path>
                <a:path w="12137390" h="1831339">
                  <a:moveTo>
                    <a:pt x="1146340" y="1589849"/>
                  </a:moveTo>
                  <a:lnTo>
                    <a:pt x="1126274" y="1555699"/>
                  </a:lnTo>
                  <a:lnTo>
                    <a:pt x="1111173" y="1549095"/>
                  </a:lnTo>
                  <a:lnTo>
                    <a:pt x="1111326" y="1549196"/>
                  </a:lnTo>
                  <a:lnTo>
                    <a:pt x="1093139" y="1548650"/>
                  </a:lnTo>
                  <a:lnTo>
                    <a:pt x="1076756" y="1554899"/>
                  </a:lnTo>
                  <a:lnTo>
                    <a:pt x="1063942" y="1566837"/>
                  </a:lnTo>
                  <a:lnTo>
                    <a:pt x="1056462" y="1583309"/>
                  </a:lnTo>
                  <a:lnTo>
                    <a:pt x="1055954" y="1601393"/>
                  </a:lnTo>
                  <a:lnTo>
                    <a:pt x="1062202" y="1617687"/>
                  </a:lnTo>
                  <a:lnTo>
                    <a:pt x="1074089" y="1630451"/>
                  </a:lnTo>
                  <a:lnTo>
                    <a:pt x="1090561" y="1637931"/>
                  </a:lnTo>
                  <a:lnTo>
                    <a:pt x="1108659" y="1638452"/>
                  </a:lnTo>
                  <a:lnTo>
                    <a:pt x="1125016" y="1632254"/>
                  </a:lnTo>
                  <a:lnTo>
                    <a:pt x="1137831" y="1620405"/>
                  </a:lnTo>
                  <a:lnTo>
                    <a:pt x="1145324" y="1603959"/>
                  </a:lnTo>
                  <a:lnTo>
                    <a:pt x="1146340" y="1589849"/>
                  </a:lnTo>
                  <a:close/>
                </a:path>
                <a:path w="12137390" h="1831339">
                  <a:moveTo>
                    <a:pt x="1418615" y="1644281"/>
                  </a:moveTo>
                  <a:lnTo>
                    <a:pt x="1393685" y="1608556"/>
                  </a:lnTo>
                  <a:lnTo>
                    <a:pt x="1381404" y="1604937"/>
                  </a:lnTo>
                  <a:lnTo>
                    <a:pt x="1363357" y="1605330"/>
                  </a:lnTo>
                  <a:lnTo>
                    <a:pt x="1347368" y="1612392"/>
                  </a:lnTo>
                  <a:lnTo>
                    <a:pt x="1335176" y="1624914"/>
                  </a:lnTo>
                  <a:lnTo>
                    <a:pt x="1328508" y="1641690"/>
                  </a:lnTo>
                  <a:lnTo>
                    <a:pt x="1328940" y="1659839"/>
                  </a:lnTo>
                  <a:lnTo>
                    <a:pt x="1336014" y="1675815"/>
                  </a:lnTo>
                  <a:lnTo>
                    <a:pt x="1348524" y="1687957"/>
                  </a:lnTo>
                  <a:lnTo>
                    <a:pt x="1365300" y="1694586"/>
                  </a:lnTo>
                  <a:lnTo>
                    <a:pt x="1383436" y="1694243"/>
                  </a:lnTo>
                  <a:lnTo>
                    <a:pt x="1399451" y="1687207"/>
                  </a:lnTo>
                  <a:lnTo>
                    <a:pt x="1411617" y="1674672"/>
                  </a:lnTo>
                  <a:lnTo>
                    <a:pt x="1418196" y="1657845"/>
                  </a:lnTo>
                  <a:lnTo>
                    <a:pt x="1418615" y="1644281"/>
                  </a:lnTo>
                  <a:close/>
                </a:path>
                <a:path w="12137390" h="1831339">
                  <a:moveTo>
                    <a:pt x="1693710" y="1697266"/>
                  </a:moveTo>
                  <a:lnTo>
                    <a:pt x="1673809" y="1653895"/>
                  </a:lnTo>
                  <a:lnTo>
                    <a:pt x="1653946" y="1646529"/>
                  </a:lnTo>
                  <a:lnTo>
                    <a:pt x="1654048" y="1646377"/>
                  </a:lnTo>
                  <a:lnTo>
                    <a:pt x="1653755" y="1646402"/>
                  </a:lnTo>
                  <a:lnTo>
                    <a:pt x="1635975" y="1647837"/>
                  </a:lnTo>
                  <a:lnTo>
                    <a:pt x="1620380" y="1655749"/>
                  </a:lnTo>
                  <a:lnTo>
                    <a:pt x="1608899" y="1668894"/>
                  </a:lnTo>
                  <a:lnTo>
                    <a:pt x="1603171" y="1686013"/>
                  </a:lnTo>
                  <a:lnTo>
                    <a:pt x="1604594" y="1704149"/>
                  </a:lnTo>
                  <a:lnTo>
                    <a:pt x="1612531" y="1719745"/>
                  </a:lnTo>
                  <a:lnTo>
                    <a:pt x="1625701" y="1731187"/>
                  </a:lnTo>
                  <a:lnTo>
                    <a:pt x="1642833" y="1736902"/>
                  </a:lnTo>
                  <a:lnTo>
                    <a:pt x="1660855" y="1735531"/>
                  </a:lnTo>
                  <a:lnTo>
                    <a:pt x="1676438" y="1727644"/>
                  </a:lnTo>
                  <a:lnTo>
                    <a:pt x="1687931" y="1714461"/>
                  </a:lnTo>
                  <a:lnTo>
                    <a:pt x="1693710" y="1697266"/>
                  </a:lnTo>
                  <a:close/>
                </a:path>
                <a:path w="12137390" h="1831339">
                  <a:moveTo>
                    <a:pt x="1970824" y="1720875"/>
                  </a:moveTo>
                  <a:lnTo>
                    <a:pt x="1950758" y="1680032"/>
                  </a:lnTo>
                  <a:lnTo>
                    <a:pt x="1928380" y="1672501"/>
                  </a:lnTo>
                  <a:lnTo>
                    <a:pt x="1910422" y="1674888"/>
                  </a:lnTo>
                  <a:lnTo>
                    <a:pt x="1895348" y="1683702"/>
                  </a:lnTo>
                  <a:lnTo>
                    <a:pt x="1884667" y="1697570"/>
                  </a:lnTo>
                  <a:lnTo>
                    <a:pt x="1879917" y="1715084"/>
                  </a:lnTo>
                  <a:lnTo>
                    <a:pt x="1882355" y="1732965"/>
                  </a:lnTo>
                  <a:lnTo>
                    <a:pt x="1891157" y="1748040"/>
                  </a:lnTo>
                  <a:lnTo>
                    <a:pt x="1904961" y="1758721"/>
                  </a:lnTo>
                  <a:lnTo>
                    <a:pt x="1922373" y="1763445"/>
                  </a:lnTo>
                  <a:lnTo>
                    <a:pt x="1940407" y="1760982"/>
                  </a:lnTo>
                  <a:lnTo>
                    <a:pt x="1955533" y="1752168"/>
                  </a:lnTo>
                  <a:lnTo>
                    <a:pt x="1966201" y="1738337"/>
                  </a:lnTo>
                  <a:lnTo>
                    <a:pt x="1970824" y="1720875"/>
                  </a:lnTo>
                  <a:close/>
                </a:path>
                <a:path w="12137390" h="1831339">
                  <a:moveTo>
                    <a:pt x="2248928" y="1726933"/>
                  </a:moveTo>
                  <a:lnTo>
                    <a:pt x="2228659" y="1689023"/>
                  </a:lnTo>
                  <a:lnTo>
                    <a:pt x="2203234" y="1681441"/>
                  </a:lnTo>
                  <a:lnTo>
                    <a:pt x="2185593" y="1685010"/>
                  </a:lnTo>
                  <a:lnTo>
                    <a:pt x="2171141" y="1694776"/>
                  </a:lnTo>
                  <a:lnTo>
                    <a:pt x="2161336" y="1709496"/>
                  </a:lnTo>
                  <a:lnTo>
                    <a:pt x="2157857" y="1726958"/>
                  </a:lnTo>
                  <a:lnTo>
                    <a:pt x="2161438" y="1744726"/>
                  </a:lnTo>
                  <a:lnTo>
                    <a:pt x="2171204" y="1759229"/>
                  </a:lnTo>
                  <a:lnTo>
                    <a:pt x="2185682" y="1769008"/>
                  </a:lnTo>
                  <a:lnTo>
                    <a:pt x="2203450" y="1772589"/>
                  </a:lnTo>
                  <a:lnTo>
                    <a:pt x="2221204" y="1769008"/>
                  </a:lnTo>
                  <a:lnTo>
                    <a:pt x="2235657" y="1759229"/>
                  </a:lnTo>
                  <a:lnTo>
                    <a:pt x="2245423" y="1744484"/>
                  </a:lnTo>
                  <a:lnTo>
                    <a:pt x="2248928" y="1726933"/>
                  </a:lnTo>
                  <a:close/>
                </a:path>
                <a:path w="12137390" h="1831339">
                  <a:moveTo>
                    <a:pt x="2802585" y="1678597"/>
                  </a:moveTo>
                  <a:lnTo>
                    <a:pt x="2775597" y="1643672"/>
                  </a:lnTo>
                  <a:lnTo>
                    <a:pt x="2759176" y="1639925"/>
                  </a:lnTo>
                  <a:lnTo>
                    <a:pt x="2750464" y="1640420"/>
                  </a:lnTo>
                  <a:lnTo>
                    <a:pt x="2733497" y="1646745"/>
                  </a:lnTo>
                  <a:lnTo>
                    <a:pt x="2720695" y="1658632"/>
                  </a:lnTo>
                  <a:lnTo>
                    <a:pt x="2713304" y="1674418"/>
                  </a:lnTo>
                  <a:lnTo>
                    <a:pt x="2712567" y="1692465"/>
                  </a:lnTo>
                  <a:lnTo>
                    <a:pt x="2718854" y="1709496"/>
                  </a:lnTo>
                  <a:lnTo>
                    <a:pt x="2730741" y="1722310"/>
                  </a:lnTo>
                  <a:lnTo>
                    <a:pt x="2746527" y="1729727"/>
                  </a:lnTo>
                  <a:lnTo>
                    <a:pt x="2764536" y="1730540"/>
                  </a:lnTo>
                  <a:lnTo>
                    <a:pt x="2781566" y="1724253"/>
                  </a:lnTo>
                  <a:lnTo>
                    <a:pt x="2794381" y="1712379"/>
                  </a:lnTo>
                  <a:lnTo>
                    <a:pt x="2801785" y="1696593"/>
                  </a:lnTo>
                  <a:lnTo>
                    <a:pt x="2802585" y="1678597"/>
                  </a:lnTo>
                  <a:close/>
                </a:path>
                <a:path w="12137390" h="1831339">
                  <a:moveTo>
                    <a:pt x="3074987" y="1637220"/>
                  </a:moveTo>
                  <a:lnTo>
                    <a:pt x="3061678" y="1597583"/>
                  </a:lnTo>
                  <a:lnTo>
                    <a:pt x="3028505" y="1584794"/>
                  </a:lnTo>
                  <a:lnTo>
                    <a:pt x="3018688" y="1586153"/>
                  </a:lnTo>
                  <a:lnTo>
                    <a:pt x="3002432" y="1593938"/>
                  </a:lnTo>
                  <a:lnTo>
                    <a:pt x="2990812" y="1606943"/>
                  </a:lnTo>
                  <a:lnTo>
                    <a:pt x="2984906" y="1623402"/>
                  </a:lnTo>
                  <a:lnTo>
                    <a:pt x="2985795" y="1641551"/>
                  </a:lnTo>
                  <a:lnTo>
                    <a:pt x="2993593" y="1657807"/>
                  </a:lnTo>
                  <a:lnTo>
                    <a:pt x="3006598" y="1669427"/>
                  </a:lnTo>
                  <a:lnTo>
                    <a:pt x="3023070" y="1675345"/>
                  </a:lnTo>
                  <a:lnTo>
                    <a:pt x="3041218" y="1674469"/>
                  </a:lnTo>
                  <a:lnTo>
                    <a:pt x="3057461" y="1666684"/>
                  </a:lnTo>
                  <a:lnTo>
                    <a:pt x="3069082" y="1653679"/>
                  </a:lnTo>
                  <a:lnTo>
                    <a:pt x="3074987" y="1637220"/>
                  </a:lnTo>
                  <a:close/>
                </a:path>
                <a:path w="12137390" h="1831339">
                  <a:moveTo>
                    <a:pt x="3341065" y="1550911"/>
                  </a:moveTo>
                  <a:lnTo>
                    <a:pt x="3326460" y="1515148"/>
                  </a:lnTo>
                  <a:lnTo>
                    <a:pt x="3290570" y="1503337"/>
                  </a:lnTo>
                  <a:lnTo>
                    <a:pt x="3279775" y="1505839"/>
                  </a:lnTo>
                  <a:lnTo>
                    <a:pt x="3264370" y="1515351"/>
                  </a:lnTo>
                  <a:lnTo>
                    <a:pt x="3254171" y="1529511"/>
                  </a:lnTo>
                  <a:lnTo>
                    <a:pt x="3250006" y="1546453"/>
                  </a:lnTo>
                  <a:lnTo>
                    <a:pt x="3252736" y="1564271"/>
                  </a:lnTo>
                  <a:lnTo>
                    <a:pt x="3262211" y="1579765"/>
                  </a:lnTo>
                  <a:lnTo>
                    <a:pt x="3276358" y="1590040"/>
                  </a:lnTo>
                  <a:lnTo>
                    <a:pt x="3293338" y="1594256"/>
                  </a:lnTo>
                  <a:lnTo>
                    <a:pt x="3311245" y="1591589"/>
                  </a:lnTo>
                  <a:lnTo>
                    <a:pt x="3326650" y="1582077"/>
                  </a:lnTo>
                  <a:lnTo>
                    <a:pt x="3336874" y="1567891"/>
                  </a:lnTo>
                  <a:lnTo>
                    <a:pt x="3341065" y="1550911"/>
                  </a:lnTo>
                  <a:close/>
                </a:path>
                <a:path w="12137390" h="1831339">
                  <a:moveTo>
                    <a:pt x="3595916" y="1435379"/>
                  </a:moveTo>
                  <a:lnTo>
                    <a:pt x="3575735" y="1400619"/>
                  </a:lnTo>
                  <a:lnTo>
                    <a:pt x="3553561" y="1392961"/>
                  </a:lnTo>
                  <a:lnTo>
                    <a:pt x="3541598" y="1393685"/>
                  </a:lnTo>
                  <a:lnTo>
                    <a:pt x="3529825" y="1397749"/>
                  </a:lnTo>
                  <a:lnTo>
                    <a:pt x="3515614" y="1408925"/>
                  </a:lnTo>
                  <a:lnTo>
                    <a:pt x="3507079" y="1424190"/>
                  </a:lnTo>
                  <a:lnTo>
                    <a:pt x="3504882" y="1441564"/>
                  </a:lnTo>
                  <a:lnTo>
                    <a:pt x="3509657" y="1459026"/>
                  </a:lnTo>
                  <a:lnTo>
                    <a:pt x="3520948" y="1473225"/>
                  </a:lnTo>
                  <a:lnTo>
                    <a:pt x="3536213" y="1481759"/>
                  </a:lnTo>
                  <a:lnTo>
                    <a:pt x="3553536" y="1483982"/>
                  </a:lnTo>
                  <a:lnTo>
                    <a:pt x="3570973" y="1479219"/>
                  </a:lnTo>
                  <a:lnTo>
                    <a:pt x="3571075" y="1479067"/>
                  </a:lnTo>
                  <a:lnTo>
                    <a:pt x="3585273" y="1467916"/>
                  </a:lnTo>
                  <a:lnTo>
                    <a:pt x="3593757" y="1452702"/>
                  </a:lnTo>
                  <a:lnTo>
                    <a:pt x="3595916" y="1435379"/>
                  </a:lnTo>
                  <a:close/>
                </a:path>
                <a:path w="12137390" h="1831339">
                  <a:moveTo>
                    <a:pt x="3834638" y="1306677"/>
                  </a:moveTo>
                  <a:lnTo>
                    <a:pt x="3824211" y="1267345"/>
                  </a:lnTo>
                  <a:lnTo>
                    <a:pt x="3790111" y="1252347"/>
                  </a:lnTo>
                  <a:lnTo>
                    <a:pt x="3776853" y="1254239"/>
                  </a:lnTo>
                  <a:lnTo>
                    <a:pt x="3764292" y="1260144"/>
                  </a:lnTo>
                  <a:lnTo>
                    <a:pt x="3764445" y="1260246"/>
                  </a:lnTo>
                  <a:lnTo>
                    <a:pt x="3751745" y="1273162"/>
                  </a:lnTo>
                  <a:lnTo>
                    <a:pt x="3745192" y="1289354"/>
                  </a:lnTo>
                  <a:lnTo>
                    <a:pt x="3745192" y="1306817"/>
                  </a:lnTo>
                  <a:lnTo>
                    <a:pt x="3752164" y="1323517"/>
                  </a:lnTo>
                  <a:lnTo>
                    <a:pt x="3765080" y="1336230"/>
                  </a:lnTo>
                  <a:lnTo>
                    <a:pt x="3781298" y="1342783"/>
                  </a:lnTo>
                  <a:lnTo>
                    <a:pt x="3798760" y="1342796"/>
                  </a:lnTo>
                  <a:lnTo>
                    <a:pt x="3815461" y="1335836"/>
                  </a:lnTo>
                  <a:lnTo>
                    <a:pt x="3828135" y="1322908"/>
                  </a:lnTo>
                  <a:lnTo>
                    <a:pt x="3834638" y="1306677"/>
                  </a:lnTo>
                  <a:close/>
                </a:path>
                <a:path w="12137390" h="1831339">
                  <a:moveTo>
                    <a:pt x="4482833" y="779360"/>
                  </a:moveTo>
                  <a:lnTo>
                    <a:pt x="4470857" y="741349"/>
                  </a:lnTo>
                  <a:lnTo>
                    <a:pt x="4436656" y="727544"/>
                  </a:lnTo>
                  <a:lnTo>
                    <a:pt x="4422889" y="729945"/>
                  </a:lnTo>
                  <a:lnTo>
                    <a:pt x="4410126" y="736688"/>
                  </a:lnTo>
                  <a:lnTo>
                    <a:pt x="4398175" y="750214"/>
                  </a:lnTo>
                  <a:lnTo>
                    <a:pt x="4392511" y="766749"/>
                  </a:lnTo>
                  <a:lnTo>
                    <a:pt x="4393425" y="784186"/>
                  </a:lnTo>
                  <a:lnTo>
                    <a:pt x="4401236" y="800468"/>
                  </a:lnTo>
                  <a:lnTo>
                    <a:pt x="4414850" y="812469"/>
                  </a:lnTo>
                  <a:lnTo>
                    <a:pt x="4431398" y="818146"/>
                  </a:lnTo>
                  <a:lnTo>
                    <a:pt x="4448848" y="817245"/>
                  </a:lnTo>
                  <a:lnTo>
                    <a:pt x="4465193" y="809485"/>
                  </a:lnTo>
                  <a:lnTo>
                    <a:pt x="4477182" y="795896"/>
                  </a:lnTo>
                  <a:lnTo>
                    <a:pt x="4482833" y="779360"/>
                  </a:lnTo>
                  <a:close/>
                </a:path>
                <a:path w="12137390" h="1831339">
                  <a:moveTo>
                    <a:pt x="4708690" y="619709"/>
                  </a:moveTo>
                  <a:lnTo>
                    <a:pt x="4698225" y="580593"/>
                  </a:lnTo>
                  <a:lnTo>
                    <a:pt x="4664138" y="565594"/>
                  </a:lnTo>
                  <a:lnTo>
                    <a:pt x="4650879" y="567474"/>
                  </a:lnTo>
                  <a:lnTo>
                    <a:pt x="4638319" y="573392"/>
                  </a:lnTo>
                  <a:lnTo>
                    <a:pt x="4625619" y="586295"/>
                  </a:lnTo>
                  <a:lnTo>
                    <a:pt x="4619053" y="602500"/>
                  </a:lnTo>
                  <a:lnTo>
                    <a:pt x="4619066" y="619963"/>
                  </a:lnTo>
                  <a:lnTo>
                    <a:pt x="4626038" y="636663"/>
                  </a:lnTo>
                  <a:lnTo>
                    <a:pt x="4638967" y="649351"/>
                  </a:lnTo>
                  <a:lnTo>
                    <a:pt x="4655210" y="655853"/>
                  </a:lnTo>
                  <a:lnTo>
                    <a:pt x="4672711" y="655802"/>
                  </a:lnTo>
                  <a:lnTo>
                    <a:pt x="4689424" y="648817"/>
                  </a:lnTo>
                  <a:lnTo>
                    <a:pt x="4702137" y="635914"/>
                  </a:lnTo>
                  <a:lnTo>
                    <a:pt x="4708690" y="619709"/>
                  </a:lnTo>
                  <a:close/>
                </a:path>
                <a:path w="12137390" h="1831339">
                  <a:moveTo>
                    <a:pt x="4944148" y="456336"/>
                  </a:moveTo>
                  <a:lnTo>
                    <a:pt x="4912957" y="418934"/>
                  </a:lnTo>
                  <a:lnTo>
                    <a:pt x="4900612" y="416750"/>
                  </a:lnTo>
                  <a:lnTo>
                    <a:pt x="4887988" y="418084"/>
                  </a:lnTo>
                  <a:lnTo>
                    <a:pt x="4875796" y="423113"/>
                  </a:lnTo>
                  <a:lnTo>
                    <a:pt x="4862322" y="435165"/>
                  </a:lnTo>
                  <a:lnTo>
                    <a:pt x="4854778" y="450938"/>
                  </a:lnTo>
                  <a:lnTo>
                    <a:pt x="4853711" y="468414"/>
                  </a:lnTo>
                  <a:lnTo>
                    <a:pt x="4859667" y="485571"/>
                  </a:lnTo>
                  <a:lnTo>
                    <a:pt x="4871745" y="499008"/>
                  </a:lnTo>
                  <a:lnTo>
                    <a:pt x="4887557" y="506526"/>
                  </a:lnTo>
                  <a:lnTo>
                    <a:pt x="4905032" y="507593"/>
                  </a:lnTo>
                  <a:lnTo>
                    <a:pt x="4922139" y="501713"/>
                  </a:lnTo>
                  <a:lnTo>
                    <a:pt x="4921986" y="501611"/>
                  </a:lnTo>
                  <a:lnTo>
                    <a:pt x="4935499" y="489496"/>
                  </a:lnTo>
                  <a:lnTo>
                    <a:pt x="4943056" y="473748"/>
                  </a:lnTo>
                  <a:lnTo>
                    <a:pt x="4944148" y="456336"/>
                  </a:lnTo>
                  <a:close/>
                </a:path>
                <a:path w="12137390" h="1831339">
                  <a:moveTo>
                    <a:pt x="5189055" y="327202"/>
                  </a:moveTo>
                  <a:lnTo>
                    <a:pt x="5168862" y="292049"/>
                  </a:lnTo>
                  <a:lnTo>
                    <a:pt x="5146903" y="284492"/>
                  </a:lnTo>
                  <a:lnTo>
                    <a:pt x="5135016" y="285127"/>
                  </a:lnTo>
                  <a:lnTo>
                    <a:pt x="5123307" y="288975"/>
                  </a:lnTo>
                  <a:lnTo>
                    <a:pt x="5109045" y="300101"/>
                  </a:lnTo>
                  <a:lnTo>
                    <a:pt x="5100421" y="315252"/>
                  </a:lnTo>
                  <a:lnTo>
                    <a:pt x="5098085" y="332511"/>
                  </a:lnTo>
                  <a:lnTo>
                    <a:pt x="5102682" y="349961"/>
                  </a:lnTo>
                  <a:lnTo>
                    <a:pt x="5113782" y="364312"/>
                  </a:lnTo>
                  <a:lnTo>
                    <a:pt x="5128971" y="373011"/>
                  </a:lnTo>
                  <a:lnTo>
                    <a:pt x="5146306" y="375361"/>
                  </a:lnTo>
                  <a:lnTo>
                    <a:pt x="5163832" y="370700"/>
                  </a:lnTo>
                  <a:lnTo>
                    <a:pt x="5178107" y="359689"/>
                  </a:lnTo>
                  <a:lnTo>
                    <a:pt x="5186731" y="344525"/>
                  </a:lnTo>
                  <a:lnTo>
                    <a:pt x="5189055" y="327202"/>
                  </a:lnTo>
                  <a:close/>
                </a:path>
                <a:path w="12137390" h="1831339">
                  <a:moveTo>
                    <a:pt x="5443448" y="218732"/>
                  </a:moveTo>
                  <a:lnTo>
                    <a:pt x="5423319" y="179666"/>
                  </a:lnTo>
                  <a:lnTo>
                    <a:pt x="5392305" y="172148"/>
                  </a:lnTo>
                  <a:lnTo>
                    <a:pt x="5381358" y="174840"/>
                  </a:lnTo>
                  <a:lnTo>
                    <a:pt x="5381256" y="174993"/>
                  </a:lnTo>
                  <a:lnTo>
                    <a:pt x="5366042" y="184746"/>
                  </a:lnTo>
                  <a:lnTo>
                    <a:pt x="5356110" y="199110"/>
                  </a:lnTo>
                  <a:lnTo>
                    <a:pt x="5352275" y="216166"/>
                  </a:lnTo>
                  <a:lnTo>
                    <a:pt x="5355374" y="233984"/>
                  </a:lnTo>
                  <a:lnTo>
                    <a:pt x="5365242" y="249250"/>
                  </a:lnTo>
                  <a:lnTo>
                    <a:pt x="5379631" y="259207"/>
                  </a:lnTo>
                  <a:lnTo>
                    <a:pt x="5396662" y="263029"/>
                  </a:lnTo>
                  <a:lnTo>
                    <a:pt x="5414403" y="259880"/>
                  </a:lnTo>
                  <a:lnTo>
                    <a:pt x="5429669" y="250075"/>
                  </a:lnTo>
                  <a:lnTo>
                    <a:pt x="5439638" y="235737"/>
                  </a:lnTo>
                  <a:lnTo>
                    <a:pt x="5443448" y="218732"/>
                  </a:lnTo>
                  <a:close/>
                </a:path>
                <a:path w="12137390" h="1831339">
                  <a:moveTo>
                    <a:pt x="5706884" y="135305"/>
                  </a:moveTo>
                  <a:lnTo>
                    <a:pt x="5693232" y="96443"/>
                  </a:lnTo>
                  <a:lnTo>
                    <a:pt x="5659513" y="83870"/>
                  </a:lnTo>
                  <a:lnTo>
                    <a:pt x="5649582" y="85483"/>
                  </a:lnTo>
                  <a:lnTo>
                    <a:pt x="5633402" y="93700"/>
                  </a:lnTo>
                  <a:lnTo>
                    <a:pt x="5622010" y="106972"/>
                  </a:lnTo>
                  <a:lnTo>
                    <a:pt x="5616435" y="123532"/>
                  </a:lnTo>
                  <a:lnTo>
                    <a:pt x="5617743" y="141592"/>
                  </a:lnTo>
                  <a:lnTo>
                    <a:pt x="5625973" y="157734"/>
                  </a:lnTo>
                  <a:lnTo>
                    <a:pt x="5639282" y="169075"/>
                  </a:lnTo>
                  <a:lnTo>
                    <a:pt x="5655843" y="174574"/>
                  </a:lnTo>
                  <a:lnTo>
                    <a:pt x="5673826" y="173189"/>
                  </a:lnTo>
                  <a:lnTo>
                    <a:pt x="5690006" y="165112"/>
                  </a:lnTo>
                  <a:lnTo>
                    <a:pt x="5701360" y="151879"/>
                  </a:lnTo>
                  <a:lnTo>
                    <a:pt x="5706884" y="135305"/>
                  </a:lnTo>
                  <a:close/>
                </a:path>
                <a:path w="12137390" h="1831339">
                  <a:moveTo>
                    <a:pt x="6255817" y="44475"/>
                  </a:moveTo>
                  <a:lnTo>
                    <a:pt x="6235649" y="7734"/>
                  </a:lnTo>
                  <a:lnTo>
                    <a:pt x="6209004" y="0"/>
                  </a:lnTo>
                  <a:lnTo>
                    <a:pt x="6191466" y="4013"/>
                  </a:lnTo>
                  <a:lnTo>
                    <a:pt x="6177280" y="14135"/>
                  </a:lnTo>
                  <a:lnTo>
                    <a:pt x="6167907" y="28867"/>
                  </a:lnTo>
                  <a:lnTo>
                    <a:pt x="6164796" y="46723"/>
                  </a:lnTo>
                  <a:lnTo>
                    <a:pt x="6168783" y="64363"/>
                  </a:lnTo>
                  <a:lnTo>
                    <a:pt x="6178918" y="78625"/>
                  </a:lnTo>
                  <a:lnTo>
                    <a:pt x="6193650" y="88023"/>
                  </a:lnTo>
                  <a:lnTo>
                    <a:pt x="6211455" y="91097"/>
                  </a:lnTo>
                  <a:lnTo>
                    <a:pt x="6229134" y="87071"/>
                  </a:lnTo>
                  <a:lnTo>
                    <a:pt x="6243383" y="76949"/>
                  </a:lnTo>
                  <a:lnTo>
                    <a:pt x="6252756" y="62255"/>
                  </a:lnTo>
                  <a:lnTo>
                    <a:pt x="6255817" y="44475"/>
                  </a:lnTo>
                  <a:close/>
                </a:path>
                <a:path w="12137390" h="1831339">
                  <a:moveTo>
                    <a:pt x="6533350" y="62217"/>
                  </a:moveTo>
                  <a:lnTo>
                    <a:pt x="6513284" y="19405"/>
                  </a:lnTo>
                  <a:lnTo>
                    <a:pt x="6493015" y="11988"/>
                  </a:lnTo>
                  <a:lnTo>
                    <a:pt x="6474942" y="13601"/>
                  </a:lnTo>
                  <a:lnTo>
                    <a:pt x="6459461" y="21717"/>
                  </a:lnTo>
                  <a:lnTo>
                    <a:pt x="6448171" y="35013"/>
                  </a:lnTo>
                  <a:lnTo>
                    <a:pt x="6442646" y="52184"/>
                  </a:lnTo>
                  <a:lnTo>
                    <a:pt x="6444272" y="70256"/>
                  </a:lnTo>
                  <a:lnTo>
                    <a:pt x="6452425" y="85725"/>
                  </a:lnTo>
                  <a:lnTo>
                    <a:pt x="6465811" y="97002"/>
                  </a:lnTo>
                  <a:lnTo>
                    <a:pt x="6483121" y="102514"/>
                  </a:lnTo>
                  <a:lnTo>
                    <a:pt x="6501079" y="100939"/>
                  </a:lnTo>
                  <a:lnTo>
                    <a:pt x="6516522" y="92849"/>
                  </a:lnTo>
                  <a:lnTo>
                    <a:pt x="6527825" y="79514"/>
                  </a:lnTo>
                  <a:lnTo>
                    <a:pt x="6533350" y="62217"/>
                  </a:lnTo>
                  <a:close/>
                </a:path>
                <a:path w="12137390" h="1831339">
                  <a:moveTo>
                    <a:pt x="6807060" y="102895"/>
                  </a:moveTo>
                  <a:lnTo>
                    <a:pt x="6786867" y="68287"/>
                  </a:lnTo>
                  <a:lnTo>
                    <a:pt x="6754444" y="61175"/>
                  </a:lnTo>
                  <a:lnTo>
                    <a:pt x="6738036" y="67157"/>
                  </a:lnTo>
                  <a:lnTo>
                    <a:pt x="6725056" y="78841"/>
                  </a:lnTo>
                  <a:lnTo>
                    <a:pt x="6717297" y="95199"/>
                  </a:lnTo>
                  <a:lnTo>
                    <a:pt x="6716547" y="113220"/>
                  </a:lnTo>
                  <a:lnTo>
                    <a:pt x="6722542" y="129616"/>
                  </a:lnTo>
                  <a:lnTo>
                    <a:pt x="6734238" y="142608"/>
                  </a:lnTo>
                  <a:lnTo>
                    <a:pt x="6750596" y="150368"/>
                  </a:lnTo>
                  <a:lnTo>
                    <a:pt x="6768681" y="151168"/>
                  </a:lnTo>
                  <a:lnTo>
                    <a:pt x="6785076" y="145186"/>
                  </a:lnTo>
                  <a:lnTo>
                    <a:pt x="6798030" y="133477"/>
                  </a:lnTo>
                  <a:lnTo>
                    <a:pt x="6805765" y="117106"/>
                  </a:lnTo>
                  <a:lnTo>
                    <a:pt x="6807060" y="102895"/>
                  </a:lnTo>
                  <a:close/>
                </a:path>
                <a:path w="12137390" h="1831339">
                  <a:moveTo>
                    <a:pt x="7072084" y="191300"/>
                  </a:moveTo>
                  <a:lnTo>
                    <a:pt x="7051954" y="152476"/>
                  </a:lnTo>
                  <a:lnTo>
                    <a:pt x="7025157" y="144716"/>
                  </a:lnTo>
                  <a:lnTo>
                    <a:pt x="7008114" y="148577"/>
                  </a:lnTo>
                  <a:lnTo>
                    <a:pt x="6993814" y="158546"/>
                  </a:lnTo>
                  <a:lnTo>
                    <a:pt x="6984174" y="173786"/>
                  </a:lnTo>
                  <a:lnTo>
                    <a:pt x="6981088" y="191630"/>
                  </a:lnTo>
                  <a:lnTo>
                    <a:pt x="6984949" y="208673"/>
                  </a:lnTo>
                  <a:lnTo>
                    <a:pt x="6994931" y="222986"/>
                  </a:lnTo>
                  <a:lnTo>
                    <a:pt x="7010171" y="232625"/>
                  </a:lnTo>
                  <a:lnTo>
                    <a:pt x="7028027" y="235750"/>
                  </a:lnTo>
                  <a:lnTo>
                    <a:pt x="7045045" y="231914"/>
                  </a:lnTo>
                  <a:lnTo>
                    <a:pt x="7059346" y="221957"/>
                  </a:lnTo>
                  <a:lnTo>
                    <a:pt x="7069023" y="206654"/>
                  </a:lnTo>
                  <a:lnTo>
                    <a:pt x="7072084" y="191300"/>
                  </a:lnTo>
                  <a:close/>
                </a:path>
                <a:path w="12137390" h="1831339">
                  <a:moveTo>
                    <a:pt x="7325080" y="310273"/>
                  </a:moveTo>
                  <a:lnTo>
                    <a:pt x="7305027" y="267436"/>
                  </a:lnTo>
                  <a:lnTo>
                    <a:pt x="7302195" y="265760"/>
                  </a:lnTo>
                  <a:lnTo>
                    <a:pt x="7300823" y="264858"/>
                  </a:lnTo>
                  <a:lnTo>
                    <a:pt x="7283463" y="259854"/>
                  </a:lnTo>
                  <a:lnTo>
                    <a:pt x="7266089" y="261835"/>
                  </a:lnTo>
                  <a:lnTo>
                    <a:pt x="7250735" y="270179"/>
                  </a:lnTo>
                  <a:lnTo>
                    <a:pt x="7239368" y="284238"/>
                  </a:lnTo>
                  <a:lnTo>
                    <a:pt x="7234339" y="301599"/>
                  </a:lnTo>
                  <a:lnTo>
                    <a:pt x="7236282" y="318935"/>
                  </a:lnTo>
                  <a:lnTo>
                    <a:pt x="7244550" y="334314"/>
                  </a:lnTo>
                  <a:lnTo>
                    <a:pt x="7258532" y="345757"/>
                  </a:lnTo>
                  <a:lnTo>
                    <a:pt x="7275931" y="350774"/>
                  </a:lnTo>
                  <a:lnTo>
                    <a:pt x="7293343" y="348818"/>
                  </a:lnTo>
                  <a:lnTo>
                    <a:pt x="7308761" y="340512"/>
                  </a:lnTo>
                  <a:lnTo>
                    <a:pt x="7320153" y="326466"/>
                  </a:lnTo>
                  <a:lnTo>
                    <a:pt x="7325080" y="310273"/>
                  </a:lnTo>
                  <a:close/>
                </a:path>
                <a:path w="12137390" h="1831339">
                  <a:moveTo>
                    <a:pt x="8038046" y="762635"/>
                  </a:moveTo>
                  <a:lnTo>
                    <a:pt x="8018450" y="716775"/>
                  </a:lnTo>
                  <a:lnTo>
                    <a:pt x="8000886" y="709777"/>
                  </a:lnTo>
                  <a:lnTo>
                    <a:pt x="7983410" y="710184"/>
                  </a:lnTo>
                  <a:lnTo>
                    <a:pt x="7967408" y="717130"/>
                  </a:lnTo>
                  <a:lnTo>
                    <a:pt x="7954861" y="730148"/>
                  </a:lnTo>
                  <a:lnTo>
                    <a:pt x="7948269" y="746988"/>
                  </a:lnTo>
                  <a:lnTo>
                    <a:pt x="7948689" y="764463"/>
                  </a:lnTo>
                  <a:lnTo>
                    <a:pt x="7955648" y="780529"/>
                  </a:lnTo>
                  <a:lnTo>
                    <a:pt x="7968678" y="793115"/>
                  </a:lnTo>
                  <a:lnTo>
                    <a:pt x="7985544" y="799642"/>
                  </a:lnTo>
                  <a:lnTo>
                    <a:pt x="8002968" y="799198"/>
                  </a:lnTo>
                  <a:lnTo>
                    <a:pt x="8018958" y="792251"/>
                  </a:lnTo>
                  <a:lnTo>
                    <a:pt x="8031505" y="779233"/>
                  </a:lnTo>
                  <a:lnTo>
                    <a:pt x="8038046" y="762635"/>
                  </a:lnTo>
                  <a:close/>
                </a:path>
                <a:path w="12137390" h="1831339">
                  <a:moveTo>
                    <a:pt x="8276704" y="912571"/>
                  </a:moveTo>
                  <a:lnTo>
                    <a:pt x="8256994" y="867194"/>
                  </a:lnTo>
                  <a:lnTo>
                    <a:pt x="8238795" y="860094"/>
                  </a:lnTo>
                  <a:lnTo>
                    <a:pt x="8221307" y="860767"/>
                  </a:lnTo>
                  <a:lnTo>
                    <a:pt x="8205317" y="867918"/>
                  </a:lnTo>
                  <a:lnTo>
                    <a:pt x="8192859" y="881062"/>
                  </a:lnTo>
                  <a:lnTo>
                    <a:pt x="8186585" y="898042"/>
                  </a:lnTo>
                  <a:lnTo>
                    <a:pt x="8187271" y="915517"/>
                  </a:lnTo>
                  <a:lnTo>
                    <a:pt x="8194472" y="931456"/>
                  </a:lnTo>
                  <a:lnTo>
                    <a:pt x="8207680" y="943838"/>
                  </a:lnTo>
                  <a:lnTo>
                    <a:pt x="8224647" y="950137"/>
                  </a:lnTo>
                  <a:lnTo>
                    <a:pt x="8242084" y="949502"/>
                  </a:lnTo>
                  <a:lnTo>
                    <a:pt x="8257997" y="942378"/>
                  </a:lnTo>
                  <a:lnTo>
                    <a:pt x="8270354" y="929195"/>
                  </a:lnTo>
                  <a:lnTo>
                    <a:pt x="8276704" y="912571"/>
                  </a:lnTo>
                  <a:close/>
                </a:path>
                <a:path w="12137390" h="1831339">
                  <a:moveTo>
                    <a:pt x="8517788" y="1058379"/>
                  </a:moveTo>
                  <a:lnTo>
                    <a:pt x="8498078" y="1013828"/>
                  </a:lnTo>
                  <a:lnTo>
                    <a:pt x="8478901" y="1006398"/>
                  </a:lnTo>
                  <a:lnTo>
                    <a:pt x="8461477" y="1007402"/>
                  </a:lnTo>
                  <a:lnTo>
                    <a:pt x="8445703" y="1014882"/>
                  </a:lnTo>
                  <a:lnTo>
                    <a:pt x="8433537" y="1028306"/>
                  </a:lnTo>
                  <a:lnTo>
                    <a:pt x="8427517" y="1045375"/>
                  </a:lnTo>
                  <a:lnTo>
                    <a:pt x="8428507" y="1062824"/>
                  </a:lnTo>
                  <a:lnTo>
                    <a:pt x="8436000" y="1078611"/>
                  </a:lnTo>
                  <a:lnTo>
                    <a:pt x="8449475" y="1090726"/>
                  </a:lnTo>
                  <a:lnTo>
                    <a:pt x="8466544" y="1096746"/>
                  </a:lnTo>
                  <a:lnTo>
                    <a:pt x="8483994" y="1095768"/>
                  </a:lnTo>
                  <a:lnTo>
                    <a:pt x="8499792" y="1088288"/>
                  </a:lnTo>
                  <a:lnTo>
                    <a:pt x="8511896" y="1074826"/>
                  </a:lnTo>
                  <a:lnTo>
                    <a:pt x="8517788" y="1058379"/>
                  </a:lnTo>
                  <a:close/>
                </a:path>
                <a:path w="12137390" h="1831339">
                  <a:moveTo>
                    <a:pt x="8762086" y="1198333"/>
                  </a:moveTo>
                  <a:lnTo>
                    <a:pt x="8742197" y="1154595"/>
                  </a:lnTo>
                  <a:lnTo>
                    <a:pt x="8721890" y="1147203"/>
                  </a:lnTo>
                  <a:lnTo>
                    <a:pt x="8704504" y="1148638"/>
                  </a:lnTo>
                  <a:lnTo>
                    <a:pt x="8688908" y="1156500"/>
                  </a:lnTo>
                  <a:lnTo>
                    <a:pt x="8677097" y="1170241"/>
                  </a:lnTo>
                  <a:lnTo>
                    <a:pt x="8671573" y="1187488"/>
                  </a:lnTo>
                  <a:lnTo>
                    <a:pt x="8673059" y="1204899"/>
                  </a:lnTo>
                  <a:lnTo>
                    <a:pt x="8680945" y="1220457"/>
                  </a:lnTo>
                  <a:lnTo>
                    <a:pt x="8694661" y="1232204"/>
                  </a:lnTo>
                  <a:lnTo>
                    <a:pt x="8711895" y="1237767"/>
                  </a:lnTo>
                  <a:lnTo>
                    <a:pt x="8729281" y="1236319"/>
                  </a:lnTo>
                  <a:lnTo>
                    <a:pt x="8744839" y="1228445"/>
                  </a:lnTo>
                  <a:lnTo>
                    <a:pt x="8756625" y="1214691"/>
                  </a:lnTo>
                  <a:lnTo>
                    <a:pt x="8762086" y="1198333"/>
                  </a:lnTo>
                  <a:close/>
                </a:path>
                <a:path w="12137390" h="1831339">
                  <a:moveTo>
                    <a:pt x="9010459" y="1330794"/>
                  </a:moveTo>
                  <a:lnTo>
                    <a:pt x="8990432" y="1288249"/>
                  </a:lnTo>
                  <a:lnTo>
                    <a:pt x="8968600" y="1280604"/>
                  </a:lnTo>
                  <a:lnTo>
                    <a:pt x="8951227" y="1282661"/>
                  </a:lnTo>
                  <a:lnTo>
                    <a:pt x="8935936" y="1291069"/>
                  </a:lnTo>
                  <a:lnTo>
                    <a:pt x="8924671" y="1305204"/>
                  </a:lnTo>
                  <a:lnTo>
                    <a:pt x="8919680" y="1322578"/>
                  </a:lnTo>
                  <a:lnTo>
                    <a:pt x="8921686" y="1339913"/>
                  </a:lnTo>
                  <a:lnTo>
                    <a:pt x="8930068" y="1355229"/>
                  </a:lnTo>
                  <a:lnTo>
                    <a:pt x="8944204" y="1366520"/>
                  </a:lnTo>
                  <a:lnTo>
                    <a:pt x="8961691" y="1371473"/>
                  </a:lnTo>
                  <a:lnTo>
                    <a:pt x="8979065" y="1369428"/>
                  </a:lnTo>
                  <a:lnTo>
                    <a:pt x="8994356" y="1361008"/>
                  </a:lnTo>
                  <a:lnTo>
                    <a:pt x="9005621" y="1346873"/>
                  </a:lnTo>
                  <a:lnTo>
                    <a:pt x="9010459" y="1330794"/>
                  </a:lnTo>
                  <a:close/>
                </a:path>
                <a:path w="12137390" h="1831339">
                  <a:moveTo>
                    <a:pt x="9263748" y="1453413"/>
                  </a:moveTo>
                  <a:lnTo>
                    <a:pt x="9243581" y="1412265"/>
                  </a:lnTo>
                  <a:lnTo>
                    <a:pt x="9219819" y="1404543"/>
                  </a:lnTo>
                  <a:lnTo>
                    <a:pt x="9202598" y="1407312"/>
                  </a:lnTo>
                  <a:lnTo>
                    <a:pt x="9187624" y="1416367"/>
                  </a:lnTo>
                  <a:lnTo>
                    <a:pt x="9176855" y="1430985"/>
                  </a:lnTo>
                  <a:lnTo>
                    <a:pt x="9172727" y="1448574"/>
                  </a:lnTo>
                  <a:lnTo>
                    <a:pt x="9175547" y="1465821"/>
                  </a:lnTo>
                  <a:lnTo>
                    <a:pt x="9184576" y="1480769"/>
                  </a:lnTo>
                  <a:lnTo>
                    <a:pt x="9199118" y="1491488"/>
                  </a:lnTo>
                  <a:lnTo>
                    <a:pt x="9216720" y="1495628"/>
                  </a:lnTo>
                  <a:lnTo>
                    <a:pt x="9233967" y="1492821"/>
                  </a:lnTo>
                  <a:lnTo>
                    <a:pt x="9248915" y="1483804"/>
                  </a:lnTo>
                  <a:lnTo>
                    <a:pt x="9259621" y="1469263"/>
                  </a:lnTo>
                  <a:lnTo>
                    <a:pt x="9263748" y="1453413"/>
                  </a:lnTo>
                  <a:close/>
                </a:path>
                <a:path w="12137390" h="1831339">
                  <a:moveTo>
                    <a:pt x="9787763" y="1656181"/>
                  </a:moveTo>
                  <a:lnTo>
                    <a:pt x="9767633" y="1619313"/>
                  </a:lnTo>
                  <a:lnTo>
                    <a:pt x="9738081" y="1611757"/>
                  </a:lnTo>
                  <a:lnTo>
                    <a:pt x="9721304" y="1616671"/>
                  </a:lnTo>
                  <a:lnTo>
                    <a:pt x="9707537" y="1627517"/>
                  </a:lnTo>
                  <a:lnTo>
                    <a:pt x="9698685" y="1643341"/>
                  </a:lnTo>
                  <a:lnTo>
                    <a:pt x="9696793" y="1661312"/>
                  </a:lnTo>
                  <a:lnTo>
                    <a:pt x="9701708" y="1678089"/>
                  </a:lnTo>
                  <a:lnTo>
                    <a:pt x="9712515" y="1691830"/>
                  </a:lnTo>
                  <a:lnTo>
                    <a:pt x="9728327" y="1700682"/>
                  </a:lnTo>
                  <a:lnTo>
                    <a:pt x="9746310" y="1702587"/>
                  </a:lnTo>
                  <a:lnTo>
                    <a:pt x="9763087" y="1697672"/>
                  </a:lnTo>
                  <a:lnTo>
                    <a:pt x="9776816" y="1686864"/>
                  </a:lnTo>
                  <a:lnTo>
                    <a:pt x="9785667" y="1671066"/>
                  </a:lnTo>
                  <a:lnTo>
                    <a:pt x="9787763" y="1656181"/>
                  </a:lnTo>
                  <a:close/>
                </a:path>
                <a:path w="12137390" h="1831339">
                  <a:moveTo>
                    <a:pt x="10059391" y="1727136"/>
                  </a:moveTo>
                  <a:lnTo>
                    <a:pt x="10039261" y="1693405"/>
                  </a:lnTo>
                  <a:lnTo>
                    <a:pt x="10005771" y="1686471"/>
                  </a:lnTo>
                  <a:lnTo>
                    <a:pt x="9989490" y="1692833"/>
                  </a:lnTo>
                  <a:lnTo>
                    <a:pt x="9976815" y="1704809"/>
                  </a:lnTo>
                  <a:lnTo>
                    <a:pt x="9969500" y="1721281"/>
                  </a:lnTo>
                  <a:lnTo>
                    <a:pt x="9969119" y="1739404"/>
                  </a:lnTo>
                  <a:lnTo>
                    <a:pt x="9975507" y="1755698"/>
                  </a:lnTo>
                  <a:lnTo>
                    <a:pt x="9987534" y="1768411"/>
                  </a:lnTo>
                  <a:lnTo>
                    <a:pt x="10004107" y="1775790"/>
                  </a:lnTo>
                  <a:lnTo>
                    <a:pt x="10022205" y="1776158"/>
                  </a:lnTo>
                  <a:lnTo>
                    <a:pt x="10038448" y="1769757"/>
                  </a:lnTo>
                  <a:lnTo>
                    <a:pt x="10051110" y="1757692"/>
                  </a:lnTo>
                  <a:lnTo>
                    <a:pt x="10058463" y="1741119"/>
                  </a:lnTo>
                  <a:lnTo>
                    <a:pt x="10059391" y="1727136"/>
                  </a:lnTo>
                  <a:close/>
                </a:path>
                <a:path w="12137390" h="1831339">
                  <a:moveTo>
                    <a:pt x="10337114" y="1781771"/>
                  </a:moveTo>
                  <a:lnTo>
                    <a:pt x="10317112" y="1739214"/>
                  </a:lnTo>
                  <a:lnTo>
                    <a:pt x="10296436" y="1731733"/>
                  </a:lnTo>
                  <a:lnTo>
                    <a:pt x="10278453" y="1733448"/>
                  </a:lnTo>
                  <a:lnTo>
                    <a:pt x="10263060" y="1741690"/>
                  </a:lnTo>
                  <a:lnTo>
                    <a:pt x="10251846" y="1755127"/>
                  </a:lnTo>
                  <a:lnTo>
                    <a:pt x="10246411" y="1772386"/>
                  </a:lnTo>
                  <a:lnTo>
                    <a:pt x="10248201" y="1790407"/>
                  </a:lnTo>
                  <a:lnTo>
                    <a:pt x="10256444" y="1805800"/>
                  </a:lnTo>
                  <a:lnTo>
                    <a:pt x="10269855" y="1816989"/>
                  </a:lnTo>
                  <a:lnTo>
                    <a:pt x="10287102" y="1822411"/>
                  </a:lnTo>
                  <a:lnTo>
                    <a:pt x="10305136" y="1820659"/>
                  </a:lnTo>
                  <a:lnTo>
                    <a:pt x="10320566" y="1812442"/>
                  </a:lnTo>
                  <a:lnTo>
                    <a:pt x="10331767" y="1799043"/>
                  </a:lnTo>
                  <a:lnTo>
                    <a:pt x="10337114" y="1781771"/>
                  </a:lnTo>
                  <a:close/>
                </a:path>
                <a:path w="12137390" h="1831339">
                  <a:moveTo>
                    <a:pt x="10618610" y="1783740"/>
                  </a:moveTo>
                  <a:lnTo>
                    <a:pt x="10598341" y="1747812"/>
                  </a:lnTo>
                  <a:lnTo>
                    <a:pt x="10570947" y="1740217"/>
                  </a:lnTo>
                  <a:lnTo>
                    <a:pt x="10553370" y="1744624"/>
                  </a:lnTo>
                  <a:lnTo>
                    <a:pt x="10539324" y="1755051"/>
                  </a:lnTo>
                  <a:lnTo>
                    <a:pt x="10530205" y="1769973"/>
                  </a:lnTo>
                  <a:lnTo>
                    <a:pt x="10527436" y="1787855"/>
                  </a:lnTo>
                  <a:lnTo>
                    <a:pt x="10531843" y="1805419"/>
                  </a:lnTo>
                  <a:lnTo>
                    <a:pt x="10542295" y="1819452"/>
                  </a:lnTo>
                  <a:lnTo>
                    <a:pt x="10557269" y="1828533"/>
                  </a:lnTo>
                  <a:lnTo>
                    <a:pt x="10575201" y="1831225"/>
                  </a:lnTo>
                  <a:lnTo>
                    <a:pt x="10592753" y="1826856"/>
                  </a:lnTo>
                  <a:lnTo>
                    <a:pt x="10606773" y="1816468"/>
                  </a:lnTo>
                  <a:lnTo>
                    <a:pt x="10615854" y="1801596"/>
                  </a:lnTo>
                  <a:lnTo>
                    <a:pt x="10618610" y="1783740"/>
                  </a:lnTo>
                  <a:close/>
                </a:path>
                <a:path w="12137390" h="1831339">
                  <a:moveTo>
                    <a:pt x="10896537" y="1755863"/>
                  </a:moveTo>
                  <a:lnTo>
                    <a:pt x="10883443" y="1715427"/>
                  </a:lnTo>
                  <a:lnTo>
                    <a:pt x="10850855" y="1702485"/>
                  </a:lnTo>
                  <a:lnTo>
                    <a:pt x="10841368" y="1703654"/>
                  </a:lnTo>
                  <a:lnTo>
                    <a:pt x="10824832" y="1711134"/>
                  </a:lnTo>
                  <a:lnTo>
                    <a:pt x="10812894" y="1723910"/>
                  </a:lnTo>
                  <a:lnTo>
                    <a:pt x="10806646" y="1740242"/>
                  </a:lnTo>
                  <a:lnTo>
                    <a:pt x="10807154" y="1758391"/>
                  </a:lnTo>
                  <a:lnTo>
                    <a:pt x="10814698" y="1774837"/>
                  </a:lnTo>
                  <a:lnTo>
                    <a:pt x="10827499" y="1786712"/>
                  </a:lnTo>
                  <a:lnTo>
                    <a:pt x="10843806" y="1792935"/>
                  </a:lnTo>
                  <a:lnTo>
                    <a:pt x="10861866" y="1792363"/>
                  </a:lnTo>
                  <a:lnTo>
                    <a:pt x="10878363" y="1784959"/>
                  </a:lnTo>
                  <a:lnTo>
                    <a:pt x="10890288" y="1772183"/>
                  </a:lnTo>
                  <a:lnTo>
                    <a:pt x="10896537" y="1755863"/>
                  </a:lnTo>
                  <a:close/>
                </a:path>
                <a:path w="12137390" h="1831339">
                  <a:moveTo>
                    <a:pt x="11673027" y="1486763"/>
                  </a:moveTo>
                  <a:lnTo>
                    <a:pt x="11646014" y="1453451"/>
                  </a:lnTo>
                  <a:lnTo>
                    <a:pt x="11628692" y="1449844"/>
                  </a:lnTo>
                  <a:lnTo>
                    <a:pt x="11619484" y="1450708"/>
                  </a:lnTo>
                  <a:lnTo>
                    <a:pt x="11602847" y="1457629"/>
                  </a:lnTo>
                  <a:lnTo>
                    <a:pt x="11590528" y="1469961"/>
                  </a:lnTo>
                  <a:lnTo>
                    <a:pt x="11583708" y="1486014"/>
                  </a:lnTo>
                  <a:lnTo>
                    <a:pt x="11583556" y="1504073"/>
                  </a:lnTo>
                  <a:lnTo>
                    <a:pt x="11590528" y="1520837"/>
                  </a:lnTo>
                  <a:lnTo>
                    <a:pt x="11602923" y="1533182"/>
                  </a:lnTo>
                  <a:lnTo>
                    <a:pt x="11619014" y="1539989"/>
                  </a:lnTo>
                  <a:lnTo>
                    <a:pt x="11637099" y="1540129"/>
                  </a:lnTo>
                  <a:lnTo>
                    <a:pt x="11653799" y="1533258"/>
                  </a:lnTo>
                  <a:lnTo>
                    <a:pt x="11666106" y="1520913"/>
                  </a:lnTo>
                  <a:lnTo>
                    <a:pt x="11672900" y="1504848"/>
                  </a:lnTo>
                  <a:lnTo>
                    <a:pt x="11673027" y="1486763"/>
                  </a:lnTo>
                  <a:close/>
                </a:path>
                <a:path w="12137390" h="1831339">
                  <a:moveTo>
                    <a:pt x="11939664" y="1453578"/>
                  </a:moveTo>
                  <a:lnTo>
                    <a:pt x="11919585" y="1419974"/>
                  </a:lnTo>
                  <a:lnTo>
                    <a:pt x="11890070" y="1412278"/>
                  </a:lnTo>
                  <a:lnTo>
                    <a:pt x="11872747" y="1417497"/>
                  </a:lnTo>
                  <a:lnTo>
                    <a:pt x="11859235" y="1428597"/>
                  </a:lnTo>
                  <a:lnTo>
                    <a:pt x="11850853" y="1443951"/>
                  </a:lnTo>
                  <a:lnTo>
                    <a:pt x="11848935" y="1461935"/>
                  </a:lnTo>
                  <a:lnTo>
                    <a:pt x="11854066" y="1479219"/>
                  </a:lnTo>
                  <a:lnTo>
                    <a:pt x="11865089" y="1492758"/>
                  </a:lnTo>
                  <a:lnTo>
                    <a:pt x="11880393" y="1501190"/>
                  </a:lnTo>
                  <a:lnTo>
                    <a:pt x="11898376" y="1503133"/>
                  </a:lnTo>
                  <a:lnTo>
                    <a:pt x="11915699" y="1497952"/>
                  </a:lnTo>
                  <a:lnTo>
                    <a:pt x="11929250" y="1486928"/>
                  </a:lnTo>
                  <a:lnTo>
                    <a:pt x="11937670" y="1471612"/>
                  </a:lnTo>
                  <a:lnTo>
                    <a:pt x="11939664" y="1453578"/>
                  </a:lnTo>
                  <a:close/>
                </a:path>
                <a:path w="12137390" h="1831339">
                  <a:moveTo>
                    <a:pt x="12136831" y="1409534"/>
                  </a:moveTo>
                  <a:lnTo>
                    <a:pt x="12130481" y="1413789"/>
                  </a:lnTo>
                  <a:lnTo>
                    <a:pt x="12120664" y="1428242"/>
                  </a:lnTo>
                  <a:lnTo>
                    <a:pt x="12117007" y="1445945"/>
                  </a:lnTo>
                  <a:lnTo>
                    <a:pt x="12120588" y="1463713"/>
                  </a:lnTo>
                  <a:lnTo>
                    <a:pt x="12130342" y="1478216"/>
                  </a:lnTo>
                  <a:lnTo>
                    <a:pt x="12136831" y="1482598"/>
                  </a:lnTo>
                  <a:lnTo>
                    <a:pt x="12136831" y="1409534"/>
                  </a:lnTo>
                  <a:close/>
                </a:path>
              </a:pathLst>
            </a:custGeom>
            <a:solidFill>
              <a:srgbClr val="15548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pic>
          <p:nvPicPr>
            <p:cNvPr id="42" name="object 7">
              <a:extLst>
                <a:ext uri="{FF2B5EF4-FFF2-40B4-BE49-F238E27FC236}">
                  <a16:creationId xmlns:a16="http://schemas.microsoft.com/office/drawing/2014/main" id="{3EAD10F4-C64E-7F0A-6D1C-089FE1782902}"/>
                </a:ext>
              </a:extLst>
            </p:cNvPr>
            <p:cNvPicPr/>
            <p:nvPr/>
          </p:nvPicPr>
          <p:blipFill>
            <a:blip r:embed="rId2" cstate="print">
              <a:duotone>
                <a:schemeClr val="accent1">
                  <a:shade val="45000"/>
                  <a:satMod val="135000"/>
                </a:schemeClr>
                <a:prstClr val="white"/>
              </a:duotone>
            </a:blip>
            <a:stretch>
              <a:fillRect/>
            </a:stretch>
          </p:blipFill>
          <p:spPr>
            <a:xfrm>
              <a:off x="7530292" y="3060385"/>
              <a:ext cx="91228" cy="90309"/>
            </a:xfrm>
            <a:prstGeom prst="rect">
              <a:avLst/>
            </a:prstGeom>
          </p:spPr>
        </p:pic>
        <p:pic>
          <p:nvPicPr>
            <p:cNvPr id="43" name="object 8">
              <a:extLst>
                <a:ext uri="{FF2B5EF4-FFF2-40B4-BE49-F238E27FC236}">
                  <a16:creationId xmlns:a16="http://schemas.microsoft.com/office/drawing/2014/main" id="{90D73E66-58E0-8951-2E41-88A62E631BB1}"/>
                </a:ext>
              </a:extLst>
            </p:cNvPr>
            <p:cNvPicPr/>
            <p:nvPr/>
          </p:nvPicPr>
          <p:blipFill>
            <a:blip r:embed="rId3" cstate="print">
              <a:duotone>
                <a:schemeClr val="accent1">
                  <a:shade val="45000"/>
                  <a:satMod val="135000"/>
                </a:schemeClr>
                <a:prstClr val="white"/>
              </a:duotone>
            </a:blip>
            <a:stretch>
              <a:fillRect/>
            </a:stretch>
          </p:blipFill>
          <p:spPr>
            <a:xfrm>
              <a:off x="11126887" y="4270548"/>
              <a:ext cx="91228" cy="90245"/>
            </a:xfrm>
            <a:prstGeom prst="rect">
              <a:avLst/>
            </a:prstGeom>
          </p:spPr>
        </p:pic>
        <p:pic>
          <p:nvPicPr>
            <p:cNvPr id="44" name="object 9">
              <a:extLst>
                <a:ext uri="{FF2B5EF4-FFF2-40B4-BE49-F238E27FC236}">
                  <a16:creationId xmlns:a16="http://schemas.microsoft.com/office/drawing/2014/main" id="{FC67BDD1-414D-EF7E-1F4B-FD0597F6825B}"/>
                </a:ext>
              </a:extLst>
            </p:cNvPr>
            <p:cNvPicPr/>
            <p:nvPr/>
          </p:nvPicPr>
          <p:blipFill>
            <a:blip r:embed="rId4" cstate="print">
              <a:duotone>
                <a:schemeClr val="accent1">
                  <a:shade val="45000"/>
                  <a:satMod val="135000"/>
                </a:schemeClr>
                <a:prstClr val="white"/>
              </a:duotone>
            </a:blip>
            <a:stretch>
              <a:fillRect/>
            </a:stretch>
          </p:blipFill>
          <p:spPr>
            <a:xfrm>
              <a:off x="4018447" y="3740474"/>
              <a:ext cx="91060" cy="90314"/>
            </a:xfrm>
            <a:prstGeom prst="rect">
              <a:avLst/>
            </a:prstGeom>
          </p:spPr>
        </p:pic>
        <p:pic>
          <p:nvPicPr>
            <p:cNvPr id="45" name="object 10">
              <a:extLst>
                <a:ext uri="{FF2B5EF4-FFF2-40B4-BE49-F238E27FC236}">
                  <a16:creationId xmlns:a16="http://schemas.microsoft.com/office/drawing/2014/main" id="{DFF756B4-F938-5115-3CAA-3FBFC359EA61}"/>
                </a:ext>
              </a:extLst>
            </p:cNvPr>
            <p:cNvPicPr/>
            <p:nvPr/>
          </p:nvPicPr>
          <p:blipFill>
            <a:blip r:embed="rId5" cstate="print">
              <a:duotone>
                <a:schemeClr val="accent1">
                  <a:shade val="45000"/>
                  <a:satMod val="135000"/>
                </a:schemeClr>
                <a:prstClr val="white"/>
              </a:duotone>
            </a:blip>
            <a:stretch>
              <a:fillRect/>
            </a:stretch>
          </p:blipFill>
          <p:spPr>
            <a:xfrm>
              <a:off x="11377883" y="4174344"/>
              <a:ext cx="90702" cy="90872"/>
            </a:xfrm>
            <a:prstGeom prst="rect">
              <a:avLst/>
            </a:prstGeom>
          </p:spPr>
        </p:pic>
        <p:pic>
          <p:nvPicPr>
            <p:cNvPr id="46" name="object 11">
              <a:extLst>
                <a:ext uri="{FF2B5EF4-FFF2-40B4-BE49-F238E27FC236}">
                  <a16:creationId xmlns:a16="http://schemas.microsoft.com/office/drawing/2014/main" id="{1E5713E6-B879-7475-9062-261392C592A2}"/>
                </a:ext>
              </a:extLst>
            </p:cNvPr>
            <p:cNvPicPr/>
            <p:nvPr/>
          </p:nvPicPr>
          <p:blipFill>
            <a:blip r:embed="rId6" cstate="print">
              <a:duotone>
                <a:prstClr val="black"/>
                <a:schemeClr val="accent1">
                  <a:tint val="45000"/>
                  <a:satMod val="400000"/>
                </a:schemeClr>
              </a:duotone>
            </a:blip>
            <a:stretch>
              <a:fillRect/>
            </a:stretch>
          </p:blipFill>
          <p:spPr>
            <a:xfrm>
              <a:off x="9486591" y="4174863"/>
              <a:ext cx="91156" cy="91065"/>
            </a:xfrm>
            <a:prstGeom prst="rect">
              <a:avLst/>
            </a:prstGeom>
          </p:spPr>
        </p:pic>
        <p:pic>
          <p:nvPicPr>
            <p:cNvPr id="47" name="object 12">
              <a:extLst>
                <a:ext uri="{FF2B5EF4-FFF2-40B4-BE49-F238E27FC236}">
                  <a16:creationId xmlns:a16="http://schemas.microsoft.com/office/drawing/2014/main" id="{D819DD9E-4823-F8FD-ED7F-69FB15F86770}"/>
                </a:ext>
              </a:extLst>
            </p:cNvPr>
            <p:cNvPicPr/>
            <p:nvPr/>
          </p:nvPicPr>
          <p:blipFill>
            <a:blip r:embed="rId7" cstate="print">
              <a:duotone>
                <a:prstClr val="black"/>
                <a:schemeClr val="accent1">
                  <a:tint val="45000"/>
                  <a:satMod val="400000"/>
                </a:schemeClr>
              </a:duotone>
            </a:blip>
            <a:stretch>
              <a:fillRect/>
            </a:stretch>
          </p:blipFill>
          <p:spPr>
            <a:xfrm>
              <a:off x="7766876" y="3215382"/>
              <a:ext cx="89685" cy="89665"/>
            </a:xfrm>
            <a:prstGeom prst="rect">
              <a:avLst/>
            </a:prstGeom>
          </p:spPr>
        </p:pic>
        <p:pic>
          <p:nvPicPr>
            <p:cNvPr id="48" name="object 13">
              <a:extLst>
                <a:ext uri="{FF2B5EF4-FFF2-40B4-BE49-F238E27FC236}">
                  <a16:creationId xmlns:a16="http://schemas.microsoft.com/office/drawing/2014/main" id="{764C16F7-DE67-FE94-5677-C54372F26C27}"/>
                </a:ext>
              </a:extLst>
            </p:cNvPr>
            <p:cNvPicPr/>
            <p:nvPr/>
          </p:nvPicPr>
          <p:blipFill>
            <a:blip r:embed="rId8" cstate="print">
              <a:duotone>
                <a:prstClr val="black"/>
                <a:schemeClr val="accent1">
                  <a:tint val="45000"/>
                  <a:satMod val="400000"/>
                </a:schemeClr>
              </a:duotone>
            </a:blip>
            <a:stretch>
              <a:fillRect/>
            </a:stretch>
          </p:blipFill>
          <p:spPr>
            <a:xfrm>
              <a:off x="5943559" y="2683693"/>
              <a:ext cx="90026" cy="90613"/>
            </a:xfrm>
            <a:prstGeom prst="rect">
              <a:avLst/>
            </a:prstGeom>
          </p:spPr>
        </p:pic>
        <p:pic>
          <p:nvPicPr>
            <p:cNvPr id="49" name="object 14">
              <a:extLst>
                <a:ext uri="{FF2B5EF4-FFF2-40B4-BE49-F238E27FC236}">
                  <a16:creationId xmlns:a16="http://schemas.microsoft.com/office/drawing/2014/main" id="{5BDD1A6C-58B0-C6D7-E8E3-21CF1C99E179}"/>
                </a:ext>
              </a:extLst>
            </p:cNvPr>
            <p:cNvPicPr/>
            <p:nvPr/>
          </p:nvPicPr>
          <p:blipFill>
            <a:blip r:embed="rId9" cstate="print">
              <a:duotone>
                <a:prstClr val="black"/>
                <a:schemeClr val="accent1">
                  <a:tint val="45000"/>
                  <a:satMod val="400000"/>
                </a:schemeClr>
              </a:duotone>
            </a:blip>
            <a:stretch>
              <a:fillRect/>
            </a:stretch>
          </p:blipFill>
          <p:spPr>
            <a:xfrm>
              <a:off x="4229418" y="3558901"/>
              <a:ext cx="90720" cy="90879"/>
            </a:xfrm>
            <a:prstGeom prst="rect">
              <a:avLst/>
            </a:prstGeom>
          </p:spPr>
        </p:pic>
        <p:pic>
          <p:nvPicPr>
            <p:cNvPr id="50" name="object 15">
              <a:extLst>
                <a:ext uri="{FF2B5EF4-FFF2-40B4-BE49-F238E27FC236}">
                  <a16:creationId xmlns:a16="http://schemas.microsoft.com/office/drawing/2014/main" id="{4CDA9F5F-7AB8-0D6C-E189-0BBD6A3B1A92}"/>
                </a:ext>
              </a:extLst>
            </p:cNvPr>
            <p:cNvPicPr/>
            <p:nvPr/>
          </p:nvPicPr>
          <p:blipFill>
            <a:blip r:embed="rId10" cstate="print">
              <a:duotone>
                <a:prstClr val="black"/>
                <a:schemeClr val="accent1">
                  <a:tint val="45000"/>
                  <a:satMod val="400000"/>
                </a:schemeClr>
              </a:duotone>
            </a:blip>
            <a:stretch>
              <a:fillRect/>
            </a:stretch>
          </p:blipFill>
          <p:spPr>
            <a:xfrm>
              <a:off x="2491130" y="4330103"/>
              <a:ext cx="90774" cy="90808"/>
            </a:xfrm>
            <a:prstGeom prst="rect">
              <a:avLst/>
            </a:prstGeom>
          </p:spPr>
        </p:pic>
        <p:pic>
          <p:nvPicPr>
            <p:cNvPr id="51" name="object 16">
              <a:extLst>
                <a:ext uri="{FF2B5EF4-FFF2-40B4-BE49-F238E27FC236}">
                  <a16:creationId xmlns:a16="http://schemas.microsoft.com/office/drawing/2014/main" id="{DE162D96-962D-B8B1-C6CD-A85989F9FE96}"/>
                </a:ext>
              </a:extLst>
            </p:cNvPr>
            <p:cNvPicPr/>
            <p:nvPr/>
          </p:nvPicPr>
          <p:blipFill>
            <a:blip r:embed="rId11" cstate="print">
              <a:duotone>
                <a:prstClr val="black"/>
                <a:schemeClr val="accent5">
                  <a:tint val="45000"/>
                  <a:satMod val="400000"/>
                </a:schemeClr>
              </a:duotone>
            </a:blip>
            <a:stretch>
              <a:fillRect/>
            </a:stretch>
          </p:blipFill>
          <p:spPr>
            <a:xfrm>
              <a:off x="575079" y="4055236"/>
              <a:ext cx="91059" cy="90889"/>
            </a:xfrm>
            <a:prstGeom prst="rect">
              <a:avLst/>
            </a:prstGeom>
          </p:spPr>
        </p:pic>
      </p:grpSp>
    </p:spTree>
    <p:extLst>
      <p:ext uri="{BB962C8B-B14F-4D97-AF65-F5344CB8AC3E}">
        <p14:creationId xmlns:p14="http://schemas.microsoft.com/office/powerpoint/2010/main" val="1533976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F9A1D1-5B54-A69A-6DBE-D2A9096590D3}"/>
              </a:ext>
            </a:extLst>
          </p:cNvPr>
          <p:cNvSpPr txBox="1"/>
          <p:nvPr/>
        </p:nvSpPr>
        <p:spPr>
          <a:xfrm>
            <a:off x="98692" y="1594969"/>
            <a:ext cx="5077744" cy="830997"/>
          </a:xfrm>
          <a:prstGeom prst="rect">
            <a:avLst/>
          </a:prstGeom>
          <a:noFill/>
        </p:spPr>
        <p:txBody>
          <a:bodyPr wrap="square" rtlCol="0">
            <a:spAutoFit/>
          </a:bodyPr>
          <a:lstStyle/>
          <a:p>
            <a:r>
              <a:rPr lang="en-US" sz="4800" b="1" dirty="0">
                <a:latin typeface="Optima" panose="02000503060000020004" pitchFamily="2" charset="0"/>
              </a:rPr>
              <a:t>INTRODUCTION</a:t>
            </a:r>
          </a:p>
        </p:txBody>
      </p:sp>
      <p:sp>
        <p:nvSpPr>
          <p:cNvPr id="5" name="TextBox 4">
            <a:extLst>
              <a:ext uri="{FF2B5EF4-FFF2-40B4-BE49-F238E27FC236}">
                <a16:creationId xmlns:a16="http://schemas.microsoft.com/office/drawing/2014/main" id="{D23E33E2-B16D-F6AF-C4DF-8BF6B7B1BAE7}"/>
              </a:ext>
            </a:extLst>
          </p:cNvPr>
          <p:cNvSpPr txBox="1"/>
          <p:nvPr/>
        </p:nvSpPr>
        <p:spPr>
          <a:xfrm>
            <a:off x="1277937" y="3770315"/>
            <a:ext cx="2881745" cy="1323439"/>
          </a:xfrm>
          <a:prstGeom prst="rect">
            <a:avLst/>
          </a:prstGeom>
          <a:noFill/>
        </p:spPr>
        <p:txBody>
          <a:bodyPr wrap="square" rtlCol="0">
            <a:spAutoFit/>
          </a:bodyPr>
          <a:lstStyle/>
          <a:p>
            <a:pPr algn="ctr"/>
            <a:r>
              <a:rPr lang="en-US" sz="2800" dirty="0">
                <a:latin typeface="Optima" panose="02000503060000020004" pitchFamily="2" charset="0"/>
              </a:rPr>
              <a:t>Justice Delayed </a:t>
            </a:r>
          </a:p>
          <a:p>
            <a:pPr algn="ctr"/>
            <a:r>
              <a:rPr lang="en-US" sz="2800" dirty="0">
                <a:latin typeface="Optima" panose="02000503060000020004" pitchFamily="2" charset="0"/>
              </a:rPr>
              <a:t>Is Justice Denied.</a:t>
            </a:r>
          </a:p>
          <a:p>
            <a:pPr algn="ctr"/>
            <a:r>
              <a:rPr lang="en-US" sz="2400" dirty="0">
                <a:latin typeface="Optima" panose="02000503060000020004" pitchFamily="2" charset="0"/>
              </a:rPr>
              <a:t>-</a:t>
            </a:r>
            <a:r>
              <a:rPr lang="en-US" dirty="0">
                <a:latin typeface="Optima" panose="02000503060000020004" pitchFamily="2" charset="0"/>
              </a:rPr>
              <a:t> William Gladstone (</a:t>
            </a:r>
            <a:r>
              <a:rPr lang="en-US" sz="1400" dirty="0">
                <a:latin typeface="Optima" panose="02000503060000020004" pitchFamily="2" charset="0"/>
              </a:rPr>
              <a:t>1868)</a:t>
            </a:r>
            <a:endParaRPr lang="en-US" sz="2400" dirty="0">
              <a:latin typeface="Optima" panose="02000503060000020004" pitchFamily="2" charset="0"/>
            </a:endParaRPr>
          </a:p>
        </p:txBody>
      </p:sp>
      <p:pic>
        <p:nvPicPr>
          <p:cNvPr id="6" name="Picture 5">
            <a:extLst>
              <a:ext uri="{FF2B5EF4-FFF2-40B4-BE49-F238E27FC236}">
                <a16:creationId xmlns:a16="http://schemas.microsoft.com/office/drawing/2014/main" id="{40DA3401-9F1B-F851-BA04-74DB5858ACFE}"/>
              </a:ext>
            </a:extLst>
          </p:cNvPr>
          <p:cNvPicPr>
            <a:picLocks noChangeAspect="1"/>
          </p:cNvPicPr>
          <p:nvPr/>
        </p:nvPicPr>
        <p:blipFill>
          <a:blip r:embed="rId2">
            <a:alphaModFix amt="85000"/>
          </a:blip>
          <a:stretch>
            <a:fillRect/>
          </a:stretch>
        </p:blipFill>
        <p:spPr>
          <a:xfrm>
            <a:off x="5084618" y="0"/>
            <a:ext cx="7107382" cy="6858000"/>
          </a:xfrm>
          <a:prstGeom prst="rect">
            <a:avLst/>
          </a:prstGeom>
        </p:spPr>
      </p:pic>
    </p:spTree>
    <p:extLst>
      <p:ext uri="{BB962C8B-B14F-4D97-AF65-F5344CB8AC3E}">
        <p14:creationId xmlns:p14="http://schemas.microsoft.com/office/powerpoint/2010/main" val="315327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2000" fill="hold"/>
                                        <p:tgtEl>
                                          <p:spTgt spid="5"/>
                                        </p:tgtEl>
                                        <p:attrNameLst>
                                          <p:attrName>ppt_x</p:attrName>
                                        </p:attrNameLst>
                                      </p:cBhvr>
                                      <p:tavLst>
                                        <p:tav tm="0">
                                          <p:val>
                                            <p:strVal val="#ppt_x"/>
                                          </p:val>
                                        </p:tav>
                                        <p:tav tm="100000">
                                          <p:val>
                                            <p:strVal val="#ppt_x"/>
                                          </p:val>
                                        </p:tav>
                                      </p:tavLst>
                                    </p:anim>
                                    <p:anim calcmode="lin" valueType="num">
                                      <p:cBhvr additive="base">
                                        <p:cTn id="12" dur="2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4D01DB-7B26-724A-220B-07A864B9DD7A}"/>
              </a:ext>
            </a:extLst>
          </p:cNvPr>
          <p:cNvPicPr>
            <a:picLocks noChangeAspect="1"/>
          </p:cNvPicPr>
          <p:nvPr/>
        </p:nvPicPr>
        <p:blipFill>
          <a:blip r:embed="rId2"/>
          <a:stretch>
            <a:fillRect/>
          </a:stretch>
        </p:blipFill>
        <p:spPr>
          <a:xfrm>
            <a:off x="2656506" y="666427"/>
            <a:ext cx="6878987" cy="4224473"/>
          </a:xfrm>
          <a:prstGeom prst="rect">
            <a:avLst/>
          </a:prstGeom>
        </p:spPr>
      </p:pic>
      <p:sp>
        <p:nvSpPr>
          <p:cNvPr id="7" name="TextBox 6">
            <a:extLst>
              <a:ext uri="{FF2B5EF4-FFF2-40B4-BE49-F238E27FC236}">
                <a16:creationId xmlns:a16="http://schemas.microsoft.com/office/drawing/2014/main" id="{250572B9-8BE7-3221-A279-3AE4A864F450}"/>
              </a:ext>
            </a:extLst>
          </p:cNvPr>
          <p:cNvSpPr txBox="1"/>
          <p:nvPr/>
        </p:nvSpPr>
        <p:spPr>
          <a:xfrm>
            <a:off x="2741234" y="5238428"/>
            <a:ext cx="6709530" cy="830997"/>
          </a:xfrm>
          <a:prstGeom prst="rect">
            <a:avLst/>
          </a:prstGeom>
          <a:noFill/>
        </p:spPr>
        <p:txBody>
          <a:bodyPr wrap="none" rtlCol="0">
            <a:spAutoFit/>
          </a:bodyPr>
          <a:lstStyle/>
          <a:p>
            <a:pPr algn="ctr"/>
            <a:r>
              <a:rPr lang="en-US" sz="1600" dirty="0">
                <a:latin typeface="Times New Roman" panose="02020603050405020304" pitchFamily="18" charset="0"/>
                <a:cs typeface="Times New Roman" panose="02020603050405020304" pitchFamily="18" charset="0"/>
              </a:rPr>
              <a:t>Fig: An illustration of </a:t>
            </a:r>
            <a:r>
              <a:rPr lang="en-US" sz="1600" b="1" dirty="0">
                <a:latin typeface="Times New Roman" panose="02020603050405020304" pitchFamily="18" charset="0"/>
                <a:cs typeface="Times New Roman" panose="02020603050405020304" pitchFamily="18" charset="0"/>
              </a:rPr>
              <a:t>human</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judges</a:t>
            </a:r>
            <a:r>
              <a:rPr lang="en-US" sz="1600" dirty="0">
                <a:latin typeface="Times New Roman" panose="02020603050405020304" pitchFamily="18" charset="0"/>
                <a:cs typeface="Times New Roman" panose="02020603050405020304" pitchFamily="18" charset="0"/>
              </a:rPr>
              <a:t>’ judicial decisions in the civil law system</a:t>
            </a:r>
          </a:p>
          <a:p>
            <a:pPr algn="ctr"/>
            <a:r>
              <a:rPr lang="en-US" sz="1600" dirty="0">
                <a:latin typeface="Times New Roman" panose="02020603050405020304" pitchFamily="18" charset="0"/>
                <a:cs typeface="Times New Roman" panose="02020603050405020304" pitchFamily="18" charset="0"/>
              </a:rPr>
              <a:t>source: https://aclanthology.org/D18-1390</a:t>
            </a:r>
          </a:p>
          <a:p>
            <a:pPr algn="ct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675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F9A1D1-5B54-A69A-6DBE-D2A9096590D3}"/>
              </a:ext>
            </a:extLst>
          </p:cNvPr>
          <p:cNvSpPr txBox="1"/>
          <p:nvPr/>
        </p:nvSpPr>
        <p:spPr>
          <a:xfrm>
            <a:off x="713232" y="1536174"/>
            <a:ext cx="10716768" cy="3785652"/>
          </a:xfrm>
          <a:prstGeom prst="rect">
            <a:avLst/>
          </a:prstGeom>
          <a:noFill/>
        </p:spPr>
        <p:txBody>
          <a:bodyPr wrap="square" rtlCol="0">
            <a:spAutoFit/>
          </a:bodyPr>
          <a:lstStyle/>
          <a:p>
            <a:pPr algn="ctr"/>
            <a:r>
              <a:rPr lang="en-US" sz="8000" dirty="0">
                <a:latin typeface="Optima" panose="02000503060000020004" pitchFamily="2" charset="0"/>
              </a:rPr>
              <a:t>BACKGROUND</a:t>
            </a:r>
          </a:p>
          <a:p>
            <a:pPr algn="ctr"/>
            <a:r>
              <a:rPr lang="en-US" sz="8000" dirty="0">
                <a:latin typeface="Optima" panose="02000503060000020004" pitchFamily="2" charset="0"/>
              </a:rPr>
              <a:t>AND</a:t>
            </a:r>
          </a:p>
          <a:p>
            <a:pPr algn="ctr"/>
            <a:r>
              <a:rPr lang="en-US" sz="8000" dirty="0">
                <a:latin typeface="Optima" panose="02000503060000020004" pitchFamily="2" charset="0"/>
              </a:rPr>
              <a:t>CONTEXT</a:t>
            </a:r>
          </a:p>
        </p:txBody>
      </p:sp>
    </p:spTree>
    <p:extLst>
      <p:ext uri="{BB962C8B-B14F-4D97-AF65-F5344CB8AC3E}">
        <p14:creationId xmlns:p14="http://schemas.microsoft.com/office/powerpoint/2010/main" val="3288073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F59BC6F-BAA3-7079-E15D-64F483866F19}"/>
              </a:ext>
            </a:extLst>
          </p:cNvPr>
          <p:cNvSpPr txBox="1"/>
          <p:nvPr/>
        </p:nvSpPr>
        <p:spPr>
          <a:xfrm>
            <a:off x="713232" y="1573719"/>
            <a:ext cx="11045952" cy="4031873"/>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Optima" panose="02000503060000020004" pitchFamily="2" charset="0"/>
              </a:rPr>
              <a:t>It's the task of using </a:t>
            </a:r>
            <a:r>
              <a:rPr lang="en-US" sz="2800" dirty="0">
                <a:solidFill>
                  <a:srgbClr val="FF0000"/>
                </a:solidFill>
                <a:latin typeface="Optima" panose="02000503060000020004" pitchFamily="2" charset="0"/>
              </a:rPr>
              <a:t>technology</a:t>
            </a:r>
            <a:r>
              <a:rPr lang="en-US" sz="2800" dirty="0">
                <a:latin typeface="Optima" panose="02000503060000020004" pitchFamily="2" charset="0"/>
              </a:rPr>
              <a:t> to predict the outcome of legal cases based on the facts presented in the case documents.</a:t>
            </a:r>
          </a:p>
          <a:p>
            <a:pPr marL="457200" indent="-457200">
              <a:buFont typeface="Arial" panose="020B0604020202020204" pitchFamily="34" charset="0"/>
              <a:buChar char="•"/>
            </a:pPr>
            <a:endParaRPr lang="en-US" sz="2800" dirty="0">
              <a:latin typeface="Optima" panose="02000503060000020004" pitchFamily="2" charset="0"/>
            </a:endParaRPr>
          </a:p>
          <a:p>
            <a:pPr marL="457200" indent="-457200">
              <a:buFont typeface="Arial" panose="020B0604020202020204" pitchFamily="34" charset="0"/>
              <a:buChar char="•"/>
            </a:pPr>
            <a:r>
              <a:rPr lang="en-US" sz="2800" dirty="0">
                <a:latin typeface="Optima" panose="02000503060000020004" pitchFamily="2" charset="0"/>
              </a:rPr>
              <a:t>It helps in understanding and analyzing legal decisions, potentially improving the efficiency of legal processes.</a:t>
            </a:r>
          </a:p>
          <a:p>
            <a:pPr marL="457200" indent="-457200">
              <a:buFont typeface="Arial" panose="020B0604020202020204" pitchFamily="34" charset="0"/>
              <a:buChar char="•"/>
            </a:pPr>
            <a:endParaRPr lang="en-US" sz="2800" dirty="0">
              <a:latin typeface="Optima" panose="02000503060000020004" pitchFamily="2" charset="0"/>
            </a:endParaRPr>
          </a:p>
          <a:p>
            <a:pPr marL="457200" indent="-457200">
              <a:buFont typeface="Arial" panose="020B0604020202020204" pitchFamily="34" charset="0"/>
              <a:buChar char="•"/>
            </a:pPr>
            <a:r>
              <a:rPr lang="en-US" sz="2800" dirty="0">
                <a:latin typeface="Optima" panose="02000503060000020004" pitchFamily="2" charset="0"/>
                <a:cs typeface="Times New Roman" panose="02020603050405020304" pitchFamily="18" charset="0"/>
              </a:rPr>
              <a:t>Can assist lawyers, </a:t>
            </a:r>
            <a:r>
              <a:rPr lang="en-US" sz="2800" dirty="0">
                <a:latin typeface="Optima" panose="02000503060000020004" pitchFamily="2" charset="0"/>
              </a:rPr>
              <a:t>judges, and legal researchers in making more informed decisions.</a:t>
            </a:r>
          </a:p>
          <a:p>
            <a:pPr marL="457200" indent="-457200">
              <a:buFont typeface="Arial" panose="020B0604020202020204" pitchFamily="34" charset="0"/>
              <a:buChar char="•"/>
            </a:pPr>
            <a:endParaRPr lang="en-US" sz="2800" dirty="0">
              <a:latin typeface="Optima" panose="02000503060000020004" pitchFamily="2" charset="0"/>
            </a:endParaRPr>
          </a:p>
        </p:txBody>
      </p:sp>
      <p:sp>
        <p:nvSpPr>
          <p:cNvPr id="10" name="TextBox 9">
            <a:extLst>
              <a:ext uri="{FF2B5EF4-FFF2-40B4-BE49-F238E27FC236}">
                <a16:creationId xmlns:a16="http://schemas.microsoft.com/office/drawing/2014/main" id="{489A7E14-B827-B02C-CCAD-84F6F41FCF77}"/>
              </a:ext>
            </a:extLst>
          </p:cNvPr>
          <p:cNvSpPr txBox="1"/>
          <p:nvPr/>
        </p:nvSpPr>
        <p:spPr>
          <a:xfrm>
            <a:off x="696298" y="570621"/>
            <a:ext cx="9916284" cy="707886"/>
          </a:xfrm>
          <a:prstGeom prst="rect">
            <a:avLst/>
          </a:prstGeom>
          <a:noFill/>
        </p:spPr>
        <p:txBody>
          <a:bodyPr wrap="square" rtlCol="0">
            <a:spAutoFit/>
          </a:bodyPr>
          <a:lstStyle>
            <a:defPPr>
              <a:defRPr lang="en-US"/>
            </a:defPPr>
            <a:lvl1pPr algn="ctr">
              <a:defRPr sz="4200"/>
            </a:lvl1pPr>
          </a:lstStyle>
          <a:p>
            <a:pPr algn="l"/>
            <a:r>
              <a:rPr lang="en-US" sz="4000" dirty="0">
                <a:latin typeface="Optima" panose="02000503060000020004" pitchFamily="2" charset="0"/>
                <a:cs typeface="Damascus Light" pitchFamily="2" charset="-78"/>
              </a:rPr>
              <a:t>LEGAL JUDGMENT PREDICTION</a:t>
            </a:r>
          </a:p>
        </p:txBody>
      </p:sp>
    </p:spTree>
    <p:extLst>
      <p:ext uri="{BB962C8B-B14F-4D97-AF65-F5344CB8AC3E}">
        <p14:creationId xmlns:p14="http://schemas.microsoft.com/office/powerpoint/2010/main" val="140830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2000" fill="hold"/>
                                        <p:tgtEl>
                                          <p:spTgt spid="9"/>
                                        </p:tgtEl>
                                        <p:attrNameLst>
                                          <p:attrName>ppt_x</p:attrName>
                                        </p:attrNameLst>
                                      </p:cBhvr>
                                      <p:tavLst>
                                        <p:tav tm="0">
                                          <p:val>
                                            <p:strVal val="#ppt_x"/>
                                          </p:val>
                                        </p:tav>
                                        <p:tav tm="100000">
                                          <p:val>
                                            <p:strVal val="#ppt_x"/>
                                          </p:val>
                                        </p:tav>
                                      </p:tavLst>
                                    </p:anim>
                                    <p:anim calcmode="lin" valueType="num">
                                      <p:cBhvr additive="base">
                                        <p:cTn id="12" dur="2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4FC5B0-219C-2EFE-F75C-61DB5B64A09D}"/>
              </a:ext>
            </a:extLst>
          </p:cNvPr>
          <p:cNvPicPr>
            <a:picLocks noChangeAspect="1"/>
          </p:cNvPicPr>
          <p:nvPr/>
        </p:nvPicPr>
        <p:blipFill>
          <a:blip r:embed="rId2"/>
          <a:stretch>
            <a:fillRect/>
          </a:stretch>
        </p:blipFill>
        <p:spPr>
          <a:xfrm>
            <a:off x="4927600" y="0"/>
            <a:ext cx="7264400" cy="6858000"/>
          </a:xfrm>
          <a:prstGeom prst="rect">
            <a:avLst/>
          </a:prstGeom>
        </p:spPr>
      </p:pic>
      <p:sp>
        <p:nvSpPr>
          <p:cNvPr id="4" name="TextBox 3">
            <a:extLst>
              <a:ext uri="{FF2B5EF4-FFF2-40B4-BE49-F238E27FC236}">
                <a16:creationId xmlns:a16="http://schemas.microsoft.com/office/drawing/2014/main" id="{C6F9A1D1-5B54-A69A-6DBE-D2A9096590D3}"/>
              </a:ext>
            </a:extLst>
          </p:cNvPr>
          <p:cNvSpPr txBox="1"/>
          <p:nvPr/>
        </p:nvSpPr>
        <p:spPr>
          <a:xfrm>
            <a:off x="730217" y="1134531"/>
            <a:ext cx="3606256" cy="2585323"/>
          </a:xfrm>
          <a:prstGeom prst="rect">
            <a:avLst/>
          </a:prstGeom>
          <a:noFill/>
        </p:spPr>
        <p:txBody>
          <a:bodyPr wrap="square" rtlCol="0">
            <a:spAutoFit/>
          </a:bodyPr>
          <a:lstStyle/>
          <a:p>
            <a:pPr algn="ctr"/>
            <a:r>
              <a:rPr lang="en-US" sz="5400" b="1" dirty="0">
                <a:latin typeface="Optima" panose="02000503060000020004" pitchFamily="2" charset="0"/>
              </a:rPr>
              <a:t>AIM</a:t>
            </a:r>
          </a:p>
          <a:p>
            <a:pPr algn="ctr"/>
            <a:r>
              <a:rPr lang="en-US" sz="5400" b="1" dirty="0">
                <a:latin typeface="Optima" panose="02000503060000020004" pitchFamily="2" charset="0"/>
              </a:rPr>
              <a:t>&amp;</a:t>
            </a:r>
          </a:p>
          <a:p>
            <a:pPr algn="ctr"/>
            <a:r>
              <a:rPr lang="en-US" sz="5400" b="1" dirty="0">
                <a:latin typeface="Optima" panose="02000503060000020004" pitchFamily="2" charset="0"/>
              </a:rPr>
              <a:t>METHODS</a:t>
            </a:r>
          </a:p>
        </p:txBody>
      </p:sp>
      <p:grpSp>
        <p:nvGrpSpPr>
          <p:cNvPr id="8" name="Group 7">
            <a:extLst>
              <a:ext uri="{FF2B5EF4-FFF2-40B4-BE49-F238E27FC236}">
                <a16:creationId xmlns:a16="http://schemas.microsoft.com/office/drawing/2014/main" id="{5211798A-922A-8AC1-1760-2D2574B7DD93}"/>
              </a:ext>
            </a:extLst>
          </p:cNvPr>
          <p:cNvGrpSpPr/>
          <p:nvPr/>
        </p:nvGrpSpPr>
        <p:grpSpPr>
          <a:xfrm>
            <a:off x="730217" y="4430332"/>
            <a:ext cx="3149599" cy="1367397"/>
            <a:chOff x="730217" y="4430332"/>
            <a:chExt cx="3149599" cy="1367397"/>
          </a:xfrm>
        </p:grpSpPr>
        <p:sp>
          <p:nvSpPr>
            <p:cNvPr id="5" name="TextBox 4">
              <a:extLst>
                <a:ext uri="{FF2B5EF4-FFF2-40B4-BE49-F238E27FC236}">
                  <a16:creationId xmlns:a16="http://schemas.microsoft.com/office/drawing/2014/main" id="{E429066F-F418-4EF4-E216-050EB28A4D01}"/>
                </a:ext>
              </a:extLst>
            </p:cNvPr>
            <p:cNvSpPr txBox="1"/>
            <p:nvPr/>
          </p:nvSpPr>
          <p:spPr>
            <a:xfrm>
              <a:off x="730217" y="4597400"/>
              <a:ext cx="3149599" cy="1200329"/>
            </a:xfrm>
            <a:prstGeom prst="rect">
              <a:avLst/>
            </a:prstGeom>
            <a:noFill/>
          </p:spPr>
          <p:txBody>
            <a:bodyPr wrap="square" rtlCol="0">
              <a:spAutoFit/>
            </a:bodyPr>
            <a:lstStyle/>
            <a:p>
              <a:pPr algn="ctr"/>
              <a:r>
                <a:rPr lang="en-US" dirty="0">
                  <a:latin typeface="Optima" panose="02000503060000020004" pitchFamily="2" charset="0"/>
                </a:rPr>
                <a:t>Aim of the project is how Legal Judgment Prediction can be improved using Small Language Models.</a:t>
              </a:r>
            </a:p>
          </p:txBody>
        </p:sp>
        <p:sp>
          <p:nvSpPr>
            <p:cNvPr id="7" name="5-point Star 6">
              <a:extLst>
                <a:ext uri="{FF2B5EF4-FFF2-40B4-BE49-F238E27FC236}">
                  <a16:creationId xmlns:a16="http://schemas.microsoft.com/office/drawing/2014/main" id="{58A760D1-4E49-4A42-1A35-A5F5684FFC18}"/>
                </a:ext>
              </a:extLst>
            </p:cNvPr>
            <p:cNvSpPr/>
            <p:nvPr/>
          </p:nvSpPr>
          <p:spPr>
            <a:xfrm>
              <a:off x="730217" y="4430332"/>
              <a:ext cx="300093" cy="289289"/>
            </a:xfrm>
            <a:prstGeom prst="star5">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551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CFA0E6-998A-5346-B552-DD2CE0AA1174}"/>
              </a:ext>
            </a:extLst>
          </p:cNvPr>
          <p:cNvSpPr txBox="1"/>
          <p:nvPr/>
        </p:nvSpPr>
        <p:spPr>
          <a:xfrm>
            <a:off x="574963" y="976701"/>
            <a:ext cx="11281240" cy="3785652"/>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Optima" panose="02000503060000020004" pitchFamily="2" charset="0"/>
              </a:rPr>
              <a:t>Pre-trained Language Model: </a:t>
            </a:r>
            <a:r>
              <a:rPr lang="en-US" sz="2000" dirty="0">
                <a:latin typeface="Optima" panose="02000503060000020004" pitchFamily="2" charset="0"/>
              </a:rPr>
              <a:t>A pre-trained language model is an AI trained on large text datasets from different sources like books, Wikipedia and etc. to understand and generate human language, allowing it to perform various NLP tasks.</a:t>
            </a:r>
          </a:p>
          <a:p>
            <a:pPr marL="285750" indent="-285750">
              <a:buFont typeface="Arial" panose="020B0604020202020204" pitchFamily="34" charset="0"/>
              <a:buChar char="•"/>
            </a:pPr>
            <a:endParaRPr lang="en-US" sz="2000" dirty="0">
              <a:latin typeface="Optima" panose="02000503060000020004" pitchFamily="2" charset="0"/>
            </a:endParaRPr>
          </a:p>
          <a:p>
            <a:pPr marL="285750" indent="-285750">
              <a:buFont typeface="Arial" panose="020B0604020202020204" pitchFamily="34" charset="0"/>
              <a:buChar char="•"/>
            </a:pPr>
            <a:r>
              <a:rPr lang="en-US" sz="2000" b="1" dirty="0">
                <a:latin typeface="Optima" panose="02000503060000020004" pitchFamily="2" charset="0"/>
              </a:rPr>
              <a:t>Fine-Tuning a Pre-trained Model: </a:t>
            </a:r>
            <a:r>
              <a:rPr lang="en-US" sz="2000" dirty="0">
                <a:latin typeface="Optima" panose="02000503060000020004" pitchFamily="2" charset="0"/>
              </a:rPr>
              <a:t>Fine-tuning involves further training a pre-trained language model on a specific, smaller dataset.</a:t>
            </a:r>
          </a:p>
          <a:p>
            <a:pPr marL="285750" indent="-285750">
              <a:buFont typeface="Arial" panose="020B0604020202020204" pitchFamily="34" charset="0"/>
              <a:buChar char="•"/>
            </a:pPr>
            <a:endParaRPr lang="en-US" sz="2000" dirty="0">
              <a:latin typeface="Optima" panose="02000503060000020004" pitchFamily="2" charset="0"/>
            </a:endParaRPr>
          </a:p>
          <a:p>
            <a:pPr marL="285750" indent="-285750">
              <a:buFont typeface="Arial" panose="020B0604020202020204" pitchFamily="34" charset="0"/>
              <a:buChar char="•"/>
            </a:pPr>
            <a:r>
              <a:rPr lang="en-US" sz="2000" b="1" dirty="0">
                <a:latin typeface="Optima" panose="02000503060000020004" pitchFamily="2" charset="0"/>
              </a:rPr>
              <a:t>LexGLUE: </a:t>
            </a:r>
            <a:r>
              <a:rPr lang="en-US" sz="2000" dirty="0">
                <a:latin typeface="Optima" panose="02000503060000020004" pitchFamily="2" charset="0"/>
              </a:rPr>
              <a:t> a benchmark dataset to evaluate the performance of NLP methods in legal tasks. LexGLUE is based on existing legal NLP datasets, which contains 8 different datasets within for tasks like Q&amp;A, multi-label classification and multi-class classification. </a:t>
            </a:r>
          </a:p>
          <a:p>
            <a:pPr marL="285750" indent="-285750">
              <a:buFont typeface="Arial" panose="020B0604020202020204" pitchFamily="34" charset="0"/>
              <a:buChar char="•"/>
            </a:pPr>
            <a:endParaRPr lang="en-US" sz="2000" dirty="0">
              <a:latin typeface="Optima" panose="02000503060000020004" pitchFamily="2" charset="0"/>
            </a:endParaRPr>
          </a:p>
          <a:p>
            <a:endParaRPr lang="en-US" sz="2000" dirty="0">
              <a:latin typeface="Optima" panose="02000503060000020004" pitchFamily="2" charset="0"/>
            </a:endParaRPr>
          </a:p>
        </p:txBody>
      </p:sp>
      <p:pic>
        <p:nvPicPr>
          <p:cNvPr id="8" name="Picture 7">
            <a:extLst>
              <a:ext uri="{FF2B5EF4-FFF2-40B4-BE49-F238E27FC236}">
                <a16:creationId xmlns:a16="http://schemas.microsoft.com/office/drawing/2014/main" id="{74043571-FFCC-018B-D5BA-C586B4F02BE7}"/>
              </a:ext>
            </a:extLst>
          </p:cNvPr>
          <p:cNvPicPr>
            <a:picLocks noChangeAspect="1"/>
          </p:cNvPicPr>
          <p:nvPr/>
        </p:nvPicPr>
        <p:blipFill rotWithShape="1">
          <a:blip r:embed="rId2"/>
          <a:srcRect l="13637" t="21469" r="10457" b="22712"/>
          <a:stretch/>
        </p:blipFill>
        <p:spPr>
          <a:xfrm>
            <a:off x="685103" y="4191000"/>
            <a:ext cx="3330432" cy="2586844"/>
          </a:xfrm>
          <a:prstGeom prst="rect">
            <a:avLst/>
          </a:prstGeom>
        </p:spPr>
      </p:pic>
      <p:sp>
        <p:nvSpPr>
          <p:cNvPr id="10" name="Title 1">
            <a:extLst>
              <a:ext uri="{FF2B5EF4-FFF2-40B4-BE49-F238E27FC236}">
                <a16:creationId xmlns:a16="http://schemas.microsoft.com/office/drawing/2014/main" id="{EDD0861B-DB25-CCBF-6E98-D25B7E983B40}"/>
              </a:ext>
            </a:extLst>
          </p:cNvPr>
          <p:cNvSpPr txBox="1">
            <a:spLocks/>
          </p:cNvSpPr>
          <p:nvPr/>
        </p:nvSpPr>
        <p:spPr>
          <a:xfrm>
            <a:off x="4315691" y="355063"/>
            <a:ext cx="3560617" cy="5593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u="sng" dirty="0">
                <a:latin typeface="Times New Roman" panose="02020603050405020304" pitchFamily="18" charset="0"/>
                <a:cs typeface="Times New Roman" panose="02020603050405020304" pitchFamily="18" charset="0"/>
              </a:rPr>
              <a:t>Methods </a:t>
            </a:r>
          </a:p>
        </p:txBody>
      </p:sp>
    </p:spTree>
    <p:extLst>
      <p:ext uri="{BB962C8B-B14F-4D97-AF65-F5344CB8AC3E}">
        <p14:creationId xmlns:p14="http://schemas.microsoft.com/office/powerpoint/2010/main" val="2598187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8CF124-6785-B523-8CA3-CA2E041436A4}"/>
              </a:ext>
            </a:extLst>
          </p:cNvPr>
          <p:cNvSpPr txBox="1"/>
          <p:nvPr/>
        </p:nvSpPr>
        <p:spPr>
          <a:xfrm>
            <a:off x="610955" y="684524"/>
            <a:ext cx="1097009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sz="2400" b="1" dirty="0">
                <a:latin typeface="Optima" panose="02000503060000020004" pitchFamily="2" charset="0"/>
              </a:rPr>
              <a:t>Task Type: Multi-Label Sequence Classification: </a:t>
            </a:r>
            <a:r>
              <a:rPr lang="en-US" sz="2400" dirty="0">
                <a:latin typeface="Optima" panose="02000503060000020004" pitchFamily="2" charset="0"/>
              </a:rPr>
              <a:t>The task involves multi-label classification, where the model must predict multiple possible labels (i.e., ECHR articles) if any violated from a case description, showcasing its capability to handle complex legal scenarios with multiple violations.</a:t>
            </a:r>
          </a:p>
          <a:p>
            <a:pPr marL="285750" indent="-285750" algn="just">
              <a:buFont typeface="Arial" panose="020B0604020202020204" pitchFamily="34" charset="0"/>
              <a:buChar char="•"/>
            </a:pPr>
            <a:endParaRPr lang="en-US" sz="2400" dirty="0">
              <a:latin typeface="Optima" panose="02000503060000020004" pitchFamily="2" charset="0"/>
            </a:endParaRPr>
          </a:p>
          <a:p>
            <a:pPr marL="285750" indent="-285750" algn="just">
              <a:buFont typeface="Arial" panose="020B0604020202020204" pitchFamily="34" charset="0"/>
              <a:buChar char="•"/>
            </a:pPr>
            <a:r>
              <a:rPr lang="en-US" sz="2400" dirty="0">
                <a:latin typeface="Optima" panose="02000503060000020004" pitchFamily="2" charset="0"/>
              </a:rPr>
              <a:t>Example of training data; LexGLUE (ECTHR Task A)</a:t>
            </a:r>
          </a:p>
        </p:txBody>
      </p:sp>
      <p:graphicFrame>
        <p:nvGraphicFramePr>
          <p:cNvPr id="3" name="Table 2">
            <a:extLst>
              <a:ext uri="{FF2B5EF4-FFF2-40B4-BE49-F238E27FC236}">
                <a16:creationId xmlns:a16="http://schemas.microsoft.com/office/drawing/2014/main" id="{C73E1C97-4F3F-AA52-BE7C-8E1D9D695264}"/>
              </a:ext>
            </a:extLst>
          </p:cNvPr>
          <p:cNvGraphicFramePr>
            <a:graphicFrameLocks noGrp="1"/>
          </p:cNvGraphicFramePr>
          <p:nvPr>
            <p:extLst>
              <p:ext uri="{D42A27DB-BD31-4B8C-83A1-F6EECF244321}">
                <p14:modId xmlns:p14="http://schemas.microsoft.com/office/powerpoint/2010/main" val="151226343"/>
              </p:ext>
            </p:extLst>
          </p:nvPr>
        </p:nvGraphicFramePr>
        <p:xfrm>
          <a:off x="835891" y="3704596"/>
          <a:ext cx="10520218" cy="2468880"/>
        </p:xfrm>
        <a:graphic>
          <a:graphicData uri="http://schemas.openxmlformats.org/drawingml/2006/table">
            <a:tbl>
              <a:tblPr firstRow="1" bandRow="1">
                <a:tableStyleId>{5FD0F851-EC5A-4D38-B0AD-8093EC10F338}</a:tableStyleId>
              </a:tblPr>
              <a:tblGrid>
                <a:gridCol w="7998691">
                  <a:extLst>
                    <a:ext uri="{9D8B030D-6E8A-4147-A177-3AD203B41FA5}">
                      <a16:colId xmlns:a16="http://schemas.microsoft.com/office/drawing/2014/main" val="2552607924"/>
                    </a:ext>
                  </a:extLst>
                </a:gridCol>
                <a:gridCol w="2521527">
                  <a:extLst>
                    <a:ext uri="{9D8B030D-6E8A-4147-A177-3AD203B41FA5}">
                      <a16:colId xmlns:a16="http://schemas.microsoft.com/office/drawing/2014/main" val="2984362236"/>
                    </a:ext>
                  </a:extLst>
                </a:gridCol>
              </a:tblGrid>
              <a:tr h="363293">
                <a:tc>
                  <a:txBody>
                    <a:bodyPr/>
                    <a:lstStyle/>
                    <a:p>
                      <a:pPr algn="ctr"/>
                      <a:r>
                        <a:rPr lang="en-US" b="0" dirty="0"/>
                        <a:t>Case Description</a:t>
                      </a:r>
                      <a:endParaRPr lang="en-US" b="0" i="0" dirty="0">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Label</a:t>
                      </a:r>
                      <a:endParaRPr lang="en-US" b="0" i="0" dirty="0">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927091"/>
                  </a:ext>
                </a:extLst>
              </a:tr>
              <a:tr h="1808813">
                <a:tc>
                  <a:txBody>
                    <a:bodyPr/>
                    <a:lstStyle/>
                    <a:p>
                      <a:pPr algn="just"/>
                      <a:r>
                        <a:rPr lang="en-GB" sz="1200" b="0" dirty="0">
                          <a:effectLst/>
                        </a:rPr>
                        <a:t>The applicant was born in 1904 and lived in Warsaw. He was the co-owner of a plot of land and a house in Warsaw.", "9. On 23 September 1980 G.G., one of the co-owners (“the petitioner”) filed with the Warsaw-Praga District Court (Sąd Rejonowy) an application for division of the property.", "10. On 2 August 1984 the District Court gave a decision and divided the property. On 21 January 1985, on the applicant’s appeal, the Warsaw Regional Court (Sąd Wojewódzki) quashed the decision and remitted the case to the District Court.", "11. On 24 September 1986, at the request of the petitioner, the District Court issued an interim order enjoining third parties from entering the attic of the house. On 27 May 1988 the court issued another interim order enjoining the applicant and his wife from carrying out any work to the house. On 24 November 1989 the court rejected another request of the petitioner for an interim order.", "12. Having obtained a number of expert reports, the District Court gave a preliminary decision (postanowienie wstępne) on 22 December 1989. It determined that the house in question consisted of two apartments, basements and an attic. On 9 July 1990, on the applicant’s appeal, the Regional Court quashed this decision…</a:t>
                      </a:r>
                      <a:endParaRPr lang="en-GB" sz="1200" b="0" i="0" dirty="0">
                        <a:effectLst/>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[3,4]</a:t>
                      </a:r>
                      <a:endParaRPr lang="en-US" b="0" i="0" dirty="0">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451012"/>
                  </a:ext>
                </a:extLst>
              </a:tr>
            </a:tbl>
          </a:graphicData>
        </a:graphic>
      </p:graphicFrame>
    </p:spTree>
    <p:extLst>
      <p:ext uri="{BB962C8B-B14F-4D97-AF65-F5344CB8AC3E}">
        <p14:creationId xmlns:p14="http://schemas.microsoft.com/office/powerpoint/2010/main" val="34459115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75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750" fill="hold"/>
                                        <p:tgtEl>
                                          <p:spTgt spid="3"/>
                                        </p:tgtEl>
                                        <p:attrNameLst>
                                          <p:attrName>ppt_x</p:attrName>
                                        </p:attrNameLst>
                                      </p:cBhvr>
                                      <p:tavLst>
                                        <p:tav tm="0">
                                          <p:val>
                                            <p:strVal val="#ppt_x"/>
                                          </p:val>
                                        </p:tav>
                                        <p:tav tm="100000">
                                          <p:val>
                                            <p:strVal val="#ppt_x"/>
                                          </p:val>
                                        </p:tav>
                                      </p:tavLst>
                                    </p:anim>
                                    <p:anim calcmode="lin" valueType="num">
                                      <p:cBhvr additive="base">
                                        <p:cTn id="20" dur="7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D81E92-DF82-6704-F60F-0C706A674B96}"/>
              </a:ext>
            </a:extLst>
          </p:cNvPr>
          <p:cNvSpPr txBox="1">
            <a:spLocks/>
          </p:cNvSpPr>
          <p:nvPr/>
        </p:nvSpPr>
        <p:spPr>
          <a:xfrm>
            <a:off x="4315691" y="355063"/>
            <a:ext cx="3560617" cy="5593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sz="2400" b="1" u="sng" dirty="0">
                <a:latin typeface="Times New Roman" panose="02020603050405020304" pitchFamily="18" charset="0"/>
                <a:cs typeface="Times New Roman" panose="02020603050405020304" pitchFamily="18" charset="0"/>
              </a:rPr>
              <a:t>How To Achieve Aim ?</a:t>
            </a:r>
          </a:p>
        </p:txBody>
      </p:sp>
      <p:sp>
        <p:nvSpPr>
          <p:cNvPr id="5" name="TextBox 4">
            <a:extLst>
              <a:ext uri="{FF2B5EF4-FFF2-40B4-BE49-F238E27FC236}">
                <a16:creationId xmlns:a16="http://schemas.microsoft.com/office/drawing/2014/main" id="{73BDA573-A51D-362E-17CC-E5437151B8CA}"/>
              </a:ext>
            </a:extLst>
          </p:cNvPr>
          <p:cNvSpPr txBox="1"/>
          <p:nvPr/>
        </p:nvSpPr>
        <p:spPr>
          <a:xfrm>
            <a:off x="465774" y="1045153"/>
            <a:ext cx="11088918" cy="2923877"/>
          </a:xfrm>
          <a:prstGeom prst="rect">
            <a:avLst/>
          </a:prstGeom>
          <a:noFill/>
        </p:spPr>
        <p:txBody>
          <a:bodyPr wrap="square" rtlCol="0">
            <a:spAutoFit/>
          </a:bodyPr>
          <a:lstStyle/>
          <a:p>
            <a:pPr marL="285750" indent="-285750" algn="just">
              <a:buFont typeface="Arial" panose="020B0604020202020204" pitchFamily="34" charset="0"/>
              <a:buChar char="•"/>
            </a:pPr>
            <a:r>
              <a:rPr lang="en-GB" sz="2000" dirty="0">
                <a:latin typeface="Optima" panose="02000503060000020004" pitchFamily="2" charset="0"/>
              </a:rPr>
              <a:t>Using pre-trained language models such as Phi-2, GPT-2, Gemma-2-2b and </a:t>
            </a:r>
            <a:r>
              <a:rPr lang="en-GB" sz="2000" dirty="0" err="1">
                <a:latin typeface="Optima" panose="02000503060000020004" pitchFamily="2" charset="0"/>
              </a:rPr>
              <a:t>RoBERTa</a:t>
            </a:r>
            <a:r>
              <a:rPr lang="en-GB" sz="2000" dirty="0">
                <a:latin typeface="Optima" panose="02000503060000020004" pitchFamily="2" charset="0"/>
              </a:rPr>
              <a:t> wrapped with classification layer which uses Sigmoid function to get the probability for 11 labels (0 to 9th for articles, and 10th for “No article violated”). </a:t>
            </a:r>
          </a:p>
          <a:p>
            <a:pPr marL="285750" indent="-285750" algn="just">
              <a:buFont typeface="Arial" panose="020B0604020202020204" pitchFamily="34" charset="0"/>
              <a:buChar char="•"/>
            </a:pPr>
            <a:endParaRPr lang="en-GB" sz="2000" dirty="0">
              <a:latin typeface="Optima" panose="02000503060000020004" pitchFamily="2" charset="0"/>
            </a:endParaRPr>
          </a:p>
          <a:p>
            <a:pPr marL="285750" indent="-285750" algn="just">
              <a:buFont typeface="Arial" panose="020B0604020202020204" pitchFamily="34" charset="0"/>
              <a:buChar char="•"/>
            </a:pPr>
            <a:r>
              <a:rPr lang="en-US" sz="2000" dirty="0">
                <a:latin typeface="Optima" panose="02000503060000020004" pitchFamily="2" charset="0"/>
              </a:rPr>
              <a:t>These smaller models are advantageous because they have fewer trainable parameters, which not only reduces the computational resources required for fine-tuning but also minimizes their carbon footprint.</a:t>
            </a:r>
          </a:p>
          <a:p>
            <a:pPr marL="285750" indent="-285750" algn="just">
              <a:buFont typeface="Arial" panose="020B0604020202020204" pitchFamily="34" charset="0"/>
              <a:buChar char="•"/>
            </a:pPr>
            <a:endParaRPr lang="en-US" sz="2200" dirty="0">
              <a:latin typeface="Optima" panose="02000503060000020004" pitchFamily="2" charset="0"/>
            </a:endParaRPr>
          </a:p>
          <a:p>
            <a:pPr marL="285750" indent="-285750" algn="just">
              <a:buFont typeface="Arial" panose="020B0604020202020204" pitchFamily="34" charset="0"/>
              <a:buChar char="•"/>
            </a:pPr>
            <a:endParaRPr lang="en-US" sz="2200" dirty="0">
              <a:latin typeface="Optima" panose="02000503060000020004" pitchFamily="2" charset="0"/>
            </a:endParaRPr>
          </a:p>
        </p:txBody>
      </p:sp>
      <p:pic>
        <p:nvPicPr>
          <p:cNvPr id="15" name="Picture 14">
            <a:extLst>
              <a:ext uri="{FF2B5EF4-FFF2-40B4-BE49-F238E27FC236}">
                <a16:creationId xmlns:a16="http://schemas.microsoft.com/office/drawing/2014/main" id="{807C6916-D05D-C0B6-F265-8E5A48FFDB55}"/>
              </a:ext>
            </a:extLst>
          </p:cNvPr>
          <p:cNvPicPr>
            <a:picLocks noChangeAspect="1"/>
          </p:cNvPicPr>
          <p:nvPr/>
        </p:nvPicPr>
        <p:blipFill rotWithShape="1">
          <a:blip r:embed="rId2"/>
          <a:srcRect t="55324" r="74866"/>
          <a:stretch/>
        </p:blipFill>
        <p:spPr>
          <a:xfrm>
            <a:off x="1642999" y="3603087"/>
            <a:ext cx="1953491" cy="1272371"/>
          </a:xfrm>
          <a:prstGeom prst="rect">
            <a:avLst/>
          </a:prstGeom>
        </p:spPr>
      </p:pic>
      <p:pic>
        <p:nvPicPr>
          <p:cNvPr id="17" name="Picture 16">
            <a:extLst>
              <a:ext uri="{FF2B5EF4-FFF2-40B4-BE49-F238E27FC236}">
                <a16:creationId xmlns:a16="http://schemas.microsoft.com/office/drawing/2014/main" id="{BBA32BC5-D882-CC94-9437-5667C9B3E35E}"/>
              </a:ext>
            </a:extLst>
          </p:cNvPr>
          <p:cNvPicPr>
            <a:picLocks noChangeAspect="1"/>
          </p:cNvPicPr>
          <p:nvPr/>
        </p:nvPicPr>
        <p:blipFill>
          <a:blip r:embed="rId3"/>
          <a:stretch>
            <a:fillRect/>
          </a:stretch>
        </p:blipFill>
        <p:spPr>
          <a:xfrm>
            <a:off x="341083" y="5067815"/>
            <a:ext cx="1953491" cy="1242095"/>
          </a:xfrm>
          <a:prstGeom prst="rect">
            <a:avLst/>
          </a:prstGeom>
          <a:ln w="6350">
            <a:solidFill>
              <a:schemeClr val="tx1"/>
            </a:solidFill>
          </a:ln>
        </p:spPr>
      </p:pic>
      <p:pic>
        <p:nvPicPr>
          <p:cNvPr id="20" name="Picture 19">
            <a:extLst>
              <a:ext uri="{FF2B5EF4-FFF2-40B4-BE49-F238E27FC236}">
                <a16:creationId xmlns:a16="http://schemas.microsoft.com/office/drawing/2014/main" id="{B49A73A1-4642-518C-5D0B-84C48D062D33}"/>
              </a:ext>
            </a:extLst>
          </p:cNvPr>
          <p:cNvPicPr>
            <a:picLocks noChangeAspect="1"/>
          </p:cNvPicPr>
          <p:nvPr/>
        </p:nvPicPr>
        <p:blipFill rotWithShape="1">
          <a:blip r:embed="rId4"/>
          <a:srcRect l="16883" t="223" r="13164" b="13525"/>
          <a:stretch/>
        </p:blipFill>
        <p:spPr>
          <a:xfrm>
            <a:off x="9218514" y="4065331"/>
            <a:ext cx="2336178" cy="1620253"/>
          </a:xfrm>
          <a:prstGeom prst="rect">
            <a:avLst/>
          </a:prstGeom>
        </p:spPr>
      </p:pic>
      <p:pic>
        <p:nvPicPr>
          <p:cNvPr id="22" name="Picture 21">
            <a:extLst>
              <a:ext uri="{FF2B5EF4-FFF2-40B4-BE49-F238E27FC236}">
                <a16:creationId xmlns:a16="http://schemas.microsoft.com/office/drawing/2014/main" id="{ABD51F7E-897C-D7FA-0AA3-CB8E0FED0589}"/>
              </a:ext>
            </a:extLst>
          </p:cNvPr>
          <p:cNvPicPr>
            <a:picLocks noChangeAspect="1"/>
          </p:cNvPicPr>
          <p:nvPr/>
        </p:nvPicPr>
        <p:blipFill>
          <a:blip r:embed="rId5"/>
          <a:stretch>
            <a:fillRect/>
          </a:stretch>
        </p:blipFill>
        <p:spPr>
          <a:xfrm>
            <a:off x="4773714" y="3172691"/>
            <a:ext cx="2486068" cy="3553485"/>
          </a:xfrm>
          <a:prstGeom prst="rect">
            <a:avLst/>
          </a:prstGeom>
        </p:spPr>
      </p:pic>
    </p:spTree>
    <p:extLst>
      <p:ext uri="{BB962C8B-B14F-4D97-AF65-F5344CB8AC3E}">
        <p14:creationId xmlns:p14="http://schemas.microsoft.com/office/powerpoint/2010/main" val="92618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1000"/>
                                        <p:tgtEl>
                                          <p:spTgt spid="15"/>
                                        </p:tgtEl>
                                      </p:cBhvr>
                                    </p:animEffect>
                                  </p:childTnLst>
                                </p:cTn>
                              </p:par>
                              <p:par>
                                <p:cTn id="8" presetID="9"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dissolve">
                                      <p:cBhvr>
                                        <p:cTn id="10" dur="10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linds(horizontal)">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 calcmode="lin" valueType="num">
                                      <p:cBhvr additive="base">
                                        <p:cTn id="26"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 calcmode="lin" valueType="num">
                                      <p:cBhvr additive="base">
                                        <p:cTn id="3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7C1E4-41D9-011C-95C7-9BA281E1C66A}"/>
              </a:ext>
            </a:extLst>
          </p:cNvPr>
          <p:cNvSpPr>
            <a:spLocks noGrp="1"/>
          </p:cNvSpPr>
          <p:nvPr>
            <p:ph type="title"/>
          </p:nvPr>
        </p:nvSpPr>
        <p:spPr>
          <a:xfrm>
            <a:off x="4447023" y="464141"/>
            <a:ext cx="3297954" cy="559329"/>
          </a:xfrm>
        </p:spPr>
        <p:txBody>
          <a:bodyPr anchor="t">
            <a:normAutofit/>
          </a:bodyPr>
          <a:lstStyle/>
          <a:p>
            <a:pPr algn="ctr"/>
            <a:r>
              <a:rPr lang="en-US" sz="2800" b="1" u="sng" dirty="0">
                <a:latin typeface="Times New Roman" panose="02020603050405020304" pitchFamily="18" charset="0"/>
                <a:cs typeface="Times New Roman" panose="02020603050405020304" pitchFamily="18" charset="0"/>
              </a:rPr>
              <a:t>FINE-TUNING</a:t>
            </a:r>
          </a:p>
        </p:txBody>
      </p:sp>
      <p:sp>
        <p:nvSpPr>
          <p:cNvPr id="83" name="TextBox 82">
            <a:extLst>
              <a:ext uri="{FF2B5EF4-FFF2-40B4-BE49-F238E27FC236}">
                <a16:creationId xmlns:a16="http://schemas.microsoft.com/office/drawing/2014/main" id="{5CF4CE5A-AD67-A347-724F-AE2CA8155256}"/>
              </a:ext>
            </a:extLst>
          </p:cNvPr>
          <p:cNvSpPr txBox="1"/>
          <p:nvPr/>
        </p:nvSpPr>
        <p:spPr>
          <a:xfrm>
            <a:off x="4027091" y="4139631"/>
            <a:ext cx="2284882" cy="230832"/>
          </a:xfrm>
          <a:prstGeom prst="rect">
            <a:avLst/>
          </a:prstGeom>
          <a:solidFill>
            <a:schemeClr val="bg1"/>
          </a:solidFill>
        </p:spPr>
        <p:txBody>
          <a:bodyPr wrap="square" rtlCol="0">
            <a:spAutoFit/>
          </a:bodyPr>
          <a:lstStyle/>
          <a:p>
            <a:endParaRPr lang="en-US" sz="900" dirty="0">
              <a:latin typeface="Arial Hebrew" pitchFamily="2" charset="-79"/>
              <a:cs typeface="Arial Hebrew" pitchFamily="2" charset="-79"/>
            </a:endParaRPr>
          </a:p>
        </p:txBody>
      </p:sp>
      <p:grpSp>
        <p:nvGrpSpPr>
          <p:cNvPr id="4" name="Group 3">
            <a:extLst>
              <a:ext uri="{FF2B5EF4-FFF2-40B4-BE49-F238E27FC236}">
                <a16:creationId xmlns:a16="http://schemas.microsoft.com/office/drawing/2014/main" id="{51A882D0-D5B2-0207-91B0-0B7D387B36C8}"/>
              </a:ext>
            </a:extLst>
          </p:cNvPr>
          <p:cNvGrpSpPr/>
          <p:nvPr/>
        </p:nvGrpSpPr>
        <p:grpSpPr>
          <a:xfrm>
            <a:off x="432427" y="1416917"/>
            <a:ext cx="10179426" cy="4360950"/>
            <a:chOff x="432427" y="1416917"/>
            <a:chExt cx="10179426" cy="4360950"/>
          </a:xfrm>
        </p:grpSpPr>
        <p:grpSp>
          <p:nvGrpSpPr>
            <p:cNvPr id="92" name="Group 91">
              <a:extLst>
                <a:ext uri="{FF2B5EF4-FFF2-40B4-BE49-F238E27FC236}">
                  <a16:creationId xmlns:a16="http://schemas.microsoft.com/office/drawing/2014/main" id="{6D355EF1-060C-F8D6-A862-ED52DC86C8BE}"/>
                </a:ext>
              </a:extLst>
            </p:cNvPr>
            <p:cNvGrpSpPr/>
            <p:nvPr/>
          </p:nvGrpSpPr>
          <p:grpSpPr>
            <a:xfrm>
              <a:off x="432427" y="1416917"/>
              <a:ext cx="10179426" cy="4360950"/>
              <a:chOff x="432427" y="1416917"/>
              <a:chExt cx="10179426" cy="4360950"/>
            </a:xfrm>
          </p:grpSpPr>
          <p:grpSp>
            <p:nvGrpSpPr>
              <p:cNvPr id="90" name="Group 89">
                <a:extLst>
                  <a:ext uri="{FF2B5EF4-FFF2-40B4-BE49-F238E27FC236}">
                    <a16:creationId xmlns:a16="http://schemas.microsoft.com/office/drawing/2014/main" id="{720F5773-11F5-DC9C-900F-5B9CFE54FC2A}"/>
                  </a:ext>
                </a:extLst>
              </p:cNvPr>
              <p:cNvGrpSpPr/>
              <p:nvPr/>
            </p:nvGrpSpPr>
            <p:grpSpPr>
              <a:xfrm>
                <a:off x="432427" y="1416917"/>
                <a:ext cx="10179426" cy="4360950"/>
                <a:chOff x="432427" y="1416917"/>
                <a:chExt cx="10179426" cy="4360950"/>
              </a:xfrm>
            </p:grpSpPr>
            <p:grpSp>
              <p:nvGrpSpPr>
                <p:cNvPr id="89" name="Group 88">
                  <a:extLst>
                    <a:ext uri="{FF2B5EF4-FFF2-40B4-BE49-F238E27FC236}">
                      <a16:creationId xmlns:a16="http://schemas.microsoft.com/office/drawing/2014/main" id="{28917FF9-C6F8-1213-D9CC-1334CAF42A00}"/>
                    </a:ext>
                  </a:extLst>
                </p:cNvPr>
                <p:cNvGrpSpPr/>
                <p:nvPr/>
              </p:nvGrpSpPr>
              <p:grpSpPr>
                <a:xfrm>
                  <a:off x="432427" y="1416917"/>
                  <a:ext cx="10179426" cy="4360950"/>
                  <a:chOff x="432427" y="1416917"/>
                  <a:chExt cx="10179426" cy="4360950"/>
                </a:xfrm>
              </p:grpSpPr>
              <p:grpSp>
                <p:nvGrpSpPr>
                  <p:cNvPr id="79" name="Group 78">
                    <a:extLst>
                      <a:ext uri="{FF2B5EF4-FFF2-40B4-BE49-F238E27FC236}">
                        <a16:creationId xmlns:a16="http://schemas.microsoft.com/office/drawing/2014/main" id="{B8EF8C8C-5E89-22C1-AF2C-A5EE785147EE}"/>
                      </a:ext>
                    </a:extLst>
                  </p:cNvPr>
                  <p:cNvGrpSpPr/>
                  <p:nvPr/>
                </p:nvGrpSpPr>
                <p:grpSpPr>
                  <a:xfrm>
                    <a:off x="432427" y="1416917"/>
                    <a:ext cx="10179426" cy="4244836"/>
                    <a:chOff x="365870" y="1751870"/>
                    <a:chExt cx="10179426" cy="4244836"/>
                  </a:xfrm>
                </p:grpSpPr>
                <p:pic>
                  <p:nvPicPr>
                    <p:cNvPr id="7" name="Picture 6">
                      <a:extLst>
                        <a:ext uri="{FF2B5EF4-FFF2-40B4-BE49-F238E27FC236}">
                          <a16:creationId xmlns:a16="http://schemas.microsoft.com/office/drawing/2014/main" id="{67C3AAB1-0C7E-EE11-5D29-10E1EB0A6F7E}"/>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Effect>
                                <a14:saturation sat="33000"/>
                              </a14:imgEffect>
                            </a14:imgLayer>
                          </a14:imgProps>
                        </a:ext>
                      </a:extLst>
                    </a:blip>
                    <a:srcRect t="29801"/>
                    <a:stretch/>
                  </p:blipFill>
                  <p:spPr>
                    <a:xfrm>
                      <a:off x="2772896" y="1841522"/>
                      <a:ext cx="7772400" cy="3069104"/>
                    </a:xfrm>
                    <a:prstGeom prst="rect">
                      <a:avLst/>
                    </a:prstGeom>
                    <a:ln>
                      <a:noFill/>
                    </a:ln>
                    <a:effectLst>
                      <a:softEdge rad="112500"/>
                    </a:effectLst>
                  </p:spPr>
                </p:pic>
                <p:grpSp>
                  <p:nvGrpSpPr>
                    <p:cNvPr id="76" name="Group 75">
                      <a:extLst>
                        <a:ext uri="{FF2B5EF4-FFF2-40B4-BE49-F238E27FC236}">
                          <a16:creationId xmlns:a16="http://schemas.microsoft.com/office/drawing/2014/main" id="{748DEDAE-EAD0-5A24-9EBE-C03246A87DE9}"/>
                        </a:ext>
                      </a:extLst>
                    </p:cNvPr>
                    <p:cNvGrpSpPr/>
                    <p:nvPr/>
                  </p:nvGrpSpPr>
                  <p:grpSpPr>
                    <a:xfrm>
                      <a:off x="365870" y="1751870"/>
                      <a:ext cx="2561668" cy="4244836"/>
                      <a:chOff x="365869" y="1634231"/>
                      <a:chExt cx="2561668" cy="4244836"/>
                    </a:xfrm>
                  </p:grpSpPr>
                  <p:cxnSp>
                    <p:nvCxnSpPr>
                      <p:cNvPr id="25" name="Curved Connector 24">
                        <a:extLst>
                          <a:ext uri="{FF2B5EF4-FFF2-40B4-BE49-F238E27FC236}">
                            <a16:creationId xmlns:a16="http://schemas.microsoft.com/office/drawing/2014/main" id="{5A1936DB-935D-9C9B-0AF9-087FE1CC6EE8}"/>
                          </a:ext>
                        </a:extLst>
                      </p:cNvPr>
                      <p:cNvCxnSpPr>
                        <a:cxnSpLocks/>
                        <a:stCxn id="23" idx="2"/>
                        <a:endCxn id="8" idx="0"/>
                      </p:cNvCxnSpPr>
                      <p:nvPr/>
                    </p:nvCxnSpPr>
                    <p:spPr>
                      <a:xfrm rot="16200000" flipH="1">
                        <a:off x="2335454" y="2047562"/>
                        <a:ext cx="250529" cy="347196"/>
                      </a:xfrm>
                      <a:prstGeom prst="curvedConnector3">
                        <a:avLst>
                          <a:gd name="adj1" fmla="val 50000"/>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53ED3129-7A59-1A81-290C-C1BB7E422ED4}"/>
                          </a:ext>
                        </a:extLst>
                      </p:cNvPr>
                      <p:cNvGrpSpPr/>
                      <p:nvPr/>
                    </p:nvGrpSpPr>
                    <p:grpSpPr>
                      <a:xfrm>
                        <a:off x="2341095" y="2346425"/>
                        <a:ext cx="586442" cy="2877344"/>
                        <a:chOff x="1089211" y="1723465"/>
                        <a:chExt cx="309283" cy="2446712"/>
                      </a:xfrm>
                    </p:grpSpPr>
                    <p:grpSp>
                      <p:nvGrpSpPr>
                        <p:cNvPr id="14" name="Group 13">
                          <a:extLst>
                            <a:ext uri="{FF2B5EF4-FFF2-40B4-BE49-F238E27FC236}">
                              <a16:creationId xmlns:a16="http://schemas.microsoft.com/office/drawing/2014/main" id="{4289E62D-F35D-CC9C-F04F-1A1E5514C2D1}"/>
                            </a:ext>
                          </a:extLst>
                        </p:cNvPr>
                        <p:cNvGrpSpPr/>
                        <p:nvPr/>
                      </p:nvGrpSpPr>
                      <p:grpSpPr>
                        <a:xfrm>
                          <a:off x="1089211" y="1723465"/>
                          <a:ext cx="309283" cy="1227200"/>
                          <a:chOff x="1089211" y="1723465"/>
                          <a:chExt cx="309283" cy="1227200"/>
                        </a:xfrm>
                      </p:grpSpPr>
                      <p:grpSp>
                        <p:nvGrpSpPr>
                          <p:cNvPr id="10" name="Group 9">
                            <a:extLst>
                              <a:ext uri="{FF2B5EF4-FFF2-40B4-BE49-F238E27FC236}">
                                <a16:creationId xmlns:a16="http://schemas.microsoft.com/office/drawing/2014/main" id="{0E6D97BE-8008-90D4-1C6B-5F0588B6C9E7}"/>
                              </a:ext>
                            </a:extLst>
                          </p:cNvPr>
                          <p:cNvGrpSpPr/>
                          <p:nvPr/>
                        </p:nvGrpSpPr>
                        <p:grpSpPr>
                          <a:xfrm>
                            <a:off x="1089211" y="1723465"/>
                            <a:ext cx="309283" cy="618564"/>
                            <a:chOff x="1680882" y="1828800"/>
                            <a:chExt cx="309283" cy="618564"/>
                          </a:xfrm>
                        </p:grpSpPr>
                        <p:sp>
                          <p:nvSpPr>
                            <p:cNvPr id="8" name="Rectangle 7">
                              <a:extLst>
                                <a:ext uri="{FF2B5EF4-FFF2-40B4-BE49-F238E27FC236}">
                                  <a16:creationId xmlns:a16="http://schemas.microsoft.com/office/drawing/2014/main" id="{08B2360B-0E2F-9D81-FFA4-97D7E2EDE6A7}"/>
                                </a:ext>
                              </a:extLst>
                            </p:cNvPr>
                            <p:cNvSpPr/>
                            <p:nvPr/>
                          </p:nvSpPr>
                          <p:spPr>
                            <a:xfrm>
                              <a:off x="1680882" y="1828800"/>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1209</a:t>
                              </a:r>
                            </a:p>
                          </p:txBody>
                        </p:sp>
                        <p:sp>
                          <p:nvSpPr>
                            <p:cNvPr id="9" name="Rectangle 8">
                              <a:extLst>
                                <a:ext uri="{FF2B5EF4-FFF2-40B4-BE49-F238E27FC236}">
                                  <a16:creationId xmlns:a16="http://schemas.microsoft.com/office/drawing/2014/main" id="{51836F5B-ADA2-1841-41B0-A45DA95125BD}"/>
                                </a:ext>
                              </a:extLst>
                            </p:cNvPr>
                            <p:cNvSpPr/>
                            <p:nvPr/>
                          </p:nvSpPr>
                          <p:spPr>
                            <a:xfrm>
                              <a:off x="1680882" y="2138082"/>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65748</a:t>
                              </a:r>
                            </a:p>
                          </p:txBody>
                        </p:sp>
                      </p:grpSp>
                      <p:grpSp>
                        <p:nvGrpSpPr>
                          <p:cNvPr id="11" name="Group 10">
                            <a:extLst>
                              <a:ext uri="{FF2B5EF4-FFF2-40B4-BE49-F238E27FC236}">
                                <a16:creationId xmlns:a16="http://schemas.microsoft.com/office/drawing/2014/main" id="{62600777-4552-9AFA-03EB-E42FD220F153}"/>
                              </a:ext>
                            </a:extLst>
                          </p:cNvPr>
                          <p:cNvGrpSpPr/>
                          <p:nvPr/>
                        </p:nvGrpSpPr>
                        <p:grpSpPr>
                          <a:xfrm>
                            <a:off x="1089211" y="2332101"/>
                            <a:ext cx="309283" cy="618564"/>
                            <a:chOff x="1680882" y="1828800"/>
                            <a:chExt cx="309283" cy="618564"/>
                          </a:xfrm>
                        </p:grpSpPr>
                        <p:sp>
                          <p:nvSpPr>
                            <p:cNvPr id="12" name="Rectangle 11">
                              <a:extLst>
                                <a:ext uri="{FF2B5EF4-FFF2-40B4-BE49-F238E27FC236}">
                                  <a16:creationId xmlns:a16="http://schemas.microsoft.com/office/drawing/2014/main" id="{01589BCD-A146-2DE0-3CF7-F5C275A082D9}"/>
                                </a:ext>
                              </a:extLst>
                            </p:cNvPr>
                            <p:cNvSpPr/>
                            <p:nvPr/>
                          </p:nvSpPr>
                          <p:spPr>
                            <a:xfrm>
                              <a:off x="1680882" y="1828800"/>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2387</a:t>
                              </a:r>
                            </a:p>
                          </p:txBody>
                        </p:sp>
                        <p:sp>
                          <p:nvSpPr>
                            <p:cNvPr id="13" name="Rectangle 12">
                              <a:extLst>
                                <a:ext uri="{FF2B5EF4-FFF2-40B4-BE49-F238E27FC236}">
                                  <a16:creationId xmlns:a16="http://schemas.microsoft.com/office/drawing/2014/main" id="{858B87E8-EFE4-C564-88F9-6C64836C7BBE}"/>
                                </a:ext>
                              </a:extLst>
                            </p:cNvPr>
                            <p:cNvSpPr/>
                            <p:nvPr/>
                          </p:nvSpPr>
                          <p:spPr>
                            <a:xfrm>
                              <a:off x="1680882" y="2138082"/>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4589</a:t>
                              </a:r>
                            </a:p>
                          </p:txBody>
                        </p:sp>
                      </p:grpSp>
                    </p:grpSp>
                    <p:grpSp>
                      <p:nvGrpSpPr>
                        <p:cNvPr id="15" name="Group 14">
                          <a:extLst>
                            <a:ext uri="{FF2B5EF4-FFF2-40B4-BE49-F238E27FC236}">
                              <a16:creationId xmlns:a16="http://schemas.microsoft.com/office/drawing/2014/main" id="{EBC7B28B-9F67-701D-2A38-8C6A02607737}"/>
                            </a:ext>
                          </a:extLst>
                        </p:cNvPr>
                        <p:cNvGrpSpPr/>
                        <p:nvPr/>
                      </p:nvGrpSpPr>
                      <p:grpSpPr>
                        <a:xfrm>
                          <a:off x="1089211" y="2942977"/>
                          <a:ext cx="309283" cy="1227200"/>
                          <a:chOff x="1089211" y="1723465"/>
                          <a:chExt cx="309283" cy="1227200"/>
                        </a:xfrm>
                      </p:grpSpPr>
                      <p:grpSp>
                        <p:nvGrpSpPr>
                          <p:cNvPr id="16" name="Group 15">
                            <a:extLst>
                              <a:ext uri="{FF2B5EF4-FFF2-40B4-BE49-F238E27FC236}">
                                <a16:creationId xmlns:a16="http://schemas.microsoft.com/office/drawing/2014/main" id="{C209F96E-EEB5-A108-1481-BCB79EFCDE27}"/>
                              </a:ext>
                            </a:extLst>
                          </p:cNvPr>
                          <p:cNvGrpSpPr/>
                          <p:nvPr/>
                        </p:nvGrpSpPr>
                        <p:grpSpPr>
                          <a:xfrm>
                            <a:off x="1089211" y="1723465"/>
                            <a:ext cx="309283" cy="618564"/>
                            <a:chOff x="1680882" y="1828800"/>
                            <a:chExt cx="309283" cy="618564"/>
                          </a:xfrm>
                        </p:grpSpPr>
                        <p:sp>
                          <p:nvSpPr>
                            <p:cNvPr id="20" name="Rectangle 19">
                              <a:extLst>
                                <a:ext uri="{FF2B5EF4-FFF2-40B4-BE49-F238E27FC236}">
                                  <a16:creationId xmlns:a16="http://schemas.microsoft.com/office/drawing/2014/main" id="{AF4BA1FF-27FF-F146-6B2D-BEB7B488A338}"/>
                                </a:ext>
                              </a:extLst>
                            </p:cNvPr>
                            <p:cNvSpPr/>
                            <p:nvPr/>
                          </p:nvSpPr>
                          <p:spPr>
                            <a:xfrm>
                              <a:off x="1680882" y="1828800"/>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a:t>
                              </a:r>
                            </a:p>
                          </p:txBody>
                        </p:sp>
                        <p:sp>
                          <p:nvSpPr>
                            <p:cNvPr id="21" name="Rectangle 20">
                              <a:extLst>
                                <a:ext uri="{FF2B5EF4-FFF2-40B4-BE49-F238E27FC236}">
                                  <a16:creationId xmlns:a16="http://schemas.microsoft.com/office/drawing/2014/main" id="{184327EF-0657-3689-5491-BEC467241282}"/>
                                </a:ext>
                              </a:extLst>
                            </p:cNvPr>
                            <p:cNvSpPr/>
                            <p:nvPr/>
                          </p:nvSpPr>
                          <p:spPr>
                            <a:xfrm>
                              <a:off x="1680882" y="2138082"/>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a:t>
                              </a:r>
                            </a:p>
                          </p:txBody>
                        </p:sp>
                      </p:grpSp>
                      <p:grpSp>
                        <p:nvGrpSpPr>
                          <p:cNvPr id="17" name="Group 16">
                            <a:extLst>
                              <a:ext uri="{FF2B5EF4-FFF2-40B4-BE49-F238E27FC236}">
                                <a16:creationId xmlns:a16="http://schemas.microsoft.com/office/drawing/2014/main" id="{05897FB7-DF81-4E9A-AE76-5D2506182F83}"/>
                              </a:ext>
                            </a:extLst>
                          </p:cNvPr>
                          <p:cNvGrpSpPr/>
                          <p:nvPr/>
                        </p:nvGrpSpPr>
                        <p:grpSpPr>
                          <a:xfrm>
                            <a:off x="1089211" y="2332101"/>
                            <a:ext cx="309283" cy="618564"/>
                            <a:chOff x="1680882" y="1828800"/>
                            <a:chExt cx="309283" cy="618564"/>
                          </a:xfrm>
                        </p:grpSpPr>
                        <p:sp>
                          <p:nvSpPr>
                            <p:cNvPr id="18" name="Rectangle 17">
                              <a:extLst>
                                <a:ext uri="{FF2B5EF4-FFF2-40B4-BE49-F238E27FC236}">
                                  <a16:creationId xmlns:a16="http://schemas.microsoft.com/office/drawing/2014/main" id="{DF780C34-A4EA-8C0F-4582-0B34C5F92947}"/>
                                </a:ext>
                              </a:extLst>
                            </p:cNvPr>
                            <p:cNvSpPr/>
                            <p:nvPr/>
                          </p:nvSpPr>
                          <p:spPr>
                            <a:xfrm>
                              <a:off x="1680882" y="1828800"/>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a:t>
                              </a:r>
                            </a:p>
                          </p:txBody>
                        </p:sp>
                        <p:sp>
                          <p:nvSpPr>
                            <p:cNvPr id="19" name="Rectangle 18">
                              <a:extLst>
                                <a:ext uri="{FF2B5EF4-FFF2-40B4-BE49-F238E27FC236}">
                                  <a16:creationId xmlns:a16="http://schemas.microsoft.com/office/drawing/2014/main" id="{BDCD5CC1-6D5D-CA61-1023-B78BADA30697}"/>
                                </a:ext>
                              </a:extLst>
                            </p:cNvPr>
                            <p:cNvSpPr/>
                            <p:nvPr/>
                          </p:nvSpPr>
                          <p:spPr>
                            <a:xfrm>
                              <a:off x="1680882" y="2138082"/>
                              <a:ext cx="309283" cy="3092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3876</a:t>
                              </a:r>
                            </a:p>
                          </p:txBody>
                        </p:sp>
                      </p:grpSp>
                    </p:grpSp>
                  </p:grpSp>
                  <p:sp>
                    <p:nvSpPr>
                      <p:cNvPr id="23" name="TextBox 22">
                        <a:extLst>
                          <a:ext uri="{FF2B5EF4-FFF2-40B4-BE49-F238E27FC236}">
                            <a16:creationId xmlns:a16="http://schemas.microsoft.com/office/drawing/2014/main" id="{8BDDB4DE-07E3-B8AE-0EA2-FDCDD6568C9B}"/>
                          </a:ext>
                        </a:extLst>
                      </p:cNvPr>
                      <p:cNvSpPr txBox="1"/>
                      <p:nvPr/>
                    </p:nvSpPr>
                    <p:spPr>
                      <a:xfrm>
                        <a:off x="1646703" y="1634231"/>
                        <a:ext cx="1280834"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Word</a:t>
                        </a:r>
                      </a:p>
                      <a:p>
                        <a:r>
                          <a:rPr lang="en-US" sz="1200" dirty="0">
                            <a:latin typeface="Arial" panose="020B0604020202020204" pitchFamily="34" charset="0"/>
                            <a:cs typeface="Arial" panose="020B0604020202020204" pitchFamily="34" charset="0"/>
                          </a:rPr>
                          <a:t>embeddings</a:t>
                        </a:r>
                      </a:p>
                    </p:txBody>
                  </p:sp>
                  <p:grpSp>
                    <p:nvGrpSpPr>
                      <p:cNvPr id="32" name="Group 31">
                        <a:extLst>
                          <a:ext uri="{FF2B5EF4-FFF2-40B4-BE49-F238E27FC236}">
                            <a16:creationId xmlns:a16="http://schemas.microsoft.com/office/drawing/2014/main" id="{325A305D-8AD0-E998-4959-512A633562D2}"/>
                          </a:ext>
                        </a:extLst>
                      </p:cNvPr>
                      <p:cNvGrpSpPr/>
                      <p:nvPr/>
                    </p:nvGrpSpPr>
                    <p:grpSpPr>
                      <a:xfrm>
                        <a:off x="639196" y="2341904"/>
                        <a:ext cx="979018" cy="2877344"/>
                        <a:chOff x="1041064" y="1723465"/>
                        <a:chExt cx="309283" cy="2446712"/>
                      </a:xfrm>
                    </p:grpSpPr>
                    <p:grpSp>
                      <p:nvGrpSpPr>
                        <p:cNvPr id="33" name="Group 32">
                          <a:extLst>
                            <a:ext uri="{FF2B5EF4-FFF2-40B4-BE49-F238E27FC236}">
                              <a16:creationId xmlns:a16="http://schemas.microsoft.com/office/drawing/2014/main" id="{572FFB93-2D50-B193-EA15-B60B6B131CE1}"/>
                            </a:ext>
                          </a:extLst>
                        </p:cNvPr>
                        <p:cNvGrpSpPr/>
                        <p:nvPr/>
                      </p:nvGrpSpPr>
                      <p:grpSpPr>
                        <a:xfrm>
                          <a:off x="1041064" y="1723465"/>
                          <a:ext cx="309283" cy="1227200"/>
                          <a:chOff x="1041064" y="1723465"/>
                          <a:chExt cx="309283" cy="1227200"/>
                        </a:xfrm>
                      </p:grpSpPr>
                      <p:grpSp>
                        <p:nvGrpSpPr>
                          <p:cNvPr id="41" name="Group 40">
                            <a:extLst>
                              <a:ext uri="{FF2B5EF4-FFF2-40B4-BE49-F238E27FC236}">
                                <a16:creationId xmlns:a16="http://schemas.microsoft.com/office/drawing/2014/main" id="{53DEF5BC-2CC8-0CD7-6777-62FEE13CFBB4}"/>
                              </a:ext>
                            </a:extLst>
                          </p:cNvPr>
                          <p:cNvGrpSpPr/>
                          <p:nvPr/>
                        </p:nvGrpSpPr>
                        <p:grpSpPr>
                          <a:xfrm>
                            <a:off x="1041064" y="1723465"/>
                            <a:ext cx="309283" cy="618564"/>
                            <a:chOff x="1632735" y="1828800"/>
                            <a:chExt cx="309283" cy="618564"/>
                          </a:xfrm>
                        </p:grpSpPr>
                        <p:sp>
                          <p:nvSpPr>
                            <p:cNvPr id="45" name="Rectangle 44">
                              <a:extLst>
                                <a:ext uri="{FF2B5EF4-FFF2-40B4-BE49-F238E27FC236}">
                                  <a16:creationId xmlns:a16="http://schemas.microsoft.com/office/drawing/2014/main" id="{6DC532ED-F467-49C2-23F5-76686D6C3DAB}"/>
                                </a:ext>
                              </a:extLst>
                            </p:cNvPr>
                            <p:cNvSpPr/>
                            <p:nvPr/>
                          </p:nvSpPr>
                          <p:spPr>
                            <a:xfrm>
                              <a:off x="1632735" y="1828800"/>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The</a:t>
                              </a:r>
                            </a:p>
                          </p:txBody>
                        </p:sp>
                        <p:sp>
                          <p:nvSpPr>
                            <p:cNvPr id="46" name="Rectangle 45">
                              <a:extLst>
                                <a:ext uri="{FF2B5EF4-FFF2-40B4-BE49-F238E27FC236}">
                                  <a16:creationId xmlns:a16="http://schemas.microsoft.com/office/drawing/2014/main" id="{E6273219-6426-6201-D117-37DC836155EE}"/>
                                </a:ext>
                              </a:extLst>
                            </p:cNvPr>
                            <p:cNvSpPr/>
                            <p:nvPr/>
                          </p:nvSpPr>
                          <p:spPr>
                            <a:xfrm>
                              <a:off x="1632735" y="2138082"/>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applicant</a:t>
                              </a:r>
                            </a:p>
                          </p:txBody>
                        </p:sp>
                      </p:grpSp>
                      <p:grpSp>
                        <p:nvGrpSpPr>
                          <p:cNvPr id="42" name="Group 41">
                            <a:extLst>
                              <a:ext uri="{FF2B5EF4-FFF2-40B4-BE49-F238E27FC236}">
                                <a16:creationId xmlns:a16="http://schemas.microsoft.com/office/drawing/2014/main" id="{AF016FA5-B416-71C9-7FB9-E0DAC8CDCBD9}"/>
                              </a:ext>
                            </a:extLst>
                          </p:cNvPr>
                          <p:cNvGrpSpPr/>
                          <p:nvPr/>
                        </p:nvGrpSpPr>
                        <p:grpSpPr>
                          <a:xfrm>
                            <a:off x="1041064" y="2332101"/>
                            <a:ext cx="309283" cy="618564"/>
                            <a:chOff x="1632735" y="1828800"/>
                            <a:chExt cx="309283" cy="618564"/>
                          </a:xfrm>
                        </p:grpSpPr>
                        <p:sp>
                          <p:nvSpPr>
                            <p:cNvPr id="43" name="Rectangle 42">
                              <a:extLst>
                                <a:ext uri="{FF2B5EF4-FFF2-40B4-BE49-F238E27FC236}">
                                  <a16:creationId xmlns:a16="http://schemas.microsoft.com/office/drawing/2014/main" id="{02BD7121-F652-0712-4988-3ED7F775149B}"/>
                                </a:ext>
                              </a:extLst>
                            </p:cNvPr>
                            <p:cNvSpPr/>
                            <p:nvPr/>
                          </p:nvSpPr>
                          <p:spPr>
                            <a:xfrm>
                              <a:off x="1632735" y="1828800"/>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was</a:t>
                              </a:r>
                            </a:p>
                          </p:txBody>
                        </p:sp>
                        <p:sp>
                          <p:nvSpPr>
                            <p:cNvPr id="44" name="Rectangle 43">
                              <a:extLst>
                                <a:ext uri="{FF2B5EF4-FFF2-40B4-BE49-F238E27FC236}">
                                  <a16:creationId xmlns:a16="http://schemas.microsoft.com/office/drawing/2014/main" id="{0925C611-08A0-6D33-049A-6CC102300864}"/>
                                </a:ext>
                              </a:extLst>
                            </p:cNvPr>
                            <p:cNvSpPr/>
                            <p:nvPr/>
                          </p:nvSpPr>
                          <p:spPr>
                            <a:xfrm>
                              <a:off x="1632735" y="2138082"/>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born </a:t>
                              </a:r>
                            </a:p>
                          </p:txBody>
                        </p:sp>
                      </p:grpSp>
                    </p:grpSp>
                    <p:grpSp>
                      <p:nvGrpSpPr>
                        <p:cNvPr id="34" name="Group 33">
                          <a:extLst>
                            <a:ext uri="{FF2B5EF4-FFF2-40B4-BE49-F238E27FC236}">
                              <a16:creationId xmlns:a16="http://schemas.microsoft.com/office/drawing/2014/main" id="{DE8AC696-2556-29EE-3A5E-0CF1307998C5}"/>
                            </a:ext>
                          </a:extLst>
                        </p:cNvPr>
                        <p:cNvGrpSpPr/>
                        <p:nvPr/>
                      </p:nvGrpSpPr>
                      <p:grpSpPr>
                        <a:xfrm>
                          <a:off x="1041064" y="2942977"/>
                          <a:ext cx="309283" cy="1227200"/>
                          <a:chOff x="1041064" y="1723465"/>
                          <a:chExt cx="309283" cy="1227200"/>
                        </a:xfrm>
                      </p:grpSpPr>
                      <p:grpSp>
                        <p:nvGrpSpPr>
                          <p:cNvPr id="35" name="Group 34">
                            <a:extLst>
                              <a:ext uri="{FF2B5EF4-FFF2-40B4-BE49-F238E27FC236}">
                                <a16:creationId xmlns:a16="http://schemas.microsoft.com/office/drawing/2014/main" id="{6E12B46E-305C-79E4-B1FC-008B9EEEEF7D}"/>
                              </a:ext>
                            </a:extLst>
                          </p:cNvPr>
                          <p:cNvGrpSpPr/>
                          <p:nvPr/>
                        </p:nvGrpSpPr>
                        <p:grpSpPr>
                          <a:xfrm>
                            <a:off x="1041064" y="1723465"/>
                            <a:ext cx="309283" cy="618564"/>
                            <a:chOff x="1632735" y="1828800"/>
                            <a:chExt cx="309283" cy="618564"/>
                          </a:xfrm>
                        </p:grpSpPr>
                        <p:sp>
                          <p:nvSpPr>
                            <p:cNvPr id="39" name="Rectangle 38">
                              <a:extLst>
                                <a:ext uri="{FF2B5EF4-FFF2-40B4-BE49-F238E27FC236}">
                                  <a16:creationId xmlns:a16="http://schemas.microsoft.com/office/drawing/2014/main" id="{7F753681-4097-18C9-287D-DDBA6DBF5A76}"/>
                                </a:ext>
                              </a:extLst>
                            </p:cNvPr>
                            <p:cNvSpPr/>
                            <p:nvPr/>
                          </p:nvSpPr>
                          <p:spPr>
                            <a:xfrm>
                              <a:off x="1632735" y="1828800"/>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a:t>
                              </a:r>
                            </a:p>
                          </p:txBody>
                        </p:sp>
                        <p:sp>
                          <p:nvSpPr>
                            <p:cNvPr id="40" name="Rectangle 39">
                              <a:extLst>
                                <a:ext uri="{FF2B5EF4-FFF2-40B4-BE49-F238E27FC236}">
                                  <a16:creationId xmlns:a16="http://schemas.microsoft.com/office/drawing/2014/main" id="{EDD31DB9-AB9C-FB97-877E-A2156FE1F9D5}"/>
                                </a:ext>
                              </a:extLst>
                            </p:cNvPr>
                            <p:cNvSpPr/>
                            <p:nvPr/>
                          </p:nvSpPr>
                          <p:spPr>
                            <a:xfrm>
                              <a:off x="1632735" y="2138082"/>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a:t>
                              </a:r>
                            </a:p>
                          </p:txBody>
                        </p:sp>
                      </p:grpSp>
                      <p:grpSp>
                        <p:nvGrpSpPr>
                          <p:cNvPr id="36" name="Group 35">
                            <a:extLst>
                              <a:ext uri="{FF2B5EF4-FFF2-40B4-BE49-F238E27FC236}">
                                <a16:creationId xmlns:a16="http://schemas.microsoft.com/office/drawing/2014/main" id="{25551E8A-E178-3758-6BB7-4E511833ABFC}"/>
                              </a:ext>
                            </a:extLst>
                          </p:cNvPr>
                          <p:cNvGrpSpPr/>
                          <p:nvPr/>
                        </p:nvGrpSpPr>
                        <p:grpSpPr>
                          <a:xfrm>
                            <a:off x="1041064" y="2332101"/>
                            <a:ext cx="309283" cy="618564"/>
                            <a:chOff x="1632735" y="1828800"/>
                            <a:chExt cx="309283" cy="618564"/>
                          </a:xfrm>
                        </p:grpSpPr>
                        <p:sp>
                          <p:nvSpPr>
                            <p:cNvPr id="37" name="Rectangle 36">
                              <a:extLst>
                                <a:ext uri="{FF2B5EF4-FFF2-40B4-BE49-F238E27FC236}">
                                  <a16:creationId xmlns:a16="http://schemas.microsoft.com/office/drawing/2014/main" id="{163B636B-16E0-2363-1023-D06378CB95E4}"/>
                                </a:ext>
                              </a:extLst>
                            </p:cNvPr>
                            <p:cNvSpPr/>
                            <p:nvPr/>
                          </p:nvSpPr>
                          <p:spPr>
                            <a:xfrm>
                              <a:off x="1632735" y="1828800"/>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a:t>
                              </a:r>
                            </a:p>
                          </p:txBody>
                        </p:sp>
                        <p:sp>
                          <p:nvSpPr>
                            <p:cNvPr id="38" name="Rectangle 37">
                              <a:extLst>
                                <a:ext uri="{FF2B5EF4-FFF2-40B4-BE49-F238E27FC236}">
                                  <a16:creationId xmlns:a16="http://schemas.microsoft.com/office/drawing/2014/main" id="{F47F468D-D8CB-FBCD-CBF0-B26EAB2197C3}"/>
                                </a:ext>
                              </a:extLst>
                            </p:cNvPr>
                            <p:cNvSpPr/>
                            <p:nvPr/>
                          </p:nvSpPr>
                          <p:spPr>
                            <a:xfrm>
                              <a:off x="1632735" y="2138082"/>
                              <a:ext cx="309283" cy="30928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claims</a:t>
                              </a:r>
                            </a:p>
                          </p:txBody>
                        </p:sp>
                      </p:grpSp>
                    </p:grpSp>
                  </p:grpSp>
                  <p:sp>
                    <p:nvSpPr>
                      <p:cNvPr id="47" name="TextBox 46">
                        <a:extLst>
                          <a:ext uri="{FF2B5EF4-FFF2-40B4-BE49-F238E27FC236}">
                            <a16:creationId xmlns:a16="http://schemas.microsoft.com/office/drawing/2014/main" id="{901A6321-E4AD-F8E0-46F6-C4DDF42E2BCF}"/>
                          </a:ext>
                        </a:extLst>
                      </p:cNvPr>
                      <p:cNvSpPr txBox="1"/>
                      <p:nvPr/>
                    </p:nvSpPr>
                    <p:spPr>
                      <a:xfrm>
                        <a:off x="365869" y="5571290"/>
                        <a:ext cx="1280834" cy="307777"/>
                      </a:xfrm>
                      <a:prstGeom prst="rect">
                        <a:avLst/>
                      </a:prstGeom>
                      <a:noFill/>
                    </p:spPr>
                    <p:txBody>
                      <a:bodyPr wrap="square" rtlCol="0">
                        <a:spAutoFit/>
                      </a:bodyPr>
                      <a:lstStyle/>
                      <a:p>
                        <a:r>
                          <a:rPr lang="en-US" sz="1400" i="1" dirty="0">
                            <a:latin typeface="Times New Roman" panose="02020603050405020304" pitchFamily="18" charset="0"/>
                            <a:cs typeface="Times New Roman" panose="02020603050405020304" pitchFamily="18" charset="0"/>
                          </a:rPr>
                          <a:t>INPUT TEXT</a:t>
                        </a:r>
                      </a:p>
                    </p:txBody>
                  </p:sp>
                  <p:cxnSp>
                    <p:nvCxnSpPr>
                      <p:cNvPr id="52" name="Curved Connector 51">
                        <a:extLst>
                          <a:ext uri="{FF2B5EF4-FFF2-40B4-BE49-F238E27FC236}">
                            <a16:creationId xmlns:a16="http://schemas.microsoft.com/office/drawing/2014/main" id="{B5FEAA43-3AF0-C23C-2251-26BC21BB998C}"/>
                          </a:ext>
                        </a:extLst>
                      </p:cNvPr>
                      <p:cNvCxnSpPr>
                        <a:stCxn id="47" idx="0"/>
                        <a:endCxn id="38" idx="2"/>
                      </p:cNvCxnSpPr>
                      <p:nvPr/>
                    </p:nvCxnSpPr>
                    <p:spPr>
                      <a:xfrm rot="5400000" flipH="1" flipV="1">
                        <a:off x="891474" y="5334060"/>
                        <a:ext cx="352042" cy="122419"/>
                      </a:xfrm>
                      <a:prstGeom prst="curvedConnector3">
                        <a:avLst>
                          <a:gd name="adj1" fmla="val 50000"/>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85EE09D7-00BC-364C-6632-B39D8A363F6A}"/>
                          </a:ext>
                        </a:extLst>
                      </p:cNvPr>
                      <p:cNvCxnSpPr>
                        <a:endCxn id="8" idx="1"/>
                      </p:cNvCxnSpPr>
                      <p:nvPr/>
                    </p:nvCxnSpPr>
                    <p:spPr>
                      <a:xfrm>
                        <a:off x="1492624" y="2523762"/>
                        <a:ext cx="848471" cy="45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B8B9B513-FC9F-BE68-1D8B-9BE06F392997}"/>
                          </a:ext>
                        </a:extLst>
                      </p:cNvPr>
                      <p:cNvCxnSpPr/>
                      <p:nvPr/>
                    </p:nvCxnSpPr>
                    <p:spPr>
                      <a:xfrm>
                        <a:off x="1492624" y="2903705"/>
                        <a:ext cx="848471" cy="45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8C9840C3-9729-195E-87FC-B5722E5DE0A8}"/>
                          </a:ext>
                        </a:extLst>
                      </p:cNvPr>
                      <p:cNvCxnSpPr>
                        <a:cxnSpLocks/>
                        <a:endCxn id="12" idx="1"/>
                      </p:cNvCxnSpPr>
                      <p:nvPr/>
                    </p:nvCxnSpPr>
                    <p:spPr>
                      <a:xfrm>
                        <a:off x="1639328" y="3243098"/>
                        <a:ext cx="701767" cy="9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9155B9D8-AD4D-E2D1-9D2B-E28F3B36EFEC}"/>
                          </a:ext>
                        </a:extLst>
                      </p:cNvPr>
                      <p:cNvCxnSpPr>
                        <a:cxnSpLocks/>
                        <a:endCxn id="13" idx="1"/>
                      </p:cNvCxnSpPr>
                      <p:nvPr/>
                    </p:nvCxnSpPr>
                    <p:spPr>
                      <a:xfrm flipV="1">
                        <a:off x="1639328" y="3607760"/>
                        <a:ext cx="701767" cy="9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5AD48223-72F5-E00B-F092-D1E24A42D5D8}"/>
                          </a:ext>
                        </a:extLst>
                      </p:cNvPr>
                      <p:cNvCxnSpPr>
                        <a:cxnSpLocks/>
                      </p:cNvCxnSpPr>
                      <p:nvPr/>
                    </p:nvCxnSpPr>
                    <p:spPr>
                      <a:xfrm flipV="1">
                        <a:off x="1598846" y="5042061"/>
                        <a:ext cx="701767" cy="9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sp>
                <p:nvSpPr>
                  <p:cNvPr id="84" name="TextBox 83">
                    <a:extLst>
                      <a:ext uri="{FF2B5EF4-FFF2-40B4-BE49-F238E27FC236}">
                        <a16:creationId xmlns:a16="http://schemas.microsoft.com/office/drawing/2014/main" id="{17FBE7BA-C19A-132A-CBF7-98F7A2BFA0A0}"/>
                      </a:ext>
                    </a:extLst>
                  </p:cNvPr>
                  <p:cNvSpPr txBox="1"/>
                  <p:nvPr/>
                </p:nvSpPr>
                <p:spPr>
                  <a:xfrm>
                    <a:off x="2078066" y="5470090"/>
                    <a:ext cx="189987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(Obtained by tokenizer)</a:t>
                    </a:r>
                  </a:p>
                </p:txBody>
              </p:sp>
            </p:grpSp>
            <p:cxnSp>
              <p:nvCxnSpPr>
                <p:cNvPr id="87" name="Curved Connector 86">
                  <a:extLst>
                    <a:ext uri="{FF2B5EF4-FFF2-40B4-BE49-F238E27FC236}">
                      <a16:creationId xmlns:a16="http://schemas.microsoft.com/office/drawing/2014/main" id="{8D573453-AA16-A0EB-2EB2-14F7264A01BB}"/>
                    </a:ext>
                  </a:extLst>
                </p:cNvPr>
                <p:cNvCxnSpPr>
                  <a:stCxn id="19" idx="2"/>
                  <a:endCxn id="84" idx="3"/>
                </p:cNvCxnSpPr>
                <p:nvPr/>
              </p:nvCxnSpPr>
              <p:spPr>
                <a:xfrm rot="16200000" flipH="1">
                  <a:off x="3030647" y="4676681"/>
                  <a:ext cx="617524" cy="1277071"/>
                </a:xfrm>
                <a:prstGeom prst="curvedConnector4">
                  <a:avLst>
                    <a:gd name="adj1" fmla="val 37540"/>
                    <a:gd name="adj2" fmla="val 117900"/>
                  </a:avLst>
                </a:prstGeom>
                <a:ln>
                  <a:tailEnd type="triangle"/>
                </a:ln>
              </p:spPr>
              <p:style>
                <a:lnRef idx="2">
                  <a:schemeClr val="dk1"/>
                </a:lnRef>
                <a:fillRef idx="0">
                  <a:schemeClr val="dk1"/>
                </a:fillRef>
                <a:effectRef idx="1">
                  <a:schemeClr val="dk1"/>
                </a:effectRef>
                <a:fontRef idx="minor">
                  <a:schemeClr val="tx1"/>
                </a:fontRef>
              </p:style>
            </p:cxnSp>
          </p:grpSp>
          <p:sp>
            <p:nvSpPr>
              <p:cNvPr id="91" name="Rectangle 90">
                <a:extLst>
                  <a:ext uri="{FF2B5EF4-FFF2-40B4-BE49-F238E27FC236}">
                    <a16:creationId xmlns:a16="http://schemas.microsoft.com/office/drawing/2014/main" id="{7AE5BE43-9F16-4C43-119F-35678761D18F}"/>
                  </a:ext>
                </a:extLst>
              </p:cNvPr>
              <p:cNvSpPr/>
              <p:nvPr/>
            </p:nvSpPr>
            <p:spPr>
              <a:xfrm>
                <a:off x="3826933" y="1642533"/>
                <a:ext cx="1811867" cy="48205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3" name="Rectangle 2">
              <a:extLst>
                <a:ext uri="{FF2B5EF4-FFF2-40B4-BE49-F238E27FC236}">
                  <a16:creationId xmlns:a16="http://schemas.microsoft.com/office/drawing/2014/main" id="{AB2E1F57-BC57-08B3-94C9-1727EF971E05}"/>
                </a:ext>
              </a:extLst>
            </p:cNvPr>
            <p:cNvSpPr/>
            <p:nvPr/>
          </p:nvSpPr>
          <p:spPr>
            <a:xfrm>
              <a:off x="4282632" y="4151206"/>
              <a:ext cx="1423686" cy="22554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2964911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7C1E4-41D9-011C-95C7-9BA281E1C66A}"/>
              </a:ext>
            </a:extLst>
          </p:cNvPr>
          <p:cNvSpPr>
            <a:spLocks noGrp="1"/>
          </p:cNvSpPr>
          <p:nvPr>
            <p:ph type="title"/>
          </p:nvPr>
        </p:nvSpPr>
        <p:spPr>
          <a:xfrm>
            <a:off x="3520042" y="477927"/>
            <a:ext cx="5151916" cy="559329"/>
          </a:xfrm>
        </p:spPr>
        <p:txBody>
          <a:bodyPr anchor="t">
            <a:noAutofit/>
          </a:bodyPr>
          <a:lstStyle/>
          <a:p>
            <a:pPr algn="ctr"/>
            <a:r>
              <a:rPr lang="en-US" sz="2400" b="1" dirty="0">
                <a:latin typeface="Times New Roman" panose="02020603050405020304" pitchFamily="18" charset="0"/>
                <a:cs typeface="Times New Roman" panose="02020603050405020304" pitchFamily="18" charset="0"/>
              </a:rPr>
              <a:t>Problem: Number of Parameters</a:t>
            </a:r>
          </a:p>
        </p:txBody>
      </p:sp>
      <p:pic>
        <p:nvPicPr>
          <p:cNvPr id="1026" name="Picture 2" descr="Man with question mark flat icon pictograph Vector Image">
            <a:extLst>
              <a:ext uri="{FF2B5EF4-FFF2-40B4-BE49-F238E27FC236}">
                <a16:creationId xmlns:a16="http://schemas.microsoft.com/office/drawing/2014/main" id="{AA2BA429-60DB-DE39-D230-001A665BCE4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1389" b="90000" l="27895" r="71579">
                        <a14:foregroundMark x1="41895" y1="20000" x2="46842" y2="24907"/>
                        <a14:foregroundMark x1="45684" y1="38241" x2="37579" y2="41019"/>
                        <a14:foregroundMark x1="37579" y1="41019" x2="27895" y2="50741"/>
                        <a14:foregroundMark x1="39895" y1="81019" x2="39053" y2="88056"/>
                        <a14:foregroundMark x1="39053" y1="88056" x2="40105" y2="82130"/>
                        <a14:foregroundMark x1="49895" y1="90000" x2="49474" y2="87407"/>
                        <a14:foregroundMark x1="38105" y1="90000" x2="42105" y2="89630"/>
                      </a14:backgroundRemoval>
                    </a14:imgEffect>
                  </a14:imgLayer>
                </a14:imgProps>
              </a:ext>
              <a:ext uri="{28A0092B-C50C-407E-A947-70E740481C1C}">
                <a14:useLocalDpi xmlns:a14="http://schemas.microsoft.com/office/drawing/2010/main" val="0"/>
              </a:ext>
            </a:extLst>
          </a:blip>
          <a:srcRect l="22665" t="2744" r="22665" b="8236"/>
          <a:stretch/>
        </p:blipFill>
        <p:spPr bwMode="auto">
          <a:xfrm>
            <a:off x="3251035" y="3207175"/>
            <a:ext cx="1676479" cy="3103393"/>
          </a:xfrm>
          <a:prstGeom prst="rect">
            <a:avLst/>
          </a:prstGeom>
          <a:noFill/>
          <a:extLst>
            <a:ext uri="{909E8E84-426E-40DD-AFC4-6F175D3DCCD1}">
              <a14:hiddenFill xmlns:a14="http://schemas.microsoft.com/office/drawing/2010/main">
                <a:solidFill>
                  <a:srgbClr val="FFFFFF"/>
                </a:solidFill>
              </a14:hiddenFill>
            </a:ext>
          </a:extLst>
        </p:spPr>
      </p:pic>
      <p:grpSp>
        <p:nvGrpSpPr>
          <p:cNvPr id="82" name="Group 81">
            <a:extLst>
              <a:ext uri="{FF2B5EF4-FFF2-40B4-BE49-F238E27FC236}">
                <a16:creationId xmlns:a16="http://schemas.microsoft.com/office/drawing/2014/main" id="{A149CADB-4136-BC63-15DD-5E302D3394A6}"/>
              </a:ext>
            </a:extLst>
          </p:cNvPr>
          <p:cNvGrpSpPr/>
          <p:nvPr/>
        </p:nvGrpSpPr>
        <p:grpSpPr>
          <a:xfrm>
            <a:off x="4927514" y="1574119"/>
            <a:ext cx="3603245" cy="2043953"/>
            <a:chOff x="5175529" y="4128248"/>
            <a:chExt cx="4815636" cy="2514600"/>
          </a:xfrm>
        </p:grpSpPr>
        <p:sp>
          <p:nvSpPr>
            <p:cNvPr id="81" name="TextBox 80">
              <a:extLst>
                <a:ext uri="{FF2B5EF4-FFF2-40B4-BE49-F238E27FC236}">
                  <a16:creationId xmlns:a16="http://schemas.microsoft.com/office/drawing/2014/main" id="{0560DEEC-91FE-27B9-C97F-658BCF03EAD5}"/>
                </a:ext>
              </a:extLst>
            </p:cNvPr>
            <p:cNvSpPr txBox="1"/>
            <p:nvPr/>
          </p:nvSpPr>
          <p:spPr>
            <a:xfrm>
              <a:off x="5516232" y="4660616"/>
              <a:ext cx="3996814" cy="1476721"/>
            </a:xfrm>
            <a:prstGeom prst="rect">
              <a:avLst/>
            </a:prstGeom>
            <a:noFill/>
          </p:spPr>
          <p:txBody>
            <a:bodyPr wrap="square" rtlCol="0">
              <a:spAutoFit/>
            </a:bodyPr>
            <a:lstStyle/>
            <a:p>
              <a:pPr algn="ctr"/>
              <a:r>
                <a:rPr lang="en-US" dirty="0"/>
                <a:t>As we are dealing with millions and billions of parameters what about computation memory ??</a:t>
              </a:r>
            </a:p>
          </p:txBody>
        </p:sp>
        <p:sp>
          <p:nvSpPr>
            <p:cNvPr id="80" name="Cloud 79">
              <a:extLst>
                <a:ext uri="{FF2B5EF4-FFF2-40B4-BE49-F238E27FC236}">
                  <a16:creationId xmlns:a16="http://schemas.microsoft.com/office/drawing/2014/main" id="{244EF5DF-140D-505A-3D00-E9B7FEF89E04}"/>
                </a:ext>
              </a:extLst>
            </p:cNvPr>
            <p:cNvSpPr/>
            <p:nvPr/>
          </p:nvSpPr>
          <p:spPr>
            <a:xfrm>
              <a:off x="5175529" y="4128248"/>
              <a:ext cx="4815636" cy="2514600"/>
            </a:xfrm>
            <a:prstGeom prst="cloud">
              <a:avLst/>
            </a:prstGeom>
            <a:noFill/>
            <a:ln w="28575">
              <a:extLst>
                <a:ext uri="{C807C97D-BFC1-408E-A445-0C87EB9F89A2}">
                  <ask:lineSketchStyleProps xmlns:ask="http://schemas.microsoft.com/office/drawing/2018/sketchyshapes" sd="844314793">
                    <a:custGeom>
                      <a:avLst/>
                      <a:gdLst>
                        <a:gd name="connsiteX0" fmla="*/ 325292 w 3603245"/>
                        <a:gd name="connsiteY0" fmla="*/ 679898 h 2043953"/>
                        <a:gd name="connsiteX1" fmla="*/ 469005 w 3603245"/>
                        <a:gd name="connsiteY1" fmla="*/ 326795 h 2043953"/>
                        <a:gd name="connsiteX2" fmla="*/ 1168135 w 3603245"/>
                        <a:gd name="connsiteY2" fmla="*/ 246126 h 2043953"/>
                        <a:gd name="connsiteX3" fmla="*/ 1873020 w 3603245"/>
                        <a:gd name="connsiteY3" fmla="*/ 162380 h 2043953"/>
                        <a:gd name="connsiteX4" fmla="*/ 2147684 w 3603245"/>
                        <a:gd name="connsiteY4" fmla="*/ 9462 h 2043953"/>
                        <a:gd name="connsiteX5" fmla="*/ 2488324 w 3603245"/>
                        <a:gd name="connsiteY5" fmla="*/ 117385 h 2043953"/>
                        <a:gd name="connsiteX6" fmla="*/ 2957913 w 3603245"/>
                        <a:gd name="connsiteY6" fmla="*/ 32646 h 2043953"/>
                        <a:gd name="connsiteX7" fmla="*/ 3196044 w 3603245"/>
                        <a:gd name="connsiteY7" fmla="*/ 263821 h 2043953"/>
                        <a:gd name="connsiteX8" fmla="*/ 3501653 w 3603245"/>
                        <a:gd name="connsiteY8" fmla="*/ 488183 h 2043953"/>
                        <a:gd name="connsiteX9" fmla="*/ 3487974 w 3603245"/>
                        <a:gd name="connsiteY9" fmla="*/ 731470 h 2043953"/>
                        <a:gd name="connsiteX10" fmla="*/ 3587897 w 3603245"/>
                        <a:gd name="connsiteY10" fmla="*/ 1103450 h 2043953"/>
                        <a:gd name="connsiteX11" fmla="*/ 3119809 w 3603245"/>
                        <a:gd name="connsiteY11" fmla="*/ 1429063 h 2043953"/>
                        <a:gd name="connsiteX12" fmla="*/ 2952242 w 3603245"/>
                        <a:gd name="connsiteY12" fmla="*/ 1708072 h 2043953"/>
                        <a:gd name="connsiteX13" fmla="*/ 2381728 w 3603245"/>
                        <a:gd name="connsiteY13" fmla="*/ 1741854 h 2043953"/>
                        <a:gd name="connsiteX14" fmla="*/ 1974027 w 3603245"/>
                        <a:gd name="connsiteY14" fmla="*/ 2039505 h 2043953"/>
                        <a:gd name="connsiteX15" fmla="*/ 1374571 w 3603245"/>
                        <a:gd name="connsiteY15" fmla="*/ 1857820 h 2043953"/>
                        <a:gd name="connsiteX16" fmla="*/ 484102 w 3603245"/>
                        <a:gd name="connsiteY16" fmla="*/ 1678312 h 2043953"/>
                        <a:gd name="connsiteX17" fmla="*/ 92583 w 3603245"/>
                        <a:gd name="connsiteY17" fmla="*/ 1478553 h 2043953"/>
                        <a:gd name="connsiteX18" fmla="*/ 176242 w 3603245"/>
                        <a:gd name="connsiteY18" fmla="*/ 1208913 h 2043953"/>
                        <a:gd name="connsiteX19" fmla="*/ -418 w 3603245"/>
                        <a:gd name="connsiteY19" fmla="*/ 932269 h 2043953"/>
                        <a:gd name="connsiteX20" fmla="*/ 322206 w 3603245"/>
                        <a:gd name="connsiteY20" fmla="*/ 686380 h 2043953"/>
                        <a:gd name="connsiteX21" fmla="*/ 325292 w 3603245"/>
                        <a:gd name="connsiteY21" fmla="*/ 679898 h 2043953"/>
                        <a:gd name="connsiteX0" fmla="*/ 391435 w 3603245"/>
                        <a:gd name="connsiteY0" fmla="*/ 1238531 h 2043953"/>
                        <a:gd name="connsiteX1" fmla="*/ 180162 w 3603245"/>
                        <a:gd name="connsiteY1" fmla="*/ 1200822 h 2043953"/>
                        <a:gd name="connsiteX2" fmla="*/ 577853 w 3603245"/>
                        <a:gd name="connsiteY2" fmla="*/ 1651201 h 2043953"/>
                        <a:gd name="connsiteX3" fmla="*/ 485437 w 3603245"/>
                        <a:gd name="connsiteY3" fmla="*/ 1669228 h 2043953"/>
                        <a:gd name="connsiteX4" fmla="*/ 1374404 w 3603245"/>
                        <a:gd name="connsiteY4" fmla="*/ 1849493 h 2043953"/>
                        <a:gd name="connsiteX5" fmla="*/ 1318687 w 3603245"/>
                        <a:gd name="connsiteY5" fmla="*/ 1767167 h 2043953"/>
                        <a:gd name="connsiteX6" fmla="*/ 2404415 w 3603245"/>
                        <a:gd name="connsiteY6" fmla="*/ 1644199 h 2043953"/>
                        <a:gd name="connsiteX7" fmla="*/ 2382145 w 3603245"/>
                        <a:gd name="connsiteY7" fmla="*/ 1734521 h 2043953"/>
                        <a:gd name="connsiteX8" fmla="*/ 2846646 w 3603245"/>
                        <a:gd name="connsiteY8" fmla="*/ 1086039 h 2043953"/>
                        <a:gd name="connsiteX9" fmla="*/ 3117807 w 3603245"/>
                        <a:gd name="connsiteY9" fmla="*/ 1423670 h 2043953"/>
                        <a:gd name="connsiteX10" fmla="*/ 3486306 w 3603245"/>
                        <a:gd name="connsiteY10" fmla="*/ 726454 h 2043953"/>
                        <a:gd name="connsiteX11" fmla="*/ 3365530 w 3603245"/>
                        <a:gd name="connsiteY11" fmla="*/ 853066 h 2043953"/>
                        <a:gd name="connsiteX12" fmla="*/ 3196545 w 3603245"/>
                        <a:gd name="connsiteY12" fmla="*/ 256724 h 2043953"/>
                        <a:gd name="connsiteX13" fmla="*/ 3202884 w 3603245"/>
                        <a:gd name="connsiteY13" fmla="*/ 316528 h 2043953"/>
                        <a:gd name="connsiteX14" fmla="*/ 2425350 w 3603245"/>
                        <a:gd name="connsiteY14" fmla="*/ 186983 h 2043953"/>
                        <a:gd name="connsiteX15" fmla="*/ 2487239 w 3603245"/>
                        <a:gd name="connsiteY15" fmla="*/ 110714 h 2043953"/>
                        <a:gd name="connsiteX16" fmla="*/ 1846746 w 3603245"/>
                        <a:gd name="connsiteY16" fmla="*/ 223320 h 2043953"/>
                        <a:gd name="connsiteX17" fmla="*/ 1876690 w 3603245"/>
                        <a:gd name="connsiteY17" fmla="*/ 157554 h 2043953"/>
                        <a:gd name="connsiteX18" fmla="*/ 1167718 w 3603245"/>
                        <a:gd name="connsiteY18" fmla="*/ 245652 h 2043953"/>
                        <a:gd name="connsiteX19" fmla="*/ 1276149 w 3603245"/>
                        <a:gd name="connsiteY19" fmla="*/ 309431 h 2043953"/>
                        <a:gd name="connsiteX20" fmla="*/ 344226 w 3603245"/>
                        <a:gd name="connsiteY20" fmla="*/ 747036 h 2043953"/>
                        <a:gd name="connsiteX21" fmla="*/ 325292 w 3603245"/>
                        <a:gd name="connsiteY21" fmla="*/ 679898 h 2043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03245" h="2043953" extrusionOk="0">
                          <a:moveTo>
                            <a:pt x="325292" y="679898"/>
                          </a:moveTo>
                          <a:cubicBezTo>
                            <a:pt x="288966" y="523720"/>
                            <a:pt x="360710" y="446408"/>
                            <a:pt x="469005" y="326795"/>
                          </a:cubicBezTo>
                          <a:cubicBezTo>
                            <a:pt x="624123" y="191967"/>
                            <a:pt x="946108" y="137052"/>
                            <a:pt x="1168135" y="246126"/>
                          </a:cubicBezTo>
                          <a:cubicBezTo>
                            <a:pt x="1287940" y="90563"/>
                            <a:pt x="1668993" y="-13071"/>
                            <a:pt x="1873020" y="162380"/>
                          </a:cubicBezTo>
                          <a:cubicBezTo>
                            <a:pt x="1918814" y="77014"/>
                            <a:pt x="2044917" y="18136"/>
                            <a:pt x="2147684" y="9462"/>
                          </a:cubicBezTo>
                          <a:cubicBezTo>
                            <a:pt x="2273194" y="18957"/>
                            <a:pt x="2410700" y="44209"/>
                            <a:pt x="2488324" y="117385"/>
                          </a:cubicBezTo>
                          <a:cubicBezTo>
                            <a:pt x="2637656" y="-19242"/>
                            <a:pt x="2786053" y="-23633"/>
                            <a:pt x="2957913" y="32646"/>
                          </a:cubicBezTo>
                          <a:cubicBezTo>
                            <a:pt x="3096109" y="81476"/>
                            <a:pt x="3177594" y="152121"/>
                            <a:pt x="3196044" y="263821"/>
                          </a:cubicBezTo>
                          <a:cubicBezTo>
                            <a:pt x="3370681" y="287743"/>
                            <a:pt x="3436333" y="383101"/>
                            <a:pt x="3501653" y="488183"/>
                          </a:cubicBezTo>
                          <a:cubicBezTo>
                            <a:pt x="3534688" y="575043"/>
                            <a:pt x="3522811" y="651150"/>
                            <a:pt x="3487974" y="731470"/>
                          </a:cubicBezTo>
                          <a:cubicBezTo>
                            <a:pt x="3567741" y="867165"/>
                            <a:pt x="3625336" y="976003"/>
                            <a:pt x="3587897" y="1103450"/>
                          </a:cubicBezTo>
                          <a:cubicBezTo>
                            <a:pt x="3537500" y="1285011"/>
                            <a:pt x="3327599" y="1421257"/>
                            <a:pt x="3119809" y="1429063"/>
                          </a:cubicBezTo>
                          <a:cubicBezTo>
                            <a:pt x="3106466" y="1566904"/>
                            <a:pt x="3065304" y="1603676"/>
                            <a:pt x="2952242" y="1708072"/>
                          </a:cubicBezTo>
                          <a:cubicBezTo>
                            <a:pt x="2806365" y="1800759"/>
                            <a:pt x="2519511" y="1814099"/>
                            <a:pt x="2381728" y="1741854"/>
                          </a:cubicBezTo>
                          <a:cubicBezTo>
                            <a:pt x="2326947" y="1841125"/>
                            <a:pt x="2159007" y="2057537"/>
                            <a:pt x="1974027" y="2039505"/>
                          </a:cubicBezTo>
                          <a:cubicBezTo>
                            <a:pt x="1777457" y="2085468"/>
                            <a:pt x="1492736" y="1969082"/>
                            <a:pt x="1374571" y="1857820"/>
                          </a:cubicBezTo>
                          <a:cubicBezTo>
                            <a:pt x="1016805" y="2000863"/>
                            <a:pt x="673309" y="1839150"/>
                            <a:pt x="484102" y="1678312"/>
                          </a:cubicBezTo>
                          <a:cubicBezTo>
                            <a:pt x="339461" y="1721296"/>
                            <a:pt x="136099" y="1613418"/>
                            <a:pt x="92583" y="1478553"/>
                          </a:cubicBezTo>
                          <a:cubicBezTo>
                            <a:pt x="61260" y="1382750"/>
                            <a:pt x="95869" y="1278936"/>
                            <a:pt x="176242" y="1208913"/>
                          </a:cubicBezTo>
                          <a:cubicBezTo>
                            <a:pt x="64292" y="1152325"/>
                            <a:pt x="-16484" y="1029885"/>
                            <a:pt x="-418" y="932269"/>
                          </a:cubicBezTo>
                          <a:cubicBezTo>
                            <a:pt x="13169" y="761758"/>
                            <a:pt x="139929" y="739807"/>
                            <a:pt x="322206" y="686380"/>
                          </a:cubicBezTo>
                          <a:cubicBezTo>
                            <a:pt x="322989" y="683752"/>
                            <a:pt x="324148" y="681732"/>
                            <a:pt x="325292" y="679898"/>
                          </a:cubicBezTo>
                          <a:close/>
                        </a:path>
                        <a:path w="3603245" h="2043953" fill="none" extrusionOk="0">
                          <a:moveTo>
                            <a:pt x="391435" y="1238531"/>
                          </a:moveTo>
                          <a:cubicBezTo>
                            <a:pt x="324958" y="1245458"/>
                            <a:pt x="243880" y="1235867"/>
                            <a:pt x="180162" y="1200822"/>
                          </a:cubicBezTo>
                          <a:moveTo>
                            <a:pt x="577853" y="1651201"/>
                          </a:moveTo>
                          <a:cubicBezTo>
                            <a:pt x="552516" y="1664508"/>
                            <a:pt x="519764" y="1672433"/>
                            <a:pt x="485437" y="1669228"/>
                          </a:cubicBezTo>
                          <a:moveTo>
                            <a:pt x="1374404" y="1849493"/>
                          </a:moveTo>
                          <a:cubicBezTo>
                            <a:pt x="1347742" y="1822450"/>
                            <a:pt x="1327630" y="1795826"/>
                            <a:pt x="1318687" y="1767167"/>
                          </a:cubicBezTo>
                          <a:moveTo>
                            <a:pt x="2404415" y="1644199"/>
                          </a:moveTo>
                          <a:cubicBezTo>
                            <a:pt x="2406555" y="1667340"/>
                            <a:pt x="2395894" y="1698192"/>
                            <a:pt x="2382145" y="1734521"/>
                          </a:cubicBezTo>
                          <a:moveTo>
                            <a:pt x="2846646" y="1086039"/>
                          </a:moveTo>
                          <a:cubicBezTo>
                            <a:pt x="2992781" y="1117812"/>
                            <a:pt x="3130330" y="1275655"/>
                            <a:pt x="3117807" y="1423670"/>
                          </a:cubicBezTo>
                          <a:moveTo>
                            <a:pt x="3486306" y="726454"/>
                          </a:moveTo>
                          <a:cubicBezTo>
                            <a:pt x="3465280" y="767902"/>
                            <a:pt x="3411509" y="828461"/>
                            <a:pt x="3365530" y="853066"/>
                          </a:cubicBezTo>
                          <a:moveTo>
                            <a:pt x="3196545" y="256724"/>
                          </a:moveTo>
                          <a:cubicBezTo>
                            <a:pt x="3201750" y="280638"/>
                            <a:pt x="3204183" y="299539"/>
                            <a:pt x="3202884" y="316528"/>
                          </a:cubicBezTo>
                          <a:moveTo>
                            <a:pt x="2425350" y="186983"/>
                          </a:moveTo>
                          <a:cubicBezTo>
                            <a:pt x="2441067" y="155358"/>
                            <a:pt x="2464615" y="129586"/>
                            <a:pt x="2487239" y="110714"/>
                          </a:cubicBezTo>
                          <a:moveTo>
                            <a:pt x="1846746" y="223320"/>
                          </a:moveTo>
                          <a:cubicBezTo>
                            <a:pt x="1852039" y="200595"/>
                            <a:pt x="1864893" y="180714"/>
                            <a:pt x="1876690" y="157554"/>
                          </a:cubicBezTo>
                          <a:moveTo>
                            <a:pt x="1167718" y="245652"/>
                          </a:moveTo>
                          <a:cubicBezTo>
                            <a:pt x="1206099" y="263433"/>
                            <a:pt x="1235741" y="289830"/>
                            <a:pt x="1276149" y="309431"/>
                          </a:cubicBezTo>
                          <a:moveTo>
                            <a:pt x="344226" y="747036"/>
                          </a:moveTo>
                          <a:cubicBezTo>
                            <a:pt x="336682" y="718644"/>
                            <a:pt x="330660" y="698756"/>
                            <a:pt x="325292" y="679898"/>
                          </a:cubicBezTo>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2337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fade">
                                      <p:cBhvr>
                                        <p:cTn id="19" dur="750"/>
                                        <p:tgtEl>
                                          <p:spTgt spid="82"/>
                                        </p:tgtEl>
                                      </p:cBhvr>
                                    </p:animEffect>
                                    <p:anim calcmode="lin" valueType="num">
                                      <p:cBhvr>
                                        <p:cTn id="20" dur="750" fill="hold"/>
                                        <p:tgtEl>
                                          <p:spTgt spid="82"/>
                                        </p:tgtEl>
                                        <p:attrNameLst>
                                          <p:attrName>ppt_x</p:attrName>
                                        </p:attrNameLst>
                                      </p:cBhvr>
                                      <p:tavLst>
                                        <p:tav tm="0">
                                          <p:val>
                                            <p:strVal val="#ppt_x"/>
                                          </p:val>
                                        </p:tav>
                                        <p:tav tm="100000">
                                          <p:val>
                                            <p:strVal val="#ppt_x"/>
                                          </p:val>
                                        </p:tav>
                                      </p:tavLst>
                                    </p:anim>
                                    <p:anim calcmode="lin" valueType="num">
                                      <p:cBhvr>
                                        <p:cTn id="21" dur="75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 presetClass="emph" presetSubtype="0" fill="hold" nodeType="clickEffect">
                                  <p:stCondLst>
                                    <p:cond delay="0"/>
                                  </p:stCondLst>
                                  <p:childTnLst>
                                    <p:animScale>
                                      <p:cBhvr>
                                        <p:cTn id="25" dur="3250" fill="hold"/>
                                        <p:tgtEl>
                                          <p:spTgt spid="8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38EBE85-0467-2F91-C32B-7591D7640C34}"/>
              </a:ext>
            </a:extLst>
          </p:cNvPr>
          <p:cNvPicPr>
            <a:picLocks noChangeAspect="1"/>
          </p:cNvPicPr>
          <p:nvPr/>
        </p:nvPicPr>
        <p:blipFill>
          <a:blip r:embed="rId2"/>
          <a:stretch>
            <a:fillRect/>
          </a:stretch>
        </p:blipFill>
        <p:spPr>
          <a:xfrm>
            <a:off x="465774" y="2978536"/>
            <a:ext cx="8456553" cy="3796339"/>
          </a:xfrm>
          <a:prstGeom prst="rect">
            <a:avLst/>
          </a:prstGeom>
        </p:spPr>
      </p:pic>
      <p:sp>
        <p:nvSpPr>
          <p:cNvPr id="9" name="Explosion 2 8">
            <a:extLst>
              <a:ext uri="{FF2B5EF4-FFF2-40B4-BE49-F238E27FC236}">
                <a16:creationId xmlns:a16="http://schemas.microsoft.com/office/drawing/2014/main" id="{10B87418-E547-238B-BF3F-6574A037B8B6}"/>
              </a:ext>
            </a:extLst>
          </p:cNvPr>
          <p:cNvSpPr/>
          <p:nvPr/>
        </p:nvSpPr>
        <p:spPr>
          <a:xfrm rot="884604">
            <a:off x="9218395" y="3936686"/>
            <a:ext cx="2672554" cy="1647047"/>
          </a:xfrm>
          <a:prstGeom prst="irregularSeal2">
            <a:avLst/>
          </a:prstGeom>
          <a:gradFill flip="none" rotWithShape="1">
            <a:gsLst>
              <a:gs pos="0">
                <a:srgbClr val="FFC000">
                  <a:tint val="66000"/>
                  <a:satMod val="160000"/>
                </a:srgbClr>
              </a:gs>
              <a:gs pos="68000">
                <a:srgbClr val="FFC000"/>
              </a:gs>
              <a:gs pos="100000">
                <a:srgbClr val="FFC000">
                  <a:tint val="23500"/>
                  <a:satMod val="160000"/>
                </a:srgbClr>
              </a:gs>
            </a:gsLst>
            <a:lin ang="18900000" scaled="1"/>
            <a:tileRect/>
          </a:gradFill>
          <a:ln>
            <a:solidFill>
              <a:srgbClr val="FF0000"/>
            </a:solidFill>
            <a:extLst>
              <a:ext uri="{C807C97D-BFC1-408E-A445-0C87EB9F89A2}">
                <ask:lineSketchStyleProps xmlns:ask="http://schemas.microsoft.com/office/drawing/2018/sketchyshapes" sd="3850638319">
                  <a:custGeom>
                    <a:avLst/>
                    <a:gdLst>
                      <a:gd name="connsiteX0" fmla="*/ 1418185 w 2672554"/>
                      <a:gd name="connsiteY0" fmla="*/ 331086 h 1647047"/>
                      <a:gd name="connsiteX1" fmla="*/ 1829957 w 2672554"/>
                      <a:gd name="connsiteY1" fmla="*/ 0 h 1647047"/>
                      <a:gd name="connsiteX2" fmla="*/ 1797168 w 2672554"/>
                      <a:gd name="connsiteY2" fmla="*/ 440508 h 1647047"/>
                      <a:gd name="connsiteX3" fmla="*/ 2227994 w 2672554"/>
                      <a:gd name="connsiteY3" fmla="*/ 241871 h 1647047"/>
                      <a:gd name="connsiteX4" fmla="*/ 2026686 w 2672554"/>
                      <a:gd name="connsiteY4" fmla="*/ 498079 h 1647047"/>
                      <a:gd name="connsiteX5" fmla="*/ 2672554 w 2672554"/>
                      <a:gd name="connsiteY5" fmla="*/ 506695 h 1647047"/>
                      <a:gd name="connsiteX6" fmla="*/ 2101543 w 2672554"/>
                      <a:gd name="connsiteY6" fmla="*/ 716922 h 1647047"/>
                      <a:gd name="connsiteX7" fmla="*/ 2260535 w 2672554"/>
                      <a:gd name="connsiteY7" fmla="*/ 860887 h 1647047"/>
                      <a:gd name="connsiteX8" fmla="*/ 2026686 w 2672554"/>
                      <a:gd name="connsiteY8" fmla="*/ 938664 h 1647047"/>
                      <a:gd name="connsiteX9" fmla="*/ 2335638 w 2672554"/>
                      <a:gd name="connsiteY9" fmla="*/ 1191974 h 1647047"/>
                      <a:gd name="connsiteX10" fmla="*/ 1811397 w 2672554"/>
                      <a:gd name="connsiteY10" fmla="*/ 1094218 h 1647047"/>
                      <a:gd name="connsiteX11" fmla="*/ 1848763 w 2672554"/>
                      <a:gd name="connsiteY11" fmla="*/ 1324500 h 1647047"/>
                      <a:gd name="connsiteX12" fmla="*/ 1507023 w 2672554"/>
                      <a:gd name="connsiteY12" fmla="*/ 1215078 h 1647047"/>
                      <a:gd name="connsiteX13" fmla="*/ 1436745 w 2672554"/>
                      <a:gd name="connsiteY13" fmla="*/ 1436743 h 1647047"/>
                      <a:gd name="connsiteX14" fmla="*/ 1221456 w 2672554"/>
                      <a:gd name="connsiteY14" fmla="*/ 1324500 h 1647047"/>
                      <a:gd name="connsiteX15" fmla="*/ 1076445 w 2672554"/>
                      <a:gd name="connsiteY15" fmla="*/ 1503082 h 1647047"/>
                      <a:gd name="connsiteX16" fmla="*/ 931310 w 2672554"/>
                      <a:gd name="connsiteY16" fmla="*/ 1382070 h 1647047"/>
                      <a:gd name="connsiteX17" fmla="*/ 608377 w 2672554"/>
                      <a:gd name="connsiteY17" fmla="*/ 1647047 h 1647047"/>
                      <a:gd name="connsiteX18" fmla="*/ 594519 w 2672554"/>
                      <a:gd name="connsiteY18" fmla="*/ 1390839 h 1647047"/>
                      <a:gd name="connsiteX19" fmla="*/ 158992 w 2672554"/>
                      <a:gd name="connsiteY19" fmla="*/ 1359195 h 1647047"/>
                      <a:gd name="connsiteX20" fmla="*/ 412018 w 2672554"/>
                      <a:gd name="connsiteY20" fmla="*/ 1171995 h 1647047"/>
                      <a:gd name="connsiteX21" fmla="*/ 0 w 2672554"/>
                      <a:gd name="connsiteY21" fmla="*/ 981899 h 1647047"/>
                      <a:gd name="connsiteX22" fmla="*/ 486874 w 2672554"/>
                      <a:gd name="connsiteY22" fmla="*/ 883915 h 1647047"/>
                      <a:gd name="connsiteX23" fmla="*/ 145010 w 2672554"/>
                      <a:gd name="connsiteY23" fmla="*/ 630605 h 1647047"/>
                      <a:gd name="connsiteX24" fmla="*/ 664674 w 2672554"/>
                      <a:gd name="connsiteY24" fmla="*/ 596063 h 1647047"/>
                      <a:gd name="connsiteX25" fmla="*/ 557029 w 2672554"/>
                      <a:gd name="connsiteY25" fmla="*/ 276414 h 1647047"/>
                      <a:gd name="connsiteX26" fmla="*/ 1057885 w 2672554"/>
                      <a:gd name="connsiteY26" fmla="*/ 486641 h 1647047"/>
                      <a:gd name="connsiteX27" fmla="*/ 1202896 w 2672554"/>
                      <a:gd name="connsiteY27" fmla="*/ 143887 h 1647047"/>
                      <a:gd name="connsiteX28" fmla="*/ 1418185 w 2672554"/>
                      <a:gd name="connsiteY28" fmla="*/ 331086 h 164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72554" h="1647047" fill="none" extrusionOk="0">
                        <a:moveTo>
                          <a:pt x="1418185" y="331086"/>
                        </a:moveTo>
                        <a:cubicBezTo>
                          <a:pt x="1534384" y="214615"/>
                          <a:pt x="1690857" y="105671"/>
                          <a:pt x="1829957" y="0"/>
                        </a:cubicBezTo>
                        <a:cubicBezTo>
                          <a:pt x="1829422" y="145803"/>
                          <a:pt x="1793313" y="320036"/>
                          <a:pt x="1797168" y="440508"/>
                        </a:cubicBezTo>
                        <a:cubicBezTo>
                          <a:pt x="1964944" y="382334"/>
                          <a:pt x="2134915" y="290374"/>
                          <a:pt x="2227994" y="241871"/>
                        </a:cubicBezTo>
                        <a:cubicBezTo>
                          <a:pt x="2167508" y="301133"/>
                          <a:pt x="2096086" y="388018"/>
                          <a:pt x="2026686" y="498079"/>
                        </a:cubicBezTo>
                        <a:cubicBezTo>
                          <a:pt x="2195846" y="479968"/>
                          <a:pt x="2421454" y="512505"/>
                          <a:pt x="2672554" y="506695"/>
                        </a:cubicBezTo>
                        <a:cubicBezTo>
                          <a:pt x="2404815" y="574453"/>
                          <a:pt x="2285388" y="626627"/>
                          <a:pt x="2101543" y="716922"/>
                        </a:cubicBezTo>
                        <a:cubicBezTo>
                          <a:pt x="2146907" y="755171"/>
                          <a:pt x="2211049" y="803957"/>
                          <a:pt x="2260535" y="860887"/>
                        </a:cubicBezTo>
                        <a:cubicBezTo>
                          <a:pt x="2179361" y="877732"/>
                          <a:pt x="2138420" y="894683"/>
                          <a:pt x="2026686" y="938664"/>
                        </a:cubicBezTo>
                        <a:cubicBezTo>
                          <a:pt x="2147168" y="1030889"/>
                          <a:pt x="2267557" y="1121310"/>
                          <a:pt x="2335638" y="1191974"/>
                        </a:cubicBezTo>
                        <a:cubicBezTo>
                          <a:pt x="2173606" y="1168921"/>
                          <a:pt x="2039457" y="1134915"/>
                          <a:pt x="1811397" y="1094218"/>
                        </a:cubicBezTo>
                        <a:cubicBezTo>
                          <a:pt x="1818267" y="1165802"/>
                          <a:pt x="1834918" y="1234826"/>
                          <a:pt x="1848763" y="1324500"/>
                        </a:cubicBezTo>
                        <a:cubicBezTo>
                          <a:pt x="1692384" y="1262508"/>
                          <a:pt x="1589541" y="1223447"/>
                          <a:pt x="1507023" y="1215078"/>
                        </a:cubicBezTo>
                        <a:cubicBezTo>
                          <a:pt x="1480530" y="1297336"/>
                          <a:pt x="1458892" y="1328686"/>
                          <a:pt x="1436745" y="1436743"/>
                        </a:cubicBezTo>
                        <a:cubicBezTo>
                          <a:pt x="1376336" y="1402678"/>
                          <a:pt x="1295919" y="1376832"/>
                          <a:pt x="1221456" y="1324500"/>
                        </a:cubicBezTo>
                        <a:cubicBezTo>
                          <a:pt x="1167463" y="1403070"/>
                          <a:pt x="1147757" y="1415415"/>
                          <a:pt x="1076445" y="1503082"/>
                        </a:cubicBezTo>
                        <a:cubicBezTo>
                          <a:pt x="1005203" y="1452311"/>
                          <a:pt x="994329" y="1435523"/>
                          <a:pt x="931310" y="1382070"/>
                        </a:cubicBezTo>
                        <a:cubicBezTo>
                          <a:pt x="780200" y="1503585"/>
                          <a:pt x="772569" y="1523272"/>
                          <a:pt x="608377" y="1647047"/>
                        </a:cubicBezTo>
                        <a:cubicBezTo>
                          <a:pt x="582816" y="1557827"/>
                          <a:pt x="606001" y="1478682"/>
                          <a:pt x="594519" y="1390839"/>
                        </a:cubicBezTo>
                        <a:cubicBezTo>
                          <a:pt x="439409" y="1374963"/>
                          <a:pt x="262894" y="1345782"/>
                          <a:pt x="158992" y="1359195"/>
                        </a:cubicBezTo>
                        <a:cubicBezTo>
                          <a:pt x="252579" y="1284219"/>
                          <a:pt x="283726" y="1249688"/>
                          <a:pt x="412018" y="1171995"/>
                        </a:cubicBezTo>
                        <a:cubicBezTo>
                          <a:pt x="265405" y="1096318"/>
                          <a:pt x="129078" y="1028988"/>
                          <a:pt x="0" y="981899"/>
                        </a:cubicBezTo>
                        <a:cubicBezTo>
                          <a:pt x="233601" y="937560"/>
                          <a:pt x="309927" y="937433"/>
                          <a:pt x="486874" y="883915"/>
                        </a:cubicBezTo>
                        <a:cubicBezTo>
                          <a:pt x="364479" y="807205"/>
                          <a:pt x="291048" y="728681"/>
                          <a:pt x="145010" y="630605"/>
                        </a:cubicBezTo>
                        <a:cubicBezTo>
                          <a:pt x="301609" y="641617"/>
                          <a:pt x="521316" y="598299"/>
                          <a:pt x="664674" y="596063"/>
                        </a:cubicBezTo>
                        <a:cubicBezTo>
                          <a:pt x="636779" y="498228"/>
                          <a:pt x="616304" y="410851"/>
                          <a:pt x="557029" y="276414"/>
                        </a:cubicBezTo>
                        <a:cubicBezTo>
                          <a:pt x="737561" y="353251"/>
                          <a:pt x="928506" y="420366"/>
                          <a:pt x="1057885" y="486641"/>
                        </a:cubicBezTo>
                        <a:cubicBezTo>
                          <a:pt x="1116779" y="355632"/>
                          <a:pt x="1143583" y="265378"/>
                          <a:pt x="1202896" y="143887"/>
                        </a:cubicBezTo>
                        <a:cubicBezTo>
                          <a:pt x="1297883" y="216497"/>
                          <a:pt x="1345236" y="262201"/>
                          <a:pt x="1418185" y="331086"/>
                        </a:cubicBezTo>
                        <a:close/>
                      </a:path>
                      <a:path w="2672554" h="1647047" stroke="0" extrusionOk="0">
                        <a:moveTo>
                          <a:pt x="1418185" y="331086"/>
                        </a:moveTo>
                        <a:cubicBezTo>
                          <a:pt x="1593943" y="157625"/>
                          <a:pt x="1639977" y="128591"/>
                          <a:pt x="1829957" y="0"/>
                        </a:cubicBezTo>
                        <a:cubicBezTo>
                          <a:pt x="1837205" y="157730"/>
                          <a:pt x="1798260" y="293349"/>
                          <a:pt x="1797168" y="440508"/>
                        </a:cubicBezTo>
                        <a:cubicBezTo>
                          <a:pt x="1990864" y="373862"/>
                          <a:pt x="2075880" y="333030"/>
                          <a:pt x="2227994" y="241871"/>
                        </a:cubicBezTo>
                        <a:cubicBezTo>
                          <a:pt x="2152355" y="353366"/>
                          <a:pt x="2075510" y="440093"/>
                          <a:pt x="2026686" y="498079"/>
                        </a:cubicBezTo>
                        <a:cubicBezTo>
                          <a:pt x="2253945" y="474999"/>
                          <a:pt x="2387331" y="495546"/>
                          <a:pt x="2672554" y="506695"/>
                        </a:cubicBezTo>
                        <a:cubicBezTo>
                          <a:pt x="2553455" y="566901"/>
                          <a:pt x="2329323" y="658868"/>
                          <a:pt x="2101543" y="716922"/>
                        </a:cubicBezTo>
                        <a:cubicBezTo>
                          <a:pt x="2151405" y="755087"/>
                          <a:pt x="2208553" y="826631"/>
                          <a:pt x="2260535" y="860887"/>
                        </a:cubicBezTo>
                        <a:cubicBezTo>
                          <a:pt x="2166211" y="889108"/>
                          <a:pt x="2140772" y="912490"/>
                          <a:pt x="2026686" y="938664"/>
                        </a:cubicBezTo>
                        <a:cubicBezTo>
                          <a:pt x="2144947" y="1057922"/>
                          <a:pt x="2254404" y="1125222"/>
                          <a:pt x="2335638" y="1191974"/>
                        </a:cubicBezTo>
                        <a:cubicBezTo>
                          <a:pt x="2093878" y="1128672"/>
                          <a:pt x="2061187" y="1166758"/>
                          <a:pt x="1811397" y="1094218"/>
                        </a:cubicBezTo>
                        <a:cubicBezTo>
                          <a:pt x="1823266" y="1167988"/>
                          <a:pt x="1837059" y="1252048"/>
                          <a:pt x="1848763" y="1324500"/>
                        </a:cubicBezTo>
                        <a:cubicBezTo>
                          <a:pt x="1689456" y="1284837"/>
                          <a:pt x="1672230" y="1285589"/>
                          <a:pt x="1507023" y="1215078"/>
                        </a:cubicBezTo>
                        <a:cubicBezTo>
                          <a:pt x="1477047" y="1277200"/>
                          <a:pt x="1456463" y="1384000"/>
                          <a:pt x="1436745" y="1436743"/>
                        </a:cubicBezTo>
                        <a:cubicBezTo>
                          <a:pt x="1371187" y="1406303"/>
                          <a:pt x="1265051" y="1354353"/>
                          <a:pt x="1221456" y="1324500"/>
                        </a:cubicBezTo>
                        <a:cubicBezTo>
                          <a:pt x="1153452" y="1391820"/>
                          <a:pt x="1137832" y="1411580"/>
                          <a:pt x="1076445" y="1503082"/>
                        </a:cubicBezTo>
                        <a:cubicBezTo>
                          <a:pt x="1029929" y="1466542"/>
                          <a:pt x="967305" y="1411289"/>
                          <a:pt x="931310" y="1382070"/>
                        </a:cubicBezTo>
                        <a:cubicBezTo>
                          <a:pt x="812632" y="1466650"/>
                          <a:pt x="709896" y="1578221"/>
                          <a:pt x="608377" y="1647047"/>
                        </a:cubicBezTo>
                        <a:cubicBezTo>
                          <a:pt x="608188" y="1560975"/>
                          <a:pt x="602948" y="1462470"/>
                          <a:pt x="594519" y="1390839"/>
                        </a:cubicBezTo>
                        <a:cubicBezTo>
                          <a:pt x="452399" y="1402302"/>
                          <a:pt x="261857" y="1377461"/>
                          <a:pt x="158992" y="1359195"/>
                        </a:cubicBezTo>
                        <a:cubicBezTo>
                          <a:pt x="270508" y="1287995"/>
                          <a:pt x="359240" y="1218073"/>
                          <a:pt x="412018" y="1171995"/>
                        </a:cubicBezTo>
                        <a:cubicBezTo>
                          <a:pt x="299740" y="1129955"/>
                          <a:pt x="122917" y="1028062"/>
                          <a:pt x="0" y="981899"/>
                        </a:cubicBezTo>
                        <a:cubicBezTo>
                          <a:pt x="156321" y="949692"/>
                          <a:pt x="365937" y="907682"/>
                          <a:pt x="486874" y="883915"/>
                        </a:cubicBezTo>
                        <a:cubicBezTo>
                          <a:pt x="340212" y="782111"/>
                          <a:pt x="229774" y="683852"/>
                          <a:pt x="145010" y="630605"/>
                        </a:cubicBezTo>
                        <a:cubicBezTo>
                          <a:pt x="261133" y="618886"/>
                          <a:pt x="540584" y="601976"/>
                          <a:pt x="664674" y="596063"/>
                        </a:cubicBezTo>
                        <a:cubicBezTo>
                          <a:pt x="633634" y="511672"/>
                          <a:pt x="608722" y="428744"/>
                          <a:pt x="557029" y="276414"/>
                        </a:cubicBezTo>
                        <a:cubicBezTo>
                          <a:pt x="732035" y="350128"/>
                          <a:pt x="938405" y="457651"/>
                          <a:pt x="1057885" y="486641"/>
                        </a:cubicBezTo>
                        <a:cubicBezTo>
                          <a:pt x="1120939" y="342518"/>
                          <a:pt x="1167423" y="270614"/>
                          <a:pt x="1202896" y="143887"/>
                        </a:cubicBezTo>
                        <a:cubicBezTo>
                          <a:pt x="1251710" y="205230"/>
                          <a:pt x="1327111" y="248031"/>
                          <a:pt x="1418185" y="331086"/>
                        </a:cubicBezTo>
                        <a:close/>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HURRAY !!</a:t>
            </a:r>
          </a:p>
          <a:p>
            <a:pPr algn="ctr"/>
            <a:r>
              <a:rPr lang="en-US" sz="1200" dirty="0">
                <a:solidFill>
                  <a:schemeClr val="tx1"/>
                </a:solidFill>
              </a:rPr>
              <a:t>LESS COMPUTATION MEMORY</a:t>
            </a:r>
          </a:p>
        </p:txBody>
      </p:sp>
      <p:sp>
        <p:nvSpPr>
          <p:cNvPr id="11" name="TextBox 10">
            <a:extLst>
              <a:ext uri="{FF2B5EF4-FFF2-40B4-BE49-F238E27FC236}">
                <a16:creationId xmlns:a16="http://schemas.microsoft.com/office/drawing/2014/main" id="{E967A046-E9B1-BD6C-E098-F71DCB8B6143}"/>
              </a:ext>
            </a:extLst>
          </p:cNvPr>
          <p:cNvSpPr txBox="1"/>
          <p:nvPr/>
        </p:nvSpPr>
        <p:spPr>
          <a:xfrm>
            <a:off x="465774" y="961312"/>
            <a:ext cx="11088918" cy="1938992"/>
          </a:xfrm>
          <a:prstGeom prst="rect">
            <a:avLst/>
          </a:prstGeom>
          <a:noFill/>
        </p:spPr>
        <p:txBody>
          <a:bodyPr wrap="square" rtlCol="0">
            <a:spAutoFit/>
          </a:bodyPr>
          <a:lstStyle/>
          <a:p>
            <a:pPr marL="285750" indent="-285750" algn="just">
              <a:buFont typeface="Arial" panose="020B0604020202020204" pitchFamily="34" charset="0"/>
              <a:buChar char="•"/>
            </a:pPr>
            <a:r>
              <a:rPr lang="en-GB" sz="2000" b="1" dirty="0">
                <a:latin typeface="Optima" panose="02000503060000020004" pitchFamily="2" charset="0"/>
              </a:rPr>
              <a:t>LoRa (Low-Rank Adaptation): </a:t>
            </a:r>
            <a:r>
              <a:rPr lang="en-GB" sz="2000" dirty="0">
                <a:latin typeface="Optima" panose="02000503060000020004" pitchFamily="2" charset="0"/>
              </a:rPr>
              <a:t>LoRa is a fine-tuning technique that adapts pre-trained models by introducing low-rank updates to the model's weight matrices, significantly reducing the number of parameters that need to be adjusted. </a:t>
            </a:r>
          </a:p>
          <a:p>
            <a:pPr marL="285750" indent="-285750" algn="just">
              <a:buFont typeface="Arial" panose="020B0604020202020204" pitchFamily="34" charset="0"/>
              <a:buChar char="•"/>
            </a:pPr>
            <a:endParaRPr lang="en-GB" sz="2000" dirty="0">
              <a:latin typeface="Optima" panose="02000503060000020004" pitchFamily="2" charset="0"/>
            </a:endParaRPr>
          </a:p>
          <a:p>
            <a:pPr marL="285750" indent="-285750" algn="just">
              <a:buFont typeface="Arial" panose="020B0604020202020204" pitchFamily="34" charset="0"/>
              <a:buChar char="•"/>
            </a:pPr>
            <a:r>
              <a:rPr lang="en-GB" sz="2000" dirty="0">
                <a:latin typeface="Optima" panose="02000503060000020004" pitchFamily="2" charset="0"/>
              </a:rPr>
              <a:t>This allows for efficient training by updating only a small subset of weights, making it ideal for scenarios with limited computational resources or when targeting specific, specialized tasks.</a:t>
            </a:r>
            <a:endParaRPr lang="en-US" sz="2000" dirty="0">
              <a:latin typeface="Optima" panose="02000503060000020004" pitchFamily="2" charset="0"/>
            </a:endParaRPr>
          </a:p>
        </p:txBody>
      </p:sp>
      <p:sp>
        <p:nvSpPr>
          <p:cNvPr id="14" name="Title 1">
            <a:extLst>
              <a:ext uri="{FF2B5EF4-FFF2-40B4-BE49-F238E27FC236}">
                <a16:creationId xmlns:a16="http://schemas.microsoft.com/office/drawing/2014/main" id="{638AF0CF-535C-91AF-7D0C-47FA03ABF2A1}"/>
              </a:ext>
            </a:extLst>
          </p:cNvPr>
          <p:cNvSpPr>
            <a:spLocks noGrp="1"/>
          </p:cNvSpPr>
          <p:nvPr>
            <p:ph type="title"/>
          </p:nvPr>
        </p:nvSpPr>
        <p:spPr>
          <a:xfrm>
            <a:off x="4842020" y="343485"/>
            <a:ext cx="2507959" cy="559329"/>
          </a:xfrm>
        </p:spPr>
        <p:txBody>
          <a:bodyPr anchor="t">
            <a:normAutofit/>
          </a:bodyPr>
          <a:lstStyle/>
          <a:p>
            <a:pPr algn="ctr"/>
            <a:r>
              <a:rPr lang="en-US" sz="2800" b="1" u="sng" dirty="0">
                <a:latin typeface="Times New Roman" panose="02020603050405020304" pitchFamily="18" charset="0"/>
                <a:cs typeface="Times New Roman" panose="02020603050405020304" pitchFamily="18" charset="0"/>
              </a:rPr>
              <a:t>Solution: LoRa</a:t>
            </a:r>
          </a:p>
        </p:txBody>
      </p:sp>
    </p:spTree>
    <p:extLst>
      <p:ext uri="{BB962C8B-B14F-4D97-AF65-F5344CB8AC3E}">
        <p14:creationId xmlns:p14="http://schemas.microsoft.com/office/powerpoint/2010/main" val="336646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ssolv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750" fill="hold"/>
                                        <p:tgtEl>
                                          <p:spTgt spid="9"/>
                                        </p:tgtEl>
                                        <p:attrNameLst>
                                          <p:attrName>ppt_w</p:attrName>
                                        </p:attrNameLst>
                                      </p:cBhvr>
                                      <p:tavLst>
                                        <p:tav tm="0">
                                          <p:val>
                                            <p:fltVal val="0"/>
                                          </p:val>
                                        </p:tav>
                                        <p:tav tm="100000">
                                          <p:val>
                                            <p:strVal val="#ppt_w"/>
                                          </p:val>
                                        </p:tav>
                                      </p:tavLst>
                                    </p:anim>
                                    <p:anim calcmode="lin" valueType="num">
                                      <p:cBhvr>
                                        <p:cTn id="25" dur="1750" fill="hold"/>
                                        <p:tgtEl>
                                          <p:spTgt spid="9"/>
                                        </p:tgtEl>
                                        <p:attrNameLst>
                                          <p:attrName>ppt_h</p:attrName>
                                        </p:attrNameLst>
                                      </p:cBhvr>
                                      <p:tavLst>
                                        <p:tav tm="0">
                                          <p:val>
                                            <p:fltVal val="0"/>
                                          </p:val>
                                        </p:tav>
                                        <p:tav tm="100000">
                                          <p:val>
                                            <p:strVal val="#ppt_h"/>
                                          </p:val>
                                        </p:tav>
                                      </p:tavLst>
                                    </p:anim>
                                    <p:anim calcmode="lin" valueType="num">
                                      <p:cBhvr>
                                        <p:cTn id="26" dur="1750" fill="hold"/>
                                        <p:tgtEl>
                                          <p:spTgt spid="9"/>
                                        </p:tgtEl>
                                        <p:attrNameLst>
                                          <p:attrName>style.rotation</p:attrName>
                                        </p:attrNameLst>
                                      </p:cBhvr>
                                      <p:tavLst>
                                        <p:tav tm="0">
                                          <p:val>
                                            <p:fltVal val="90"/>
                                          </p:val>
                                        </p:tav>
                                        <p:tav tm="100000">
                                          <p:val>
                                            <p:fltVal val="0"/>
                                          </p:val>
                                        </p:tav>
                                      </p:tavLst>
                                    </p:anim>
                                    <p:animEffect transition="in" filter="fade">
                                      <p:cBhvr>
                                        <p:cTn id="27"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9496EC-CFC7-BA3A-78D0-6A756EB82782}"/>
              </a:ext>
            </a:extLst>
          </p:cNvPr>
          <p:cNvSpPr txBox="1"/>
          <p:nvPr/>
        </p:nvSpPr>
        <p:spPr>
          <a:xfrm>
            <a:off x="454200" y="1111782"/>
            <a:ext cx="11088918" cy="3139321"/>
          </a:xfrm>
          <a:prstGeom prst="rect">
            <a:avLst/>
          </a:prstGeom>
          <a:noFill/>
        </p:spPr>
        <p:txBody>
          <a:bodyPr wrap="square" rtlCol="0">
            <a:spAutoFit/>
          </a:bodyPr>
          <a:lstStyle/>
          <a:p>
            <a:pPr marL="342900" indent="-342900" algn="just">
              <a:buFont typeface="Arial" panose="020B0604020202020204" pitchFamily="34" charset="0"/>
              <a:buChar char="•"/>
            </a:pPr>
            <a:r>
              <a:rPr lang="en-GB" dirty="0">
                <a:latin typeface="Optima" panose="02000503060000020004" pitchFamily="2" charset="0"/>
              </a:rPr>
              <a:t>It is a technique where the precision of the model’s parameters (like weights and biases) is reduced from high-precision formats (such as 32-bit or 16-bit floating-point numbers) to lower-precision formats (such as 8-bit integers).</a:t>
            </a:r>
          </a:p>
          <a:p>
            <a:pPr marL="342900" indent="-342900" algn="just">
              <a:buFont typeface="Arial" panose="020B0604020202020204" pitchFamily="34" charset="0"/>
              <a:buChar char="•"/>
            </a:pPr>
            <a:endParaRPr lang="en-GB" dirty="0">
              <a:latin typeface="Optima" panose="02000503060000020004" pitchFamily="2" charset="0"/>
            </a:endParaRPr>
          </a:p>
          <a:p>
            <a:pPr marL="342900" indent="-342900" algn="just">
              <a:buFont typeface="Arial" panose="020B0604020202020204" pitchFamily="34" charset="0"/>
              <a:buChar char="•"/>
            </a:pPr>
            <a:r>
              <a:rPr lang="en-GB" b="1" dirty="0">
                <a:latin typeface="Optima" panose="02000503060000020004" pitchFamily="2" charset="0"/>
              </a:rPr>
              <a:t>Minimal Impact on Performance: </a:t>
            </a:r>
            <a:r>
              <a:rPr lang="en-GB" dirty="0">
                <a:latin typeface="Optima" panose="02000503060000020004" pitchFamily="2" charset="0"/>
              </a:rPr>
              <a:t>Properly quantized models can maintain nearly the same level of performance as their high-precision counterparts while significantly reducing computational and memory overhead.</a:t>
            </a:r>
          </a:p>
          <a:p>
            <a:pPr marL="285750" indent="-285750" algn="just">
              <a:buFont typeface="Arial" panose="020B0604020202020204" pitchFamily="34" charset="0"/>
              <a:buChar char="•"/>
            </a:pPr>
            <a:endParaRPr lang="en-GB" dirty="0">
              <a:latin typeface="Optima" panose="02000503060000020004" pitchFamily="2" charset="0"/>
            </a:endParaRPr>
          </a:p>
          <a:p>
            <a:pPr marL="285750" indent="-285750" algn="just">
              <a:buFont typeface="Arial" panose="020B0604020202020204" pitchFamily="34" charset="0"/>
              <a:buChar char="•"/>
            </a:pPr>
            <a:r>
              <a:rPr lang="en-US" b="1" dirty="0">
                <a:latin typeface="Optima" panose="02000503060000020004" pitchFamily="2" charset="0"/>
              </a:rPr>
              <a:t>16-bit precision: </a:t>
            </a:r>
            <a:r>
              <a:rPr lang="en-US" dirty="0">
                <a:latin typeface="Optima" panose="02000503060000020004" pitchFamily="2" charset="0"/>
              </a:rPr>
              <a:t>(often called "half-precision") uses only 16 bits to represent a floating-point number. While this format offers less accuracy and a smaller range of values compared to 32-bit precision, it significantly reduces memory usage and computational requirements. </a:t>
            </a:r>
          </a:p>
        </p:txBody>
      </p:sp>
      <p:sp>
        <p:nvSpPr>
          <p:cNvPr id="4" name="Title 1">
            <a:extLst>
              <a:ext uri="{FF2B5EF4-FFF2-40B4-BE49-F238E27FC236}">
                <a16:creationId xmlns:a16="http://schemas.microsoft.com/office/drawing/2014/main" id="{013993A0-43D9-5DFB-3B07-CA6D81AAE0C5}"/>
              </a:ext>
            </a:extLst>
          </p:cNvPr>
          <p:cNvSpPr txBox="1">
            <a:spLocks/>
          </p:cNvSpPr>
          <p:nvPr/>
        </p:nvSpPr>
        <p:spPr>
          <a:xfrm>
            <a:off x="3543783" y="401358"/>
            <a:ext cx="5104434" cy="559329"/>
          </a:xfrm>
          <a:prstGeom prst="rect">
            <a:avLst/>
          </a:prstGeom>
        </p:spPr>
        <p:txBody>
          <a:bodyPr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u="sng" dirty="0">
                <a:latin typeface="Times New Roman" panose="02020603050405020304" pitchFamily="18" charset="0"/>
                <a:cs typeface="Times New Roman" panose="02020603050405020304" pitchFamily="18" charset="0"/>
              </a:rPr>
              <a:t>Solution: Quantized Models</a:t>
            </a:r>
          </a:p>
        </p:txBody>
      </p:sp>
      <p:pic>
        <p:nvPicPr>
          <p:cNvPr id="6" name="Picture 5">
            <a:extLst>
              <a:ext uri="{FF2B5EF4-FFF2-40B4-BE49-F238E27FC236}">
                <a16:creationId xmlns:a16="http://schemas.microsoft.com/office/drawing/2014/main" id="{979660F2-9CD1-E386-C2B4-C7B4C4CCEFE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10886" y="4402198"/>
            <a:ext cx="3544425" cy="2054444"/>
          </a:xfrm>
          <a:prstGeom prst="rect">
            <a:avLst/>
          </a:prstGeom>
        </p:spPr>
      </p:pic>
    </p:spTree>
    <p:extLst>
      <p:ext uri="{BB962C8B-B14F-4D97-AF65-F5344CB8AC3E}">
        <p14:creationId xmlns:p14="http://schemas.microsoft.com/office/powerpoint/2010/main" val="2897217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292771-3B68-3236-697B-757A177CB77A}"/>
              </a:ext>
            </a:extLst>
          </p:cNvPr>
          <p:cNvSpPr txBox="1"/>
          <p:nvPr/>
        </p:nvSpPr>
        <p:spPr>
          <a:xfrm>
            <a:off x="689722" y="2809862"/>
            <a:ext cx="4162373" cy="1323439"/>
          </a:xfrm>
          <a:prstGeom prst="rect">
            <a:avLst/>
          </a:prstGeom>
          <a:noFill/>
        </p:spPr>
        <p:txBody>
          <a:bodyPr wrap="square" rtlCol="0">
            <a:spAutoFit/>
          </a:bodyPr>
          <a:lstStyle/>
          <a:p>
            <a:pPr algn="ctr"/>
            <a:r>
              <a:rPr lang="en-US" sz="8000" dirty="0">
                <a:latin typeface="Optima" panose="02000503060000020004" pitchFamily="2" charset="0"/>
              </a:rPr>
              <a:t>RESULTS</a:t>
            </a:r>
          </a:p>
        </p:txBody>
      </p:sp>
      <p:pic>
        <p:nvPicPr>
          <p:cNvPr id="6" name="Picture 5">
            <a:extLst>
              <a:ext uri="{FF2B5EF4-FFF2-40B4-BE49-F238E27FC236}">
                <a16:creationId xmlns:a16="http://schemas.microsoft.com/office/drawing/2014/main" id="{BAD911F4-61E7-5138-4A26-2414B09E0D0F}"/>
              </a:ext>
            </a:extLst>
          </p:cNvPr>
          <p:cNvPicPr>
            <a:picLocks noChangeAspect="1"/>
          </p:cNvPicPr>
          <p:nvPr/>
        </p:nvPicPr>
        <p:blipFill>
          <a:blip r:embed="rId2"/>
          <a:stretch>
            <a:fillRect/>
          </a:stretch>
        </p:blipFill>
        <p:spPr>
          <a:xfrm>
            <a:off x="5248836" y="0"/>
            <a:ext cx="6943164" cy="6943164"/>
          </a:xfrm>
          <a:prstGeom prst="rect">
            <a:avLst/>
          </a:prstGeom>
        </p:spPr>
      </p:pic>
    </p:spTree>
    <p:extLst>
      <p:ext uri="{BB962C8B-B14F-4D97-AF65-F5344CB8AC3E}">
        <p14:creationId xmlns:p14="http://schemas.microsoft.com/office/powerpoint/2010/main" val="3827444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8B36D3D-FDAE-695E-DB13-B3DD8EFC15E1}"/>
              </a:ext>
            </a:extLst>
          </p:cNvPr>
          <p:cNvGraphicFramePr>
            <a:graphicFrameLocks noGrp="1"/>
          </p:cNvGraphicFramePr>
          <p:nvPr>
            <p:extLst>
              <p:ext uri="{D42A27DB-BD31-4B8C-83A1-F6EECF244321}">
                <p14:modId xmlns:p14="http://schemas.microsoft.com/office/powerpoint/2010/main" val="753381369"/>
              </p:ext>
            </p:extLst>
          </p:nvPr>
        </p:nvGraphicFramePr>
        <p:xfrm>
          <a:off x="1431009" y="3881321"/>
          <a:ext cx="9329981" cy="2591918"/>
        </p:xfrm>
        <a:graphic>
          <a:graphicData uri="http://schemas.openxmlformats.org/drawingml/2006/table">
            <a:tbl>
              <a:tblPr firstRow="1" bandRow="1">
                <a:tableStyleId>{5FD0F851-EC5A-4D38-B0AD-8093EC10F338}</a:tableStyleId>
              </a:tblPr>
              <a:tblGrid>
                <a:gridCol w="3378885">
                  <a:extLst>
                    <a:ext uri="{9D8B030D-6E8A-4147-A177-3AD203B41FA5}">
                      <a16:colId xmlns:a16="http://schemas.microsoft.com/office/drawing/2014/main" val="1628418041"/>
                    </a:ext>
                  </a:extLst>
                </a:gridCol>
                <a:gridCol w="1519547">
                  <a:extLst>
                    <a:ext uri="{9D8B030D-6E8A-4147-A177-3AD203B41FA5}">
                      <a16:colId xmlns:a16="http://schemas.microsoft.com/office/drawing/2014/main" val="4282778236"/>
                    </a:ext>
                  </a:extLst>
                </a:gridCol>
                <a:gridCol w="1289961">
                  <a:extLst>
                    <a:ext uri="{9D8B030D-6E8A-4147-A177-3AD203B41FA5}">
                      <a16:colId xmlns:a16="http://schemas.microsoft.com/office/drawing/2014/main" val="657322111"/>
                    </a:ext>
                  </a:extLst>
                </a:gridCol>
                <a:gridCol w="1542711">
                  <a:extLst>
                    <a:ext uri="{9D8B030D-6E8A-4147-A177-3AD203B41FA5}">
                      <a16:colId xmlns:a16="http://schemas.microsoft.com/office/drawing/2014/main" val="233665531"/>
                    </a:ext>
                  </a:extLst>
                </a:gridCol>
                <a:gridCol w="1598877">
                  <a:extLst>
                    <a:ext uri="{9D8B030D-6E8A-4147-A177-3AD203B41FA5}">
                      <a16:colId xmlns:a16="http://schemas.microsoft.com/office/drawing/2014/main" val="2128147178"/>
                    </a:ext>
                  </a:extLst>
                </a:gridCol>
              </a:tblGrid>
              <a:tr h="370274">
                <a:tc>
                  <a:txBody>
                    <a:bodyPr/>
                    <a:lstStyle/>
                    <a:p>
                      <a:pPr algn="ctr"/>
                      <a:r>
                        <a:rPr lang="en-US" b="0" i="0" dirty="0">
                          <a:latin typeface="Times New Roman" panose="02020603050405020304" pitchFamily="18" charset="0"/>
                          <a:cs typeface="Times New Roman" panose="02020603050405020304" pitchFamily="18" charset="0"/>
                        </a:rPr>
                        <a:t>Model </a:t>
                      </a:r>
                    </a:p>
                  </a:txBody>
                  <a:tcPr/>
                </a:tc>
                <a:tc>
                  <a:txBody>
                    <a:bodyPr/>
                    <a:lstStyle/>
                    <a:p>
                      <a:pPr algn="ctr"/>
                      <a:r>
                        <a:rPr lang="en-US" b="0" i="0" dirty="0" err="1">
                          <a:latin typeface="Times New Roman" panose="02020603050405020304" pitchFamily="18" charset="0"/>
                          <a:cs typeface="Times New Roman" panose="02020603050405020304" pitchFamily="18" charset="0"/>
                        </a:rPr>
                        <a:t>max_seq_len</a:t>
                      </a:r>
                      <a:endParaRPr lang="en-US" b="0" i="0" dirty="0">
                        <a:latin typeface="Times New Roman" panose="02020603050405020304" pitchFamily="18" charset="0"/>
                        <a:cs typeface="Times New Roman" panose="02020603050405020304" pitchFamily="18" charset="0"/>
                      </a:endParaRPr>
                    </a:p>
                  </a:txBody>
                  <a:tcPr/>
                </a:tc>
                <a:tc>
                  <a:txBody>
                    <a:bodyPr/>
                    <a:lstStyle/>
                    <a:p>
                      <a:pPr algn="ctr"/>
                      <a:r>
                        <a:rPr lang="en-US" b="0" i="0" dirty="0">
                          <a:latin typeface="Times New Roman" panose="02020603050405020304" pitchFamily="18" charset="0"/>
                          <a:cs typeface="Times New Roman" panose="02020603050405020304" pitchFamily="18" charset="0"/>
                        </a:rPr>
                        <a:t>epochs</a:t>
                      </a:r>
                    </a:p>
                  </a:txBody>
                  <a:tcPr/>
                </a:tc>
                <a:tc>
                  <a:txBody>
                    <a:bodyPr/>
                    <a:lstStyle/>
                    <a:p>
                      <a:pPr algn="ctr"/>
                      <a:r>
                        <a:rPr lang="en-US" b="0" i="0" dirty="0">
                          <a:latin typeface="Times New Roman" panose="02020603050405020304" pitchFamily="18" charset="0"/>
                          <a:cs typeface="Times New Roman" panose="02020603050405020304" pitchFamily="18" charset="0"/>
                        </a:rPr>
                        <a:t>Micro f1</a:t>
                      </a:r>
                    </a:p>
                  </a:txBody>
                  <a:tcPr/>
                </a:tc>
                <a:tc>
                  <a:txBody>
                    <a:bodyPr/>
                    <a:lstStyle/>
                    <a:p>
                      <a:pPr algn="ctr"/>
                      <a:r>
                        <a:rPr lang="en-US" b="0" i="0" dirty="0">
                          <a:latin typeface="Times New Roman" panose="02020603050405020304" pitchFamily="18" charset="0"/>
                          <a:cs typeface="Times New Roman" panose="02020603050405020304" pitchFamily="18" charset="0"/>
                        </a:rPr>
                        <a:t>Macro f1</a:t>
                      </a:r>
                    </a:p>
                  </a:txBody>
                  <a:tcPr/>
                </a:tc>
                <a:extLst>
                  <a:ext uri="{0D108BD9-81ED-4DB2-BD59-A6C34878D82A}">
                    <a16:rowId xmlns:a16="http://schemas.microsoft.com/office/drawing/2014/main" val="1357946637"/>
                  </a:ext>
                </a:extLst>
              </a:tr>
              <a:tr h="370274">
                <a:tc>
                  <a:txBody>
                    <a:bodyPr/>
                    <a:lstStyle/>
                    <a:p>
                      <a:pPr algn="ctr"/>
                      <a:r>
                        <a:rPr lang="en-US" b="0" i="0" dirty="0">
                          <a:latin typeface="Times New Roman" panose="02020603050405020304" pitchFamily="18" charset="0"/>
                          <a:cs typeface="Times New Roman" panose="02020603050405020304" pitchFamily="18" charset="0"/>
                        </a:rPr>
                        <a:t>GPT-2-small</a:t>
                      </a:r>
                    </a:p>
                  </a:txBody>
                  <a:tcPr/>
                </a:tc>
                <a:tc>
                  <a:txBody>
                    <a:bodyPr/>
                    <a:lstStyle/>
                    <a:p>
                      <a:pPr algn="ctr"/>
                      <a:r>
                        <a:rPr lang="en-US" b="0" i="0" dirty="0">
                          <a:latin typeface="Times New Roman" panose="02020603050405020304" pitchFamily="18" charset="0"/>
                          <a:cs typeface="Times New Roman" panose="02020603050405020304" pitchFamily="18" charset="0"/>
                        </a:rPr>
                        <a:t>512</a:t>
                      </a:r>
                    </a:p>
                  </a:txBody>
                  <a:tcPr/>
                </a:tc>
                <a:tc>
                  <a:txBody>
                    <a:bodyPr/>
                    <a:lstStyle/>
                    <a:p>
                      <a:pPr algn="ctr"/>
                      <a:r>
                        <a:rPr lang="en-US" b="0" i="0" dirty="0">
                          <a:latin typeface="Times New Roman" panose="02020603050405020304" pitchFamily="18" charset="0"/>
                          <a:cs typeface="Times New Roman" panose="02020603050405020304" pitchFamily="18" charset="0"/>
                        </a:rPr>
                        <a:t>3</a:t>
                      </a:r>
                    </a:p>
                  </a:txBody>
                  <a:tcPr/>
                </a:tc>
                <a:tc>
                  <a:txBody>
                    <a:bodyPr/>
                    <a:lstStyle/>
                    <a:p>
                      <a:pPr algn="ctr"/>
                      <a:r>
                        <a:rPr lang="en-US" b="0" i="0" dirty="0">
                          <a:latin typeface="Times New Roman" panose="02020603050405020304" pitchFamily="18" charset="0"/>
                          <a:cs typeface="Times New Roman" panose="02020603050405020304" pitchFamily="18" charset="0"/>
                        </a:rPr>
                        <a:t>0.631</a:t>
                      </a:r>
                    </a:p>
                  </a:txBody>
                  <a:tcPr/>
                </a:tc>
                <a:tc>
                  <a:txBody>
                    <a:bodyPr/>
                    <a:lstStyle/>
                    <a:p>
                      <a:pPr algn="ctr"/>
                      <a:r>
                        <a:rPr lang="en-US" b="0" i="0" dirty="0">
                          <a:latin typeface="Times New Roman" panose="02020603050405020304" pitchFamily="18" charset="0"/>
                          <a:cs typeface="Times New Roman" panose="02020603050405020304" pitchFamily="18" charset="0"/>
                        </a:rPr>
                        <a:t>0.556</a:t>
                      </a:r>
                    </a:p>
                  </a:txBody>
                  <a:tcPr/>
                </a:tc>
                <a:extLst>
                  <a:ext uri="{0D108BD9-81ED-4DB2-BD59-A6C34878D82A}">
                    <a16:rowId xmlns:a16="http://schemas.microsoft.com/office/drawing/2014/main" val="2432433373"/>
                  </a:ext>
                </a:extLst>
              </a:tr>
              <a:tr h="3702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i="0" dirty="0">
                          <a:latin typeface="Times New Roman" panose="02020603050405020304" pitchFamily="18" charset="0"/>
                          <a:cs typeface="Times New Roman" panose="02020603050405020304" pitchFamily="18" charset="0"/>
                        </a:rPr>
                        <a:t>GPT-2-small </a:t>
                      </a:r>
                    </a:p>
                  </a:txBody>
                  <a:tcPr/>
                </a:tc>
                <a:tc>
                  <a:txBody>
                    <a:bodyPr/>
                    <a:lstStyle/>
                    <a:p>
                      <a:pPr algn="ctr"/>
                      <a:r>
                        <a:rPr lang="en-US" b="0" i="0" dirty="0">
                          <a:latin typeface="Times New Roman" panose="02020603050405020304" pitchFamily="18" charset="0"/>
                          <a:cs typeface="Times New Roman" panose="02020603050405020304" pitchFamily="18" charset="0"/>
                        </a:rPr>
                        <a:t>1024</a:t>
                      </a:r>
                    </a:p>
                  </a:txBody>
                  <a:tcPr/>
                </a:tc>
                <a:tc>
                  <a:txBody>
                    <a:bodyPr/>
                    <a:lstStyle/>
                    <a:p>
                      <a:pPr algn="ctr"/>
                      <a:r>
                        <a:rPr lang="en-US" b="0" i="0" dirty="0">
                          <a:latin typeface="Times New Roman" panose="02020603050405020304" pitchFamily="18" charset="0"/>
                          <a:cs typeface="Times New Roman" panose="02020603050405020304" pitchFamily="18" charset="0"/>
                        </a:rPr>
                        <a:t>3</a:t>
                      </a:r>
                    </a:p>
                  </a:txBody>
                  <a:tcPr/>
                </a:tc>
                <a:tc>
                  <a:txBody>
                    <a:bodyPr/>
                    <a:lstStyle/>
                    <a:p>
                      <a:pPr algn="ctr"/>
                      <a:r>
                        <a:rPr lang="en-US" b="0" i="0" dirty="0">
                          <a:latin typeface="Times New Roman" panose="02020603050405020304" pitchFamily="18" charset="0"/>
                          <a:cs typeface="Times New Roman" panose="02020603050405020304" pitchFamily="18" charset="0"/>
                        </a:rPr>
                        <a:t>0.675</a:t>
                      </a:r>
                    </a:p>
                  </a:txBody>
                  <a:tcPr/>
                </a:tc>
                <a:tc>
                  <a:txBody>
                    <a:bodyPr/>
                    <a:lstStyle/>
                    <a:p>
                      <a:pPr algn="ctr"/>
                      <a:r>
                        <a:rPr lang="en-US" b="0" i="0" dirty="0">
                          <a:latin typeface="Times New Roman" panose="02020603050405020304" pitchFamily="18" charset="0"/>
                          <a:cs typeface="Times New Roman" panose="02020603050405020304" pitchFamily="18" charset="0"/>
                        </a:rPr>
                        <a:t>0.579</a:t>
                      </a:r>
                    </a:p>
                  </a:txBody>
                  <a:tcPr/>
                </a:tc>
                <a:extLst>
                  <a:ext uri="{0D108BD9-81ED-4DB2-BD59-A6C34878D82A}">
                    <a16:rowId xmlns:a16="http://schemas.microsoft.com/office/drawing/2014/main" val="1412509021"/>
                  </a:ext>
                </a:extLst>
              </a:tr>
              <a:tr h="370274">
                <a:tc>
                  <a:txBody>
                    <a:bodyPr/>
                    <a:lstStyle/>
                    <a:p>
                      <a:pPr algn="ctr"/>
                      <a:r>
                        <a:rPr lang="en-US" b="0" i="0" dirty="0">
                          <a:latin typeface="Times New Roman" panose="02020603050405020304" pitchFamily="18" charset="0"/>
                          <a:cs typeface="Times New Roman" panose="02020603050405020304" pitchFamily="18" charset="0"/>
                        </a:rPr>
                        <a:t>Phi-2</a:t>
                      </a:r>
                    </a:p>
                  </a:txBody>
                  <a:tcPr/>
                </a:tc>
                <a:tc>
                  <a:txBody>
                    <a:bodyPr/>
                    <a:lstStyle/>
                    <a:p>
                      <a:pPr algn="ctr"/>
                      <a:r>
                        <a:rPr lang="en-US" b="0" i="0" dirty="0">
                          <a:latin typeface="Times New Roman" panose="02020603050405020304" pitchFamily="18" charset="0"/>
                          <a:cs typeface="Times New Roman" panose="02020603050405020304" pitchFamily="18" charset="0"/>
                        </a:rPr>
                        <a:t>512</a:t>
                      </a:r>
                    </a:p>
                  </a:txBody>
                  <a:tcPr/>
                </a:tc>
                <a:tc>
                  <a:txBody>
                    <a:bodyPr/>
                    <a:lstStyle/>
                    <a:p>
                      <a:pPr algn="ctr"/>
                      <a:r>
                        <a:rPr lang="en-US" b="0" i="0" dirty="0">
                          <a:latin typeface="Times New Roman" panose="02020603050405020304" pitchFamily="18" charset="0"/>
                          <a:cs typeface="Times New Roman" panose="02020603050405020304" pitchFamily="18" charset="0"/>
                        </a:rPr>
                        <a:t>3</a:t>
                      </a:r>
                    </a:p>
                  </a:txBody>
                  <a:tcPr/>
                </a:tc>
                <a:tc>
                  <a:txBody>
                    <a:bodyPr/>
                    <a:lstStyle/>
                    <a:p>
                      <a:pPr algn="ctr"/>
                      <a:r>
                        <a:rPr lang="en-US" b="0" i="0" dirty="0">
                          <a:latin typeface="Times New Roman" panose="02020603050405020304" pitchFamily="18" charset="0"/>
                          <a:cs typeface="Times New Roman" panose="02020603050405020304" pitchFamily="18" charset="0"/>
                        </a:rPr>
                        <a:t>0.628</a:t>
                      </a:r>
                    </a:p>
                  </a:txBody>
                  <a:tcPr/>
                </a:tc>
                <a:tc>
                  <a:txBody>
                    <a:bodyPr/>
                    <a:lstStyle/>
                    <a:p>
                      <a:pPr algn="ctr"/>
                      <a:r>
                        <a:rPr lang="en-US" b="0" i="0" dirty="0">
                          <a:latin typeface="Times New Roman" panose="02020603050405020304" pitchFamily="18" charset="0"/>
                          <a:cs typeface="Times New Roman" panose="02020603050405020304" pitchFamily="18" charset="0"/>
                        </a:rPr>
                        <a:t>0.477</a:t>
                      </a:r>
                    </a:p>
                  </a:txBody>
                  <a:tcPr/>
                </a:tc>
                <a:extLst>
                  <a:ext uri="{0D108BD9-81ED-4DB2-BD59-A6C34878D82A}">
                    <a16:rowId xmlns:a16="http://schemas.microsoft.com/office/drawing/2014/main" val="1814299100"/>
                  </a:ext>
                </a:extLst>
              </a:tr>
              <a:tr h="370274">
                <a:tc>
                  <a:txBody>
                    <a:bodyPr/>
                    <a:lstStyle/>
                    <a:p>
                      <a:pPr algn="ctr"/>
                      <a:r>
                        <a:rPr lang="en-US" b="0" i="0" dirty="0">
                          <a:latin typeface="Times New Roman" panose="02020603050405020304" pitchFamily="18" charset="0"/>
                          <a:cs typeface="Times New Roman" panose="02020603050405020304" pitchFamily="18" charset="0"/>
                        </a:rPr>
                        <a:t>Phi-2</a:t>
                      </a:r>
                    </a:p>
                  </a:txBody>
                  <a:tcPr/>
                </a:tc>
                <a:tc>
                  <a:txBody>
                    <a:bodyPr/>
                    <a:lstStyle/>
                    <a:p>
                      <a:pPr algn="ctr"/>
                      <a:r>
                        <a:rPr lang="en-US" b="0" i="0" dirty="0">
                          <a:latin typeface="Times New Roman" panose="02020603050405020304" pitchFamily="18" charset="0"/>
                          <a:cs typeface="Times New Roman" panose="02020603050405020304" pitchFamily="18" charset="0"/>
                        </a:rPr>
                        <a:t>1024</a:t>
                      </a:r>
                    </a:p>
                  </a:txBody>
                  <a:tcPr/>
                </a:tc>
                <a:tc>
                  <a:txBody>
                    <a:bodyPr/>
                    <a:lstStyle/>
                    <a:p>
                      <a:pPr algn="ctr"/>
                      <a:r>
                        <a:rPr lang="en-US" b="0" i="0" dirty="0">
                          <a:latin typeface="Times New Roman" panose="02020603050405020304" pitchFamily="18" charset="0"/>
                          <a:cs typeface="Times New Roman" panose="02020603050405020304" pitchFamily="18" charset="0"/>
                        </a:rPr>
                        <a:t>3</a:t>
                      </a:r>
                    </a:p>
                  </a:txBody>
                  <a:tcPr/>
                </a:tc>
                <a:tc>
                  <a:txBody>
                    <a:bodyPr/>
                    <a:lstStyle/>
                    <a:p>
                      <a:pPr algn="ctr"/>
                      <a:r>
                        <a:rPr lang="en-US" b="0" i="0" dirty="0">
                          <a:latin typeface="Times New Roman" panose="02020603050405020304" pitchFamily="18" charset="0"/>
                          <a:cs typeface="Times New Roman" panose="02020603050405020304" pitchFamily="18" charset="0"/>
                        </a:rPr>
                        <a:t>0.636</a:t>
                      </a:r>
                    </a:p>
                  </a:txBody>
                  <a:tcPr/>
                </a:tc>
                <a:tc>
                  <a:txBody>
                    <a:bodyPr/>
                    <a:lstStyle/>
                    <a:p>
                      <a:pPr algn="ctr"/>
                      <a:r>
                        <a:rPr lang="en-US" b="0" i="0" dirty="0">
                          <a:latin typeface="Times New Roman" panose="02020603050405020304" pitchFamily="18" charset="0"/>
                          <a:cs typeface="Times New Roman" panose="02020603050405020304" pitchFamily="18" charset="0"/>
                        </a:rPr>
                        <a:t>0.521</a:t>
                      </a:r>
                    </a:p>
                  </a:txBody>
                  <a:tcPr/>
                </a:tc>
                <a:extLst>
                  <a:ext uri="{0D108BD9-81ED-4DB2-BD59-A6C34878D82A}">
                    <a16:rowId xmlns:a16="http://schemas.microsoft.com/office/drawing/2014/main" val="1534256804"/>
                  </a:ext>
                </a:extLst>
              </a:tr>
              <a:tr h="370274">
                <a:tc>
                  <a:txBody>
                    <a:bodyPr/>
                    <a:lstStyle/>
                    <a:p>
                      <a:pPr algn="ctr"/>
                      <a:r>
                        <a:rPr lang="en-US" b="0" i="0" dirty="0" err="1">
                          <a:latin typeface="Times New Roman" panose="02020603050405020304" pitchFamily="18" charset="0"/>
                          <a:cs typeface="Times New Roman" panose="02020603050405020304" pitchFamily="18" charset="0"/>
                        </a:rPr>
                        <a:t>RoBERTa</a:t>
                      </a:r>
                      <a:endParaRPr lang="en-US" b="0" i="0" dirty="0">
                        <a:latin typeface="Times New Roman" panose="02020603050405020304" pitchFamily="18" charset="0"/>
                        <a:cs typeface="Times New Roman" panose="02020603050405020304" pitchFamily="18" charset="0"/>
                      </a:endParaRPr>
                    </a:p>
                  </a:txBody>
                  <a:tcPr/>
                </a:tc>
                <a:tc>
                  <a:txBody>
                    <a:bodyPr/>
                    <a:lstStyle/>
                    <a:p>
                      <a:pPr algn="ctr"/>
                      <a:r>
                        <a:rPr lang="en-US" b="0" i="0" dirty="0">
                          <a:latin typeface="Times New Roman" panose="02020603050405020304" pitchFamily="18" charset="0"/>
                          <a:cs typeface="Times New Roman" panose="02020603050405020304" pitchFamily="18" charset="0"/>
                        </a:rPr>
                        <a:t>512</a:t>
                      </a:r>
                    </a:p>
                  </a:txBody>
                  <a:tcPr/>
                </a:tc>
                <a:tc>
                  <a:txBody>
                    <a:bodyPr/>
                    <a:lstStyle/>
                    <a:p>
                      <a:pPr algn="ctr"/>
                      <a:r>
                        <a:rPr lang="en-US" b="0" i="0" dirty="0">
                          <a:latin typeface="Times New Roman" panose="02020603050405020304" pitchFamily="18" charset="0"/>
                          <a:cs typeface="Times New Roman" panose="02020603050405020304" pitchFamily="18" charset="0"/>
                        </a:rPr>
                        <a:t>6</a:t>
                      </a:r>
                    </a:p>
                  </a:txBody>
                  <a:tcPr/>
                </a:tc>
                <a:tc>
                  <a:txBody>
                    <a:bodyPr/>
                    <a:lstStyle/>
                    <a:p>
                      <a:pPr algn="ctr"/>
                      <a:r>
                        <a:rPr lang="en-GB" sz="1800" b="0" i="0" kern="1200" dirty="0">
                          <a:solidFill>
                            <a:schemeClr val="tx1"/>
                          </a:solidFill>
                          <a:latin typeface="Times New Roman" panose="02020603050405020304" pitchFamily="18" charset="0"/>
                          <a:cs typeface="Times New Roman" panose="02020603050405020304" pitchFamily="18" charset="0"/>
                        </a:rPr>
                        <a:t>0.644</a:t>
                      </a:r>
                      <a:endParaRPr lang="en-GB" sz="1800" b="0" i="0" kern="120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GB" sz="1800" b="0" i="0" kern="1200" dirty="0">
                          <a:solidFill>
                            <a:schemeClr val="tx1"/>
                          </a:solidFill>
                          <a:latin typeface="Times New Roman" panose="02020603050405020304" pitchFamily="18" charset="0"/>
                          <a:cs typeface="Times New Roman" panose="02020603050405020304" pitchFamily="18" charset="0"/>
                        </a:rPr>
                        <a:t>0.6051</a:t>
                      </a:r>
                      <a:endParaRPr lang="en-GB" sz="1800" b="0" i="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612326697"/>
                  </a:ext>
                </a:extLst>
              </a:tr>
              <a:tr h="370274">
                <a:tc>
                  <a:txBody>
                    <a:bodyPr/>
                    <a:lstStyle/>
                    <a:p>
                      <a:pPr algn="ctr"/>
                      <a:r>
                        <a:rPr lang="en-US" b="0" i="0" dirty="0">
                          <a:latin typeface="Times New Roman" panose="02020603050405020304" pitchFamily="18" charset="0"/>
                          <a:cs typeface="Times New Roman" panose="02020603050405020304" pitchFamily="18" charset="0"/>
                        </a:rPr>
                        <a:t>T5</a:t>
                      </a:r>
                    </a:p>
                  </a:txBody>
                  <a:tcPr/>
                </a:tc>
                <a:tc>
                  <a:txBody>
                    <a:bodyPr/>
                    <a:lstStyle/>
                    <a:p>
                      <a:pPr algn="ctr"/>
                      <a:r>
                        <a:rPr lang="en-US" b="0" i="0" dirty="0">
                          <a:latin typeface="Times New Roman" panose="02020603050405020304" pitchFamily="18" charset="0"/>
                          <a:cs typeface="Times New Roman" panose="02020603050405020304" pitchFamily="18" charset="0"/>
                        </a:rPr>
                        <a:t>512</a:t>
                      </a:r>
                    </a:p>
                  </a:txBody>
                  <a:tcPr/>
                </a:tc>
                <a:tc>
                  <a:txBody>
                    <a:bodyPr/>
                    <a:lstStyle/>
                    <a:p>
                      <a:pPr algn="ctr"/>
                      <a:r>
                        <a:rPr lang="en-US" b="0" i="0" dirty="0">
                          <a:latin typeface="Times New Roman" panose="02020603050405020304" pitchFamily="18" charset="0"/>
                          <a:cs typeface="Times New Roman" panose="02020603050405020304" pitchFamily="18" charset="0"/>
                        </a:rPr>
                        <a:t>3</a:t>
                      </a:r>
                    </a:p>
                  </a:txBody>
                  <a:tcPr/>
                </a:tc>
                <a:tc>
                  <a:txBody>
                    <a:bodyPr/>
                    <a:lstStyle/>
                    <a:p>
                      <a:pPr algn="ctr"/>
                      <a:r>
                        <a:rPr lang="en-US" b="0" i="0" dirty="0">
                          <a:latin typeface="Times New Roman" panose="02020603050405020304" pitchFamily="18" charset="0"/>
                          <a:cs typeface="Times New Roman" panose="02020603050405020304" pitchFamily="18" charset="0"/>
                        </a:rPr>
                        <a:t>0.1914</a:t>
                      </a:r>
                    </a:p>
                  </a:txBody>
                  <a:tcPr/>
                </a:tc>
                <a:tc>
                  <a:txBody>
                    <a:bodyPr/>
                    <a:lstStyle/>
                    <a:p>
                      <a:pPr algn="ctr"/>
                      <a:r>
                        <a:rPr lang="en-US" b="0" i="0" dirty="0">
                          <a:latin typeface="Times New Roman" panose="02020603050405020304" pitchFamily="18" charset="0"/>
                          <a:cs typeface="Times New Roman" panose="02020603050405020304" pitchFamily="18" charset="0"/>
                        </a:rPr>
                        <a:t>0.1413</a:t>
                      </a:r>
                    </a:p>
                  </a:txBody>
                  <a:tcPr/>
                </a:tc>
                <a:extLst>
                  <a:ext uri="{0D108BD9-81ED-4DB2-BD59-A6C34878D82A}">
                    <a16:rowId xmlns:a16="http://schemas.microsoft.com/office/drawing/2014/main" val="2108381690"/>
                  </a:ext>
                </a:extLst>
              </a:tr>
            </a:tbl>
          </a:graphicData>
        </a:graphic>
      </p:graphicFrame>
      <p:sp>
        <p:nvSpPr>
          <p:cNvPr id="6" name="TextBox 5">
            <a:extLst>
              <a:ext uri="{FF2B5EF4-FFF2-40B4-BE49-F238E27FC236}">
                <a16:creationId xmlns:a16="http://schemas.microsoft.com/office/drawing/2014/main" id="{E4534E2E-5E1E-B92C-70C0-39CB3B1D4091}"/>
              </a:ext>
            </a:extLst>
          </p:cNvPr>
          <p:cNvSpPr txBox="1"/>
          <p:nvPr/>
        </p:nvSpPr>
        <p:spPr>
          <a:xfrm>
            <a:off x="384874" y="648399"/>
            <a:ext cx="11422250"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latin typeface="Optima" panose="02000503060000020004" pitchFamily="2" charset="0"/>
              </a:rPr>
              <a:t>Micro F1 Score: </a:t>
            </a:r>
            <a:r>
              <a:rPr lang="en-US" sz="2000" dirty="0">
                <a:latin typeface="Optima" panose="02000503060000020004" pitchFamily="2" charset="0"/>
              </a:rPr>
              <a:t>Micro F1 looks at all instances together, treating each prediction equally. It calculates an overall score based on the total number of correct and incorrect predictions, making it good for handling imbalanced datasets. </a:t>
            </a:r>
          </a:p>
          <a:p>
            <a:pPr marL="285750" indent="-285750" algn="just">
              <a:buFont typeface="Arial" panose="020B0604020202020204" pitchFamily="34" charset="0"/>
              <a:buChar char="•"/>
            </a:pPr>
            <a:endParaRPr lang="en-US" sz="2000" dirty="0">
              <a:latin typeface="Optima" panose="02000503060000020004" pitchFamily="2" charset="0"/>
            </a:endParaRPr>
          </a:p>
          <a:p>
            <a:pPr marL="285750" indent="-285750" algn="just">
              <a:buFont typeface="Arial" panose="020B0604020202020204" pitchFamily="34" charset="0"/>
              <a:buChar char="•"/>
            </a:pPr>
            <a:r>
              <a:rPr lang="en-US" sz="2000" b="1" dirty="0">
                <a:latin typeface="Optima" panose="02000503060000020004" pitchFamily="2" charset="0"/>
              </a:rPr>
              <a:t>Macro F1 Score: </a:t>
            </a:r>
            <a:r>
              <a:rPr lang="en-US" sz="2000" dirty="0">
                <a:latin typeface="Optima" panose="02000503060000020004" pitchFamily="2" charset="0"/>
              </a:rPr>
              <a:t>Macro F1 calculates the F1 score separately for each class and then averages them. It treats each class equally, which helps in understanding how well the model performs across all different categories, especially when some classes have fewer examples.</a:t>
            </a:r>
          </a:p>
          <a:p>
            <a:pPr marL="285750" indent="-285750" algn="just">
              <a:buFont typeface="Arial" panose="020B0604020202020204" pitchFamily="34" charset="0"/>
              <a:buChar char="•"/>
            </a:pPr>
            <a:endParaRPr lang="en-US" sz="2000" dirty="0">
              <a:latin typeface="Optima" panose="02000503060000020004" pitchFamily="2" charset="0"/>
            </a:endParaRPr>
          </a:p>
          <a:p>
            <a:pPr marL="285750" indent="-285750" algn="just">
              <a:buFont typeface="Arial" panose="020B0604020202020204" pitchFamily="34" charset="0"/>
              <a:buChar char="•"/>
            </a:pPr>
            <a:endParaRPr lang="en-US" sz="2000" dirty="0">
              <a:latin typeface="Optima" panose="02000503060000020004" pitchFamily="2" charset="0"/>
            </a:endParaRPr>
          </a:p>
          <a:p>
            <a:pPr marL="285750" indent="-285750" algn="just">
              <a:buFont typeface="Arial" panose="020B0604020202020204" pitchFamily="34" charset="0"/>
              <a:buChar char="•"/>
            </a:pPr>
            <a:r>
              <a:rPr lang="en-US" sz="2000" dirty="0">
                <a:latin typeface="Optima" panose="02000503060000020004" pitchFamily="2" charset="0"/>
              </a:rPr>
              <a:t>Table for micro-f1 and macro-f1score for models</a:t>
            </a:r>
          </a:p>
        </p:txBody>
      </p:sp>
      <p:sp>
        <p:nvSpPr>
          <p:cNvPr id="7" name="Title 1">
            <a:extLst>
              <a:ext uri="{FF2B5EF4-FFF2-40B4-BE49-F238E27FC236}">
                <a16:creationId xmlns:a16="http://schemas.microsoft.com/office/drawing/2014/main" id="{50EB9FB9-40BE-D5A6-9B67-86A438A851F7}"/>
              </a:ext>
            </a:extLst>
          </p:cNvPr>
          <p:cNvSpPr>
            <a:spLocks noGrp="1"/>
          </p:cNvSpPr>
          <p:nvPr>
            <p:ph type="title"/>
          </p:nvPr>
        </p:nvSpPr>
        <p:spPr>
          <a:xfrm>
            <a:off x="4156086" y="184926"/>
            <a:ext cx="3879826" cy="361875"/>
          </a:xfrm>
        </p:spPr>
        <p:txBody>
          <a:bodyPr anchor="t">
            <a:noAutofit/>
          </a:bodyPr>
          <a:lstStyle/>
          <a:p>
            <a:pPr algn="ctr"/>
            <a:r>
              <a:rPr lang="en-US" sz="2400" b="1" dirty="0">
                <a:latin typeface="Times New Roman" panose="02020603050405020304" pitchFamily="18" charset="0"/>
                <a:cs typeface="Times New Roman" panose="02020603050405020304" pitchFamily="18" charset="0"/>
              </a:rPr>
              <a:t>Metric for evaluation</a:t>
            </a:r>
          </a:p>
        </p:txBody>
      </p:sp>
    </p:spTree>
    <p:extLst>
      <p:ext uri="{BB962C8B-B14F-4D97-AF65-F5344CB8AC3E}">
        <p14:creationId xmlns:p14="http://schemas.microsoft.com/office/powerpoint/2010/main" val="308053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292771-3B68-3236-697B-757A177CB77A}"/>
              </a:ext>
            </a:extLst>
          </p:cNvPr>
          <p:cNvSpPr txBox="1"/>
          <p:nvPr/>
        </p:nvSpPr>
        <p:spPr>
          <a:xfrm>
            <a:off x="1830115" y="2105561"/>
            <a:ext cx="8531770" cy="1323439"/>
          </a:xfrm>
          <a:prstGeom prst="rect">
            <a:avLst/>
          </a:prstGeom>
          <a:noFill/>
        </p:spPr>
        <p:txBody>
          <a:bodyPr wrap="square" rtlCol="0">
            <a:spAutoFit/>
          </a:bodyPr>
          <a:lstStyle/>
          <a:p>
            <a:pPr algn="ctr"/>
            <a:r>
              <a:rPr lang="en-US" sz="8000" dirty="0">
                <a:latin typeface="Optima" panose="02000503060000020004" pitchFamily="2" charset="0"/>
              </a:rPr>
              <a:t>CONCLUSION</a:t>
            </a:r>
          </a:p>
        </p:txBody>
      </p:sp>
    </p:spTree>
    <p:extLst>
      <p:ext uri="{BB962C8B-B14F-4D97-AF65-F5344CB8AC3E}">
        <p14:creationId xmlns:p14="http://schemas.microsoft.com/office/powerpoint/2010/main" val="200605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C294A6-7818-B8FE-DA40-9166A8CDBE01}"/>
              </a:ext>
            </a:extLst>
          </p:cNvPr>
          <p:cNvSpPr txBox="1"/>
          <p:nvPr/>
        </p:nvSpPr>
        <p:spPr>
          <a:xfrm>
            <a:off x="439119" y="821410"/>
            <a:ext cx="11313762" cy="4678204"/>
          </a:xfrm>
          <a:prstGeom prst="rect">
            <a:avLst/>
          </a:prstGeom>
          <a:noFill/>
        </p:spPr>
        <p:txBody>
          <a:bodyPr wrap="square" rtlCol="0">
            <a:spAutoFit/>
          </a:bodyPr>
          <a:lstStyle/>
          <a:p>
            <a:pPr marL="285750" indent="-285750" algn="just">
              <a:buFont typeface="Arial" panose="020B0604020202020204" pitchFamily="34" charset="0"/>
              <a:buChar char="•"/>
            </a:pPr>
            <a:r>
              <a:rPr lang="en-GB" sz="2000" dirty="0">
                <a:latin typeface="Optima" panose="02000503060000020004" pitchFamily="2" charset="0"/>
              </a:rPr>
              <a:t>Large language models (LLMs) have shown significant potential in the legal field, helping to automate tasks like case analysis, legal research, and predicting case outcomes.</a:t>
            </a:r>
          </a:p>
          <a:p>
            <a:pPr marL="285750" indent="-285750" algn="just">
              <a:buFont typeface="Arial" panose="020B0604020202020204" pitchFamily="34" charset="0"/>
              <a:buChar char="•"/>
            </a:pPr>
            <a:endParaRPr lang="en-GB" sz="2000" dirty="0">
              <a:latin typeface="Optima" panose="02000503060000020004" pitchFamily="2" charset="0"/>
            </a:endParaRPr>
          </a:p>
          <a:p>
            <a:pPr marL="285750" indent="-285750" algn="just">
              <a:buFont typeface="Arial" panose="020B0604020202020204" pitchFamily="34" charset="0"/>
              <a:buChar char="•"/>
            </a:pPr>
            <a:r>
              <a:rPr lang="en-GB" sz="2000" dirty="0">
                <a:latin typeface="Optima" panose="02000503060000020004" pitchFamily="2" charset="0"/>
              </a:rPr>
              <a:t>The development of specialized legal LLMs, such as </a:t>
            </a:r>
            <a:r>
              <a:rPr lang="en-GB" sz="2000" dirty="0" err="1">
                <a:latin typeface="Optima" panose="02000503060000020004" pitchFamily="2" charset="0"/>
              </a:rPr>
              <a:t>caseLawBERT</a:t>
            </a:r>
            <a:r>
              <a:rPr lang="en-GB" sz="2000" dirty="0">
                <a:latin typeface="Optima" panose="02000503060000020004" pitchFamily="2" charset="0"/>
              </a:rPr>
              <a:t>, </a:t>
            </a:r>
            <a:r>
              <a:rPr lang="en-GB" sz="2000" dirty="0" err="1">
                <a:latin typeface="Optima" panose="02000503060000020004" pitchFamily="2" charset="0"/>
              </a:rPr>
              <a:t>legalBERT</a:t>
            </a:r>
            <a:r>
              <a:rPr lang="en-GB" sz="2000" dirty="0">
                <a:latin typeface="Optima" panose="02000503060000020004" pitchFamily="2" charset="0"/>
              </a:rPr>
              <a:t>, and CasualLM-7B, pre-trained on legal texts, demonstrates the growing recognition of AI's value in the legal domain.</a:t>
            </a:r>
          </a:p>
          <a:p>
            <a:pPr marL="285750" indent="-285750" algn="just">
              <a:buFont typeface="Arial" panose="020B0604020202020204" pitchFamily="34" charset="0"/>
              <a:buChar char="•"/>
            </a:pPr>
            <a:endParaRPr lang="en-GB" sz="2000" dirty="0">
              <a:latin typeface="Optima" panose="02000503060000020004" pitchFamily="2" charset="0"/>
            </a:endParaRPr>
          </a:p>
          <a:p>
            <a:pPr marL="285750" indent="-285750" algn="just">
              <a:buFont typeface="Arial" panose="020B0604020202020204" pitchFamily="34" charset="0"/>
              <a:buChar char="•"/>
            </a:pPr>
            <a:r>
              <a:rPr lang="en-GB" sz="2000" dirty="0">
                <a:latin typeface="Optima" panose="02000503060000020004" pitchFamily="2" charset="0"/>
              </a:rPr>
              <a:t>These models enhance the accuracy and efficiency of legal tasks by understanding and processing complex legal language and context.</a:t>
            </a:r>
          </a:p>
          <a:p>
            <a:pPr marL="285750" indent="-285750" algn="just">
              <a:buFont typeface="Arial" panose="020B0604020202020204" pitchFamily="34" charset="0"/>
              <a:buChar char="•"/>
            </a:pPr>
            <a:endParaRPr lang="en-GB" sz="2000" dirty="0">
              <a:latin typeface="Optima" panose="02000503060000020004" pitchFamily="2" charset="0"/>
            </a:endParaRPr>
          </a:p>
          <a:p>
            <a:pPr marL="285750" indent="-285750" algn="just">
              <a:buFont typeface="Arial" panose="020B0604020202020204" pitchFamily="34" charset="0"/>
              <a:buChar char="•"/>
            </a:pPr>
            <a:r>
              <a:rPr lang="en-GB" sz="2000" dirty="0">
                <a:latin typeface="Optima" panose="02000503060000020004" pitchFamily="2" charset="0"/>
              </a:rPr>
              <a:t>As the legal industry becomes more aware of AI's benefits, the adoption of these models is likely to increase, leading to more streamlined legal processes and informed decision-making.</a:t>
            </a:r>
          </a:p>
          <a:p>
            <a:pPr marL="285750" indent="-285750" algn="just">
              <a:buFont typeface="Arial" panose="020B0604020202020204" pitchFamily="34" charset="0"/>
              <a:buChar char="•"/>
            </a:pPr>
            <a:endParaRPr lang="en-GB" sz="2000" dirty="0">
              <a:latin typeface="Optima" panose="02000503060000020004" pitchFamily="2" charset="0"/>
            </a:endParaRPr>
          </a:p>
          <a:p>
            <a:pPr marL="285750" indent="-285750" algn="just">
              <a:buFont typeface="Arial" panose="020B0604020202020204" pitchFamily="34" charset="0"/>
              <a:buChar char="•"/>
            </a:pPr>
            <a:r>
              <a:rPr lang="en-GB" sz="2000" dirty="0">
                <a:latin typeface="Optima" panose="02000503060000020004" pitchFamily="2" charset="0"/>
              </a:rPr>
              <a:t>The ongoing innovation in legal AI tools reflects a broader trend towards leveraging advanced technology to support and enhance legal expertise.</a:t>
            </a:r>
          </a:p>
          <a:p>
            <a:endParaRPr lang="en-US" dirty="0"/>
          </a:p>
        </p:txBody>
      </p:sp>
    </p:spTree>
    <p:extLst>
      <p:ext uri="{BB962C8B-B14F-4D97-AF65-F5344CB8AC3E}">
        <p14:creationId xmlns:p14="http://schemas.microsoft.com/office/powerpoint/2010/main" val="247936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292771-3B68-3236-697B-757A177CB77A}"/>
              </a:ext>
            </a:extLst>
          </p:cNvPr>
          <p:cNvSpPr txBox="1"/>
          <p:nvPr/>
        </p:nvSpPr>
        <p:spPr>
          <a:xfrm>
            <a:off x="1830115" y="2809862"/>
            <a:ext cx="8531770" cy="1323439"/>
          </a:xfrm>
          <a:prstGeom prst="rect">
            <a:avLst/>
          </a:prstGeom>
          <a:noFill/>
        </p:spPr>
        <p:txBody>
          <a:bodyPr wrap="square" rtlCol="0">
            <a:spAutoFit/>
          </a:bodyPr>
          <a:lstStyle/>
          <a:p>
            <a:pPr algn="ctr"/>
            <a:r>
              <a:rPr lang="en-US" sz="8000" dirty="0">
                <a:latin typeface="Optima" panose="02000503060000020004" pitchFamily="2" charset="0"/>
              </a:rPr>
              <a:t>Q&amp;A</a:t>
            </a:r>
          </a:p>
        </p:txBody>
      </p:sp>
    </p:spTree>
    <p:extLst>
      <p:ext uri="{BB962C8B-B14F-4D97-AF65-F5344CB8AC3E}">
        <p14:creationId xmlns:p14="http://schemas.microsoft.com/office/powerpoint/2010/main" val="3124461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6893</TotalTime>
  <Words>1165</Words>
  <Application>Microsoft Macintosh PowerPoint</Application>
  <PresentationFormat>Widescreen</PresentationFormat>
  <Paragraphs>142</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 Hebrew</vt:lpstr>
      <vt:lpstr>Arial Narrow</vt:lpstr>
      <vt:lpstr>Calibri</vt:lpstr>
      <vt:lpstr>Calibri Light</vt:lpstr>
      <vt:lpstr>Courier New</vt:lpstr>
      <vt:lpstr>Optima</vt:lpstr>
      <vt:lpstr>Times New Roman</vt:lpstr>
      <vt:lpstr>Office Theme</vt:lpstr>
      <vt:lpstr>DEVELOP AN  AI JUDGE WITH NLP AND ML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FINE-TUNING</vt:lpstr>
      <vt:lpstr>Problem: Number of Parameters</vt:lpstr>
      <vt:lpstr>Solution: LoRa</vt:lpstr>
      <vt:lpstr>PowerPoint Presentation</vt:lpstr>
      <vt:lpstr>PowerPoint Presentation</vt:lpstr>
      <vt:lpstr>Metric for evaluation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AN AI JUDGE WITH NLP AND ML     </dc:title>
  <dc:creator>Microsoft Office User</dc:creator>
  <cp:lastModifiedBy>Microsoft Office User</cp:lastModifiedBy>
  <cp:revision>84</cp:revision>
  <dcterms:created xsi:type="dcterms:W3CDTF">2024-09-02T13:26:58Z</dcterms:created>
  <dcterms:modified xsi:type="dcterms:W3CDTF">2024-09-07T20:04:49Z</dcterms:modified>
</cp:coreProperties>
</file>